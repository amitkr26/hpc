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A0975531-50F8-4B16-ABFD-5F1B4BE8AD67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CA2DF80-1F59-4BD7-A366-C0178721F9D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A0D3E87-27FE-42DD-A83A-1FE044A3FFF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999E662-E6E5-45A9-BD6B-3BE462890AA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2E4BCFE-22F7-4C2D-B7FB-A6BC065E134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CEAD5FA-E3BE-4E5A-97A9-DD1E1C2001B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822960" y="214884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299" strike="noStrike">
                <a:solidFill>
                  <a:srgbClr val="8fd3e8"/>
                </a:solidFill>
                <a:latin typeface="Calibri"/>
                <a:ea typeface="Calibri"/>
              </a:rPr>
              <a:t>MPI COMMUNICATION BASICS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822960" y="2514600"/>
            <a:ext cx="10515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mbria"/>
                <a:ea typeface="Cambria"/>
              </a:rPr>
              <a:t>Point-to-Point &amp; Collective Communication</a:t>
            </a:r>
            <a:endParaRPr b="0" lang="en-IN" sz="4200" spc="-1" strike="noStrike"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822960" y="3520440"/>
            <a:ext cx="9875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c7dee8"/>
                </a:solidFill>
                <a:latin typeface="Calibri"/>
                <a:ea typeface="Calibri"/>
              </a:rPr>
              <a:t>Blocking (synchronous) vs. non-blocking (asynchronous) patterns, with runnable C++ demos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47" name="Shape 3"/>
          <p:cNvSpPr/>
          <p:nvPr/>
        </p:nvSpPr>
        <p:spPr>
          <a:xfrm>
            <a:off x="1280160" y="4892040"/>
            <a:ext cx="502560" cy="5025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Text 4"/>
          <p:cNvSpPr/>
          <p:nvPr/>
        </p:nvSpPr>
        <p:spPr>
          <a:xfrm>
            <a:off x="1280160" y="48920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0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49" name="Shape 5"/>
          <p:cNvSpPr/>
          <p:nvPr/>
        </p:nvSpPr>
        <p:spPr>
          <a:xfrm>
            <a:off x="3291840" y="4892040"/>
            <a:ext cx="502560" cy="5025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Text 6"/>
          <p:cNvSpPr/>
          <p:nvPr/>
        </p:nvSpPr>
        <p:spPr>
          <a:xfrm>
            <a:off x="3291840" y="48920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51" name="Shape 7"/>
          <p:cNvSpPr/>
          <p:nvPr/>
        </p:nvSpPr>
        <p:spPr>
          <a:xfrm>
            <a:off x="1810440" y="5074920"/>
            <a:ext cx="1463040" cy="360"/>
          </a:xfrm>
          <a:prstGeom prst="line">
            <a:avLst/>
          </a:prstGeom>
          <a:ln w="25400">
            <a:solidFill>
              <a:srgbClr val="8fd3e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Shape 8"/>
          <p:cNvSpPr/>
          <p:nvPr/>
        </p:nvSpPr>
        <p:spPr>
          <a:xfrm>
            <a:off x="5303520" y="4892040"/>
            <a:ext cx="502560" cy="5025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Text 9"/>
          <p:cNvSpPr/>
          <p:nvPr/>
        </p:nvSpPr>
        <p:spPr>
          <a:xfrm>
            <a:off x="5303520" y="48920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54" name="Shape 10"/>
          <p:cNvSpPr/>
          <p:nvPr/>
        </p:nvSpPr>
        <p:spPr>
          <a:xfrm>
            <a:off x="7315200" y="4892040"/>
            <a:ext cx="502560" cy="5025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Text 11"/>
          <p:cNvSpPr/>
          <p:nvPr/>
        </p:nvSpPr>
        <p:spPr>
          <a:xfrm>
            <a:off x="7315200" y="48920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56" name="Shape 12"/>
          <p:cNvSpPr/>
          <p:nvPr/>
        </p:nvSpPr>
        <p:spPr>
          <a:xfrm>
            <a:off x="3291840" y="5275800"/>
            <a:ext cx="4343400" cy="360"/>
          </a:xfrm>
          <a:prstGeom prst="line">
            <a:avLst/>
          </a:prstGeom>
          <a:ln w="19050">
            <a:solidFill>
              <a:srgbClr val="3f5f73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/>
          <p:cNvSpPr/>
          <p:nvPr/>
        </p:nvSpPr>
        <p:spPr>
          <a:xfrm>
            <a:off x="548640" y="32004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99" strike="noStrike">
                <a:solidFill>
                  <a:srgbClr val="1c7293"/>
                </a:solidFill>
                <a:latin typeface="Calibri"/>
                <a:ea typeface="Calibri"/>
              </a:rPr>
              <a:t>THE BUILDING BLOCKS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8" name="Text 1"/>
          <p:cNvSpPr/>
          <p:nvPr/>
        </p:nvSpPr>
        <p:spPr>
          <a:xfrm>
            <a:off x="548640" y="59436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21295c"/>
                </a:solidFill>
                <a:latin typeface="Cambria"/>
                <a:ea typeface="Cambria"/>
              </a:rPr>
              <a:t>MPI basics, in four ideas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59" name="Shape 2"/>
          <p:cNvSpPr/>
          <p:nvPr/>
        </p:nvSpPr>
        <p:spPr>
          <a:xfrm>
            <a:off x="548640" y="1298520"/>
            <a:ext cx="11063880" cy="16200"/>
          </a:xfrm>
          <a:prstGeom prst="rect">
            <a:avLst/>
          </a:prstGeom>
          <a:solidFill>
            <a:srgbClr val="d9e6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Shape 3"/>
          <p:cNvSpPr/>
          <p:nvPr/>
        </p:nvSpPr>
        <p:spPr>
          <a:xfrm>
            <a:off x="548640" y="1737360"/>
            <a:ext cx="5257440" cy="1919880"/>
          </a:xfrm>
          <a:prstGeom prst="roundRect">
            <a:avLst>
              <a:gd name="adj" fmla="val 3810"/>
            </a:avLst>
          </a:prstGeom>
          <a:solidFill>
            <a:srgbClr val="eaf4f8"/>
          </a:solidFill>
          <a:ln w="12700">
            <a:solidFill>
              <a:srgbClr val="eaf4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Shape 4"/>
          <p:cNvSpPr/>
          <p:nvPr/>
        </p:nvSpPr>
        <p:spPr>
          <a:xfrm>
            <a:off x="868680" y="2057400"/>
            <a:ext cx="502560" cy="5025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Text 5"/>
          <p:cNvSpPr/>
          <p:nvPr/>
        </p:nvSpPr>
        <p:spPr>
          <a:xfrm>
            <a:off x="868680" y="205740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3" name="Text 6"/>
          <p:cNvSpPr/>
          <p:nvPr/>
        </p:nvSpPr>
        <p:spPr>
          <a:xfrm>
            <a:off x="1554480" y="2011680"/>
            <a:ext cx="3977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21295c"/>
                </a:solidFill>
                <a:latin typeface="Cambria"/>
                <a:ea typeface="Cambria"/>
              </a:rPr>
              <a:t>Process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64" name="Text 7"/>
          <p:cNvSpPr/>
          <p:nvPr/>
        </p:nvSpPr>
        <p:spPr>
          <a:xfrm>
            <a:off x="868680" y="2697480"/>
            <a:ext cx="4617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17242b"/>
                </a:solidFill>
                <a:latin typeface="Calibri"/>
                <a:ea typeface="Calibri"/>
              </a:rPr>
              <a:t>An independent program instance. MPI launches N copies of your executable — one per process.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65" name="Shape 8"/>
          <p:cNvSpPr/>
          <p:nvPr/>
        </p:nvSpPr>
        <p:spPr>
          <a:xfrm>
            <a:off x="6355080" y="1737360"/>
            <a:ext cx="5257440" cy="1919880"/>
          </a:xfrm>
          <a:prstGeom prst="roundRect">
            <a:avLst>
              <a:gd name="adj" fmla="val 3810"/>
            </a:avLst>
          </a:prstGeom>
          <a:solidFill>
            <a:srgbClr val="eaf4f8"/>
          </a:solidFill>
          <a:ln w="12700">
            <a:solidFill>
              <a:srgbClr val="eaf4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Shape 9"/>
          <p:cNvSpPr/>
          <p:nvPr/>
        </p:nvSpPr>
        <p:spPr>
          <a:xfrm>
            <a:off x="6675120" y="2057400"/>
            <a:ext cx="502560" cy="5025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Text 10"/>
          <p:cNvSpPr/>
          <p:nvPr/>
        </p:nvSpPr>
        <p:spPr>
          <a:xfrm>
            <a:off x="6675120" y="205740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8" name="Text 11"/>
          <p:cNvSpPr/>
          <p:nvPr/>
        </p:nvSpPr>
        <p:spPr>
          <a:xfrm>
            <a:off x="7360920" y="2011680"/>
            <a:ext cx="3977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21295c"/>
                </a:solidFill>
                <a:latin typeface="Cambria"/>
                <a:ea typeface="Cambria"/>
              </a:rPr>
              <a:t>Rank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69" name="Text 12"/>
          <p:cNvSpPr/>
          <p:nvPr/>
        </p:nvSpPr>
        <p:spPr>
          <a:xfrm>
            <a:off x="6675120" y="2697480"/>
            <a:ext cx="4617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17242b"/>
                </a:solidFill>
                <a:latin typeface="Calibri"/>
                <a:ea typeface="Calibri"/>
              </a:rPr>
              <a:t>Each process's unique ID within a communicator (0 … N-1). Ranks decide who sends what to whom.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70" name="Shape 13"/>
          <p:cNvSpPr/>
          <p:nvPr/>
        </p:nvSpPr>
        <p:spPr>
          <a:xfrm>
            <a:off x="548640" y="4023360"/>
            <a:ext cx="5257440" cy="1919880"/>
          </a:xfrm>
          <a:prstGeom prst="roundRect">
            <a:avLst>
              <a:gd name="adj" fmla="val 3810"/>
            </a:avLst>
          </a:prstGeom>
          <a:solidFill>
            <a:srgbClr val="eaf4f8"/>
          </a:solidFill>
          <a:ln w="12700">
            <a:solidFill>
              <a:srgbClr val="eaf4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1" name="Shape 14"/>
          <p:cNvSpPr/>
          <p:nvPr/>
        </p:nvSpPr>
        <p:spPr>
          <a:xfrm>
            <a:off x="868680" y="4343400"/>
            <a:ext cx="502560" cy="5025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Text 15"/>
          <p:cNvSpPr/>
          <p:nvPr/>
        </p:nvSpPr>
        <p:spPr>
          <a:xfrm>
            <a:off x="868680" y="434340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3" name="Text 16"/>
          <p:cNvSpPr/>
          <p:nvPr/>
        </p:nvSpPr>
        <p:spPr>
          <a:xfrm>
            <a:off x="1554480" y="4297680"/>
            <a:ext cx="3977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21295c"/>
                </a:solidFill>
                <a:latin typeface="Cambria"/>
                <a:ea typeface="Cambria"/>
              </a:rPr>
              <a:t>Communicator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74" name="Text 17"/>
          <p:cNvSpPr/>
          <p:nvPr/>
        </p:nvSpPr>
        <p:spPr>
          <a:xfrm>
            <a:off x="868680" y="4983480"/>
            <a:ext cx="4617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17242b"/>
                </a:solidFill>
                <a:latin typeface="Calibri"/>
                <a:ea typeface="Calibri"/>
              </a:rPr>
              <a:t>A group of processes that can talk to each other. MPI_COMM_WORLD contains every process in the job.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75" name="Shape 18"/>
          <p:cNvSpPr/>
          <p:nvPr/>
        </p:nvSpPr>
        <p:spPr>
          <a:xfrm>
            <a:off x="6355080" y="4023360"/>
            <a:ext cx="5257440" cy="1919880"/>
          </a:xfrm>
          <a:prstGeom prst="roundRect">
            <a:avLst>
              <a:gd name="adj" fmla="val 3810"/>
            </a:avLst>
          </a:prstGeom>
          <a:solidFill>
            <a:srgbClr val="eaf4f8"/>
          </a:solidFill>
          <a:ln w="12700">
            <a:solidFill>
              <a:srgbClr val="eaf4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Shape 19"/>
          <p:cNvSpPr/>
          <p:nvPr/>
        </p:nvSpPr>
        <p:spPr>
          <a:xfrm>
            <a:off x="6675120" y="4343400"/>
            <a:ext cx="502560" cy="5025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Text 20"/>
          <p:cNvSpPr/>
          <p:nvPr/>
        </p:nvSpPr>
        <p:spPr>
          <a:xfrm>
            <a:off x="6675120" y="434340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8" name="Text 21"/>
          <p:cNvSpPr/>
          <p:nvPr/>
        </p:nvSpPr>
        <p:spPr>
          <a:xfrm>
            <a:off x="7360920" y="4297680"/>
            <a:ext cx="3977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21295c"/>
                </a:solidFill>
                <a:latin typeface="Cambria"/>
                <a:ea typeface="Cambria"/>
              </a:rPr>
              <a:t>Message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79" name="Text 22"/>
          <p:cNvSpPr/>
          <p:nvPr/>
        </p:nvSpPr>
        <p:spPr>
          <a:xfrm>
            <a:off x="6675120" y="4983480"/>
            <a:ext cx="4617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17242b"/>
                </a:solidFill>
                <a:latin typeface="Calibri"/>
                <a:ea typeface="Calibri"/>
              </a:rPr>
              <a:t>Data + a source/destination rank + a tag, moved with library calls instead of shared memory.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80" name="Text 23"/>
          <p:cNvSpPr/>
          <p:nvPr/>
        </p:nvSpPr>
        <p:spPr>
          <a:xfrm>
            <a:off x="11548800" y="644652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b7a8c"/>
                </a:solidFill>
                <a:latin typeface="Calibri"/>
                <a:ea typeface="Calibri"/>
              </a:rPr>
              <a:t>2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0"/>
          <p:cNvSpPr/>
          <p:nvPr/>
        </p:nvSpPr>
        <p:spPr>
          <a:xfrm>
            <a:off x="548640" y="32004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99" strike="noStrike">
                <a:solidFill>
                  <a:srgbClr val="1c7293"/>
                </a:solidFill>
                <a:latin typeface="Calibri"/>
                <a:ea typeface="Calibri"/>
              </a:rPr>
              <a:t>THE TWO AXES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2" name="Text 1"/>
          <p:cNvSpPr/>
          <p:nvPr/>
        </p:nvSpPr>
        <p:spPr>
          <a:xfrm>
            <a:off x="548640" y="59436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21295c"/>
                </a:solidFill>
                <a:latin typeface="Cambria"/>
                <a:ea typeface="Cambria"/>
              </a:rPr>
              <a:t>Every MPI transfer has a shape and a timing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83" name="Shape 2"/>
          <p:cNvSpPr/>
          <p:nvPr/>
        </p:nvSpPr>
        <p:spPr>
          <a:xfrm>
            <a:off x="548640" y="1298520"/>
            <a:ext cx="11063880" cy="16200"/>
          </a:xfrm>
          <a:prstGeom prst="rect">
            <a:avLst/>
          </a:prstGeom>
          <a:solidFill>
            <a:srgbClr val="d9e6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Text 3"/>
          <p:cNvSpPr/>
          <p:nvPr/>
        </p:nvSpPr>
        <p:spPr>
          <a:xfrm>
            <a:off x="548640" y="1600200"/>
            <a:ext cx="5303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148" strike="noStrike">
                <a:solidFill>
                  <a:srgbClr val="1c7293"/>
                </a:solidFill>
                <a:latin typeface="Calibri"/>
                <a:ea typeface="Calibri"/>
              </a:rPr>
              <a:t>WHO TALKS TO WHOM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5" name="Shape 4"/>
          <p:cNvSpPr/>
          <p:nvPr/>
        </p:nvSpPr>
        <p:spPr>
          <a:xfrm>
            <a:off x="548640" y="2057400"/>
            <a:ext cx="5303160" cy="776880"/>
          </a:xfrm>
          <a:prstGeom prst="roundRect">
            <a:avLst>
              <a:gd name="adj" fmla="val 9412"/>
            </a:avLst>
          </a:prstGeom>
          <a:solidFill>
            <a:srgbClr val="eaf4f8"/>
          </a:solidFill>
          <a:ln w="12700">
            <a:solidFill>
              <a:srgbClr val="eaf4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Text 5"/>
          <p:cNvSpPr/>
          <p:nvPr/>
        </p:nvSpPr>
        <p:spPr>
          <a:xfrm>
            <a:off x="822960" y="2148840"/>
            <a:ext cx="4754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1295c"/>
                </a:solidFill>
                <a:latin typeface="Cambria"/>
                <a:ea typeface="Cambria"/>
              </a:rPr>
              <a:t>Point-to-point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87" name="Text 6"/>
          <p:cNvSpPr/>
          <p:nvPr/>
        </p:nvSpPr>
        <p:spPr>
          <a:xfrm>
            <a:off x="822960" y="2468880"/>
            <a:ext cx="4754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17242b"/>
                </a:solidFill>
                <a:latin typeface="Calibri"/>
                <a:ea typeface="Calibri"/>
              </a:rPr>
              <a:t>One sender → one receiver (MPI_Send / MPI_Recv family)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88" name="Shape 7"/>
          <p:cNvSpPr/>
          <p:nvPr/>
        </p:nvSpPr>
        <p:spPr>
          <a:xfrm>
            <a:off x="548640" y="3017520"/>
            <a:ext cx="5303160" cy="776880"/>
          </a:xfrm>
          <a:prstGeom prst="roundRect">
            <a:avLst>
              <a:gd name="adj" fmla="val 9412"/>
            </a:avLst>
          </a:prstGeom>
          <a:solidFill>
            <a:srgbClr val="eaf4f8"/>
          </a:solidFill>
          <a:ln w="12700">
            <a:solidFill>
              <a:srgbClr val="eaf4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Text 8"/>
          <p:cNvSpPr/>
          <p:nvPr/>
        </p:nvSpPr>
        <p:spPr>
          <a:xfrm>
            <a:off x="822960" y="3108960"/>
            <a:ext cx="4754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1295c"/>
                </a:solidFill>
                <a:latin typeface="Cambria"/>
                <a:ea typeface="Cambria"/>
              </a:rPr>
              <a:t>Collective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90" name="Text 9"/>
          <p:cNvSpPr/>
          <p:nvPr/>
        </p:nvSpPr>
        <p:spPr>
          <a:xfrm>
            <a:off x="822960" y="3429000"/>
            <a:ext cx="4754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17242b"/>
                </a:solidFill>
                <a:latin typeface="Calibri"/>
                <a:ea typeface="Calibri"/>
              </a:rPr>
              <a:t>All ranks in a communicator participate together (MPI_Bcast, MPI_Reduce, …)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91" name="Text 10"/>
          <p:cNvSpPr/>
          <p:nvPr/>
        </p:nvSpPr>
        <p:spPr>
          <a:xfrm>
            <a:off x="6309360" y="1600200"/>
            <a:ext cx="5303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148" strike="noStrike">
                <a:solidFill>
                  <a:srgbClr val="1c7293"/>
                </a:solidFill>
                <a:latin typeface="Calibri"/>
                <a:ea typeface="Calibri"/>
              </a:rPr>
              <a:t>WHEN THE CALL RETURNS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2" name="Shape 11"/>
          <p:cNvSpPr/>
          <p:nvPr/>
        </p:nvSpPr>
        <p:spPr>
          <a:xfrm>
            <a:off x="6309360" y="2057400"/>
            <a:ext cx="5303160" cy="776880"/>
          </a:xfrm>
          <a:prstGeom prst="roundRect">
            <a:avLst>
              <a:gd name="adj" fmla="val 9412"/>
            </a:avLst>
          </a:prstGeom>
          <a:solidFill>
            <a:srgbClr val="eaf4f8"/>
          </a:solidFill>
          <a:ln w="12700">
            <a:solidFill>
              <a:srgbClr val="eaf4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3" name="Text 12"/>
          <p:cNvSpPr/>
          <p:nvPr/>
        </p:nvSpPr>
        <p:spPr>
          <a:xfrm>
            <a:off x="6583680" y="2148840"/>
            <a:ext cx="4754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1295c"/>
                </a:solidFill>
                <a:latin typeface="Cambria"/>
                <a:ea typeface="Cambria"/>
              </a:rPr>
              <a:t>Synchronous (blocking)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94" name="Text 13"/>
          <p:cNvSpPr/>
          <p:nvPr/>
        </p:nvSpPr>
        <p:spPr>
          <a:xfrm>
            <a:off x="6583680" y="2468880"/>
            <a:ext cx="4754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17242b"/>
                </a:solidFill>
                <a:latin typeface="Calibri"/>
                <a:ea typeface="Calibri"/>
              </a:rPr>
              <a:t>Call returns only once the operation has reached a safe point — ranks stay in step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95" name="Shape 14"/>
          <p:cNvSpPr/>
          <p:nvPr/>
        </p:nvSpPr>
        <p:spPr>
          <a:xfrm>
            <a:off x="6309360" y="3017520"/>
            <a:ext cx="5303160" cy="776880"/>
          </a:xfrm>
          <a:prstGeom prst="roundRect">
            <a:avLst>
              <a:gd name="adj" fmla="val 9412"/>
            </a:avLst>
          </a:prstGeom>
          <a:solidFill>
            <a:srgbClr val="eaf4f8"/>
          </a:solidFill>
          <a:ln w="12700">
            <a:solidFill>
              <a:srgbClr val="eaf4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Text 15"/>
          <p:cNvSpPr/>
          <p:nvPr/>
        </p:nvSpPr>
        <p:spPr>
          <a:xfrm>
            <a:off x="6583680" y="3108960"/>
            <a:ext cx="4754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1295c"/>
                </a:solidFill>
                <a:latin typeface="Cambria"/>
                <a:ea typeface="Cambria"/>
              </a:rPr>
              <a:t>Asynchronous (non-blocking)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97" name="Text 16"/>
          <p:cNvSpPr/>
          <p:nvPr/>
        </p:nvSpPr>
        <p:spPr>
          <a:xfrm>
            <a:off x="6583680" y="3429000"/>
            <a:ext cx="4754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17242b"/>
                </a:solidFill>
                <a:latin typeface="Calibri"/>
                <a:ea typeface="Calibri"/>
              </a:rPr>
              <a:t>Call returns immediately; you MPI_Wait/MPI_Test later — lets compute and comms overlap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98" name="Text 17"/>
          <p:cNvSpPr/>
          <p:nvPr/>
        </p:nvSpPr>
        <p:spPr>
          <a:xfrm>
            <a:off x="548640" y="41605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5b7a8c"/>
                </a:solidFill>
                <a:latin typeface="Calibri"/>
                <a:ea typeface="Calibri"/>
              </a:rPr>
              <a:t>Combine the two axes and you get exactly the four demos in this deck: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9" name="Shape 18"/>
          <p:cNvSpPr/>
          <p:nvPr/>
        </p:nvSpPr>
        <p:spPr>
          <a:xfrm>
            <a:off x="548640" y="4663440"/>
            <a:ext cx="2651400" cy="137124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Text 19"/>
          <p:cNvSpPr/>
          <p:nvPr/>
        </p:nvSpPr>
        <p:spPr>
          <a:xfrm>
            <a:off x="548640" y="489204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P2P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101" name="Text 20"/>
          <p:cNvSpPr/>
          <p:nvPr/>
        </p:nvSpPr>
        <p:spPr>
          <a:xfrm>
            <a:off x="548640" y="534924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4f2f7"/>
                </a:solidFill>
                <a:latin typeface="Calibri"/>
                <a:ea typeface="Calibri"/>
              </a:rPr>
              <a:t>Synchronous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2" name="Text 21"/>
          <p:cNvSpPr/>
          <p:nvPr/>
        </p:nvSpPr>
        <p:spPr>
          <a:xfrm>
            <a:off x="548640" y="568764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c7e3ee"/>
                </a:solidFill>
                <a:latin typeface="Calibri"/>
                <a:ea typeface="Calibri"/>
              </a:rPr>
              <a:t>demo 1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03" name="Shape 22"/>
          <p:cNvSpPr/>
          <p:nvPr/>
        </p:nvSpPr>
        <p:spPr>
          <a:xfrm>
            <a:off x="3429000" y="4663440"/>
            <a:ext cx="2651400" cy="137124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Text 23"/>
          <p:cNvSpPr/>
          <p:nvPr/>
        </p:nvSpPr>
        <p:spPr>
          <a:xfrm>
            <a:off x="3429000" y="489204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P2P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105" name="Text 24"/>
          <p:cNvSpPr/>
          <p:nvPr/>
        </p:nvSpPr>
        <p:spPr>
          <a:xfrm>
            <a:off x="3429000" y="534924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4f2f7"/>
                </a:solidFill>
                <a:latin typeface="Calibri"/>
                <a:ea typeface="Calibri"/>
              </a:rPr>
              <a:t>Asynchronous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6" name="Text 25"/>
          <p:cNvSpPr/>
          <p:nvPr/>
        </p:nvSpPr>
        <p:spPr>
          <a:xfrm>
            <a:off x="3429000" y="568764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c7e3ee"/>
                </a:solidFill>
                <a:latin typeface="Calibri"/>
                <a:ea typeface="Calibri"/>
              </a:rPr>
              <a:t>demo 2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07" name="Shape 26"/>
          <p:cNvSpPr/>
          <p:nvPr/>
        </p:nvSpPr>
        <p:spPr>
          <a:xfrm>
            <a:off x="6309360" y="4663440"/>
            <a:ext cx="2651400" cy="137124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Text 27"/>
          <p:cNvSpPr/>
          <p:nvPr/>
        </p:nvSpPr>
        <p:spPr>
          <a:xfrm>
            <a:off x="6309360" y="489204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Collective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109" name="Text 28"/>
          <p:cNvSpPr/>
          <p:nvPr/>
        </p:nvSpPr>
        <p:spPr>
          <a:xfrm>
            <a:off x="6309360" y="534924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4f2f7"/>
                </a:solidFill>
                <a:latin typeface="Calibri"/>
                <a:ea typeface="Calibri"/>
              </a:rPr>
              <a:t>Synchronous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10" name="Text 29"/>
          <p:cNvSpPr/>
          <p:nvPr/>
        </p:nvSpPr>
        <p:spPr>
          <a:xfrm>
            <a:off x="6309360" y="568764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c7e3ee"/>
                </a:solidFill>
                <a:latin typeface="Calibri"/>
                <a:ea typeface="Calibri"/>
              </a:rPr>
              <a:t>demo 3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11" name="Shape 30"/>
          <p:cNvSpPr/>
          <p:nvPr/>
        </p:nvSpPr>
        <p:spPr>
          <a:xfrm>
            <a:off x="9189720" y="4663440"/>
            <a:ext cx="2651400" cy="137124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Text 31"/>
          <p:cNvSpPr/>
          <p:nvPr/>
        </p:nvSpPr>
        <p:spPr>
          <a:xfrm>
            <a:off x="9189720" y="489204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Collective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113" name="Text 32"/>
          <p:cNvSpPr/>
          <p:nvPr/>
        </p:nvSpPr>
        <p:spPr>
          <a:xfrm>
            <a:off x="9189720" y="534924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4f2f7"/>
                </a:solidFill>
                <a:latin typeface="Calibri"/>
                <a:ea typeface="Calibri"/>
              </a:rPr>
              <a:t>Asynchronous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14" name="Text 33"/>
          <p:cNvSpPr/>
          <p:nvPr/>
        </p:nvSpPr>
        <p:spPr>
          <a:xfrm>
            <a:off x="9189720" y="568764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c7e3ee"/>
                </a:solidFill>
                <a:latin typeface="Calibri"/>
                <a:ea typeface="Calibri"/>
              </a:rPr>
              <a:t>demo 4/5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15" name="Text 34"/>
          <p:cNvSpPr/>
          <p:nvPr/>
        </p:nvSpPr>
        <p:spPr>
          <a:xfrm>
            <a:off x="11548800" y="644652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b7a8c"/>
                </a:solidFill>
                <a:latin typeface="Calibri"/>
                <a:ea typeface="Calibri"/>
              </a:rPr>
              <a:t>3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 0"/>
          <p:cNvSpPr/>
          <p:nvPr/>
        </p:nvSpPr>
        <p:spPr>
          <a:xfrm>
            <a:off x="548640" y="32004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99" strike="noStrike">
                <a:solidFill>
                  <a:srgbClr val="1c7293"/>
                </a:solidFill>
                <a:latin typeface="Calibri"/>
                <a:ea typeface="Calibri"/>
              </a:rPr>
              <a:t>POINT-TO-POINT · DEMO 1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7" name="Text 1"/>
          <p:cNvSpPr/>
          <p:nvPr/>
        </p:nvSpPr>
        <p:spPr>
          <a:xfrm>
            <a:off x="548640" y="59436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21295c"/>
                </a:solidFill>
                <a:latin typeface="Cambria"/>
                <a:ea typeface="Cambria"/>
              </a:rPr>
              <a:t>Synchronous (blocking) send/receive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118" name="Shape 2"/>
          <p:cNvSpPr/>
          <p:nvPr/>
        </p:nvSpPr>
        <p:spPr>
          <a:xfrm>
            <a:off x="548640" y="1298520"/>
            <a:ext cx="11063880" cy="16200"/>
          </a:xfrm>
          <a:prstGeom prst="rect">
            <a:avLst/>
          </a:prstGeom>
          <a:solidFill>
            <a:srgbClr val="d9e6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Text 3"/>
          <p:cNvSpPr/>
          <p:nvPr/>
        </p:nvSpPr>
        <p:spPr>
          <a:xfrm>
            <a:off x="548640" y="1508760"/>
            <a:ext cx="5668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17242b"/>
                </a:solidFill>
                <a:latin typeface="Calibri"/>
                <a:ea typeface="Calibri"/>
              </a:rPr>
              <a:t>MPI_Ssend blocks rank 0 until rank 1 is actually receiving the message — the two ranks hand off in lock-step.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20" name="Shape 4"/>
          <p:cNvSpPr/>
          <p:nvPr/>
        </p:nvSpPr>
        <p:spPr>
          <a:xfrm>
            <a:off x="731520" y="2377440"/>
            <a:ext cx="1645560" cy="54828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Text 5"/>
          <p:cNvSpPr/>
          <p:nvPr/>
        </p:nvSpPr>
        <p:spPr>
          <a:xfrm>
            <a:off x="731520" y="2377440"/>
            <a:ext cx="1645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rank 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2" name="Shape 6"/>
          <p:cNvSpPr/>
          <p:nvPr/>
        </p:nvSpPr>
        <p:spPr>
          <a:xfrm>
            <a:off x="4206240" y="2377440"/>
            <a:ext cx="1645560" cy="54828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Text 7"/>
          <p:cNvSpPr/>
          <p:nvPr/>
        </p:nvSpPr>
        <p:spPr>
          <a:xfrm>
            <a:off x="4206240" y="2377440"/>
            <a:ext cx="1645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rank 1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4" name="Shape 8"/>
          <p:cNvSpPr/>
          <p:nvPr/>
        </p:nvSpPr>
        <p:spPr>
          <a:xfrm>
            <a:off x="2377440" y="2651760"/>
            <a:ext cx="1828800" cy="360"/>
          </a:xfrm>
          <a:prstGeom prst="line">
            <a:avLst/>
          </a:prstGeom>
          <a:ln w="28575">
            <a:solidFill>
              <a:srgbClr val="21295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Text 9"/>
          <p:cNvSpPr/>
          <p:nvPr/>
        </p:nvSpPr>
        <p:spPr>
          <a:xfrm>
            <a:off x="2331720" y="199332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5b7a8c"/>
                </a:solidFill>
                <a:latin typeface="Calibri"/>
                <a:ea typeface="Calibri"/>
              </a:rPr>
              <a:t>MPI_Ssend( ) → waits for match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26" name="Text 10"/>
          <p:cNvSpPr/>
          <p:nvPr/>
        </p:nvSpPr>
        <p:spPr>
          <a:xfrm>
            <a:off x="2103120" y="276156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b7a8c"/>
                </a:solidFill>
                <a:latin typeface="Calibri"/>
                <a:ea typeface="Calibri"/>
              </a:rPr>
              <a:t>both ranks resume</a:t>
            </a:r>
            <a:endParaRPr b="0" lang="en-IN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b7a8c"/>
                </a:solidFill>
                <a:latin typeface="Calibri"/>
                <a:ea typeface="Calibri"/>
              </a:rPr>
              <a:t>together, in step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27" name="Shape 11"/>
          <p:cNvSpPr/>
          <p:nvPr/>
        </p:nvSpPr>
        <p:spPr>
          <a:xfrm>
            <a:off x="548640" y="3657600"/>
            <a:ext cx="5668920" cy="2651400"/>
          </a:xfrm>
          <a:prstGeom prst="roundRect">
            <a:avLst>
              <a:gd name="adj" fmla="val 2069"/>
            </a:avLst>
          </a:prstGeom>
          <a:solidFill>
            <a:srgbClr val="0e2233"/>
          </a:solidFill>
          <a:ln w="12700">
            <a:solidFill>
              <a:srgbClr val="0e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Text 12"/>
          <p:cNvSpPr/>
          <p:nvPr/>
        </p:nvSpPr>
        <p:spPr>
          <a:xfrm>
            <a:off x="749880" y="3803760"/>
            <a:ext cx="526644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fe3f2"/>
                </a:solidFill>
                <a:latin typeface="Courier New"/>
                <a:ea typeface="Courier New"/>
              </a:rPr>
              <a:t>// rank 0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fe3f2"/>
                </a:solidFill>
                <a:latin typeface="Courier New"/>
                <a:ea typeface="Courier New"/>
              </a:rPr>
              <a:t>MPI_Ssend(data.data(), N, MPI_DOUBLE,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fe3f2"/>
                </a:solidFill>
                <a:latin typeface="Courier New"/>
                <a:ea typeface="Courier New"/>
              </a:rPr>
              <a:t>          </a:t>
            </a:r>
            <a:r>
              <a:rPr b="0" lang="en-US" sz="1300" spc="-1" strike="noStrike">
                <a:solidFill>
                  <a:srgbClr val="bfe3f2"/>
                </a:solidFill>
                <a:latin typeface="Courier New"/>
                <a:ea typeface="Courier New"/>
              </a:rPr>
              <a:t>1, TAG, MPI_COMM_WORLD);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fe3f2"/>
                </a:solidFill>
                <a:latin typeface="Courier New"/>
                <a:ea typeface="Courier New"/>
              </a:rPr>
              <a:t>// rank 1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fe3f2"/>
                </a:solidFill>
                <a:latin typeface="Courier New"/>
                <a:ea typeface="Courier New"/>
              </a:rPr>
              <a:t>MPI_Recv(buf.data(), N, MPI_DOUBLE,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fe3f2"/>
                </a:solidFill>
                <a:latin typeface="Courier New"/>
                <a:ea typeface="Courier New"/>
              </a:rPr>
              <a:t>         </a:t>
            </a:r>
            <a:r>
              <a:rPr b="0" lang="en-US" sz="1300" spc="-1" strike="noStrike">
                <a:solidFill>
                  <a:srgbClr val="bfe3f2"/>
                </a:solidFill>
                <a:latin typeface="Courier New"/>
                <a:ea typeface="Courier New"/>
              </a:rPr>
              <a:t>0, TAG, MPI_COMM_WORLD, &amp;status);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29" name="Text 13"/>
          <p:cNvSpPr/>
          <p:nvPr/>
        </p:nvSpPr>
        <p:spPr>
          <a:xfrm>
            <a:off x="6675120" y="1508760"/>
            <a:ext cx="4937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48" strike="noStrike">
                <a:solidFill>
                  <a:srgbClr val="1c7293"/>
                </a:solidFill>
                <a:latin typeface="Calibri"/>
                <a:ea typeface="Calibri"/>
              </a:rPr>
              <a:t>KEY POINT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0" name="Text 14"/>
          <p:cNvSpPr/>
          <p:nvPr/>
        </p:nvSpPr>
        <p:spPr>
          <a:xfrm>
            <a:off x="6675120" y="1810440"/>
            <a:ext cx="49374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7242b"/>
                </a:solidFill>
                <a:latin typeface="Calibri"/>
                <a:ea typeface="Calibri"/>
              </a:rPr>
              <a:t>MPI_Ssend guarantees a true rendezvous. Plain MPI_Send is also blocking, but may return early if the implementation buffers small messages — use MPI_Ssend when you specifically want to demonstrate synchronous behavior.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31" name="Shape 15"/>
          <p:cNvSpPr/>
          <p:nvPr/>
        </p:nvSpPr>
        <p:spPr>
          <a:xfrm>
            <a:off x="6675120" y="3383280"/>
            <a:ext cx="4937400" cy="2285640"/>
          </a:xfrm>
          <a:prstGeom prst="roundRect">
            <a:avLst>
              <a:gd name="adj" fmla="val 3200"/>
            </a:avLst>
          </a:prstGeom>
          <a:solidFill>
            <a:srgbClr val="eaf4f8"/>
          </a:solidFill>
          <a:ln w="12700">
            <a:solidFill>
              <a:srgbClr val="eaf4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Text 16"/>
          <p:cNvSpPr/>
          <p:nvPr/>
        </p:nvSpPr>
        <p:spPr>
          <a:xfrm>
            <a:off x="6903720" y="3566160"/>
            <a:ext cx="4480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mbria"/>
                <a:ea typeface="Cambria"/>
              </a:rPr>
              <a:t>File: 1_p2p_sync.cpp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33" name="Text 17"/>
          <p:cNvSpPr/>
          <p:nvPr/>
        </p:nvSpPr>
        <p:spPr>
          <a:xfrm>
            <a:off x="6903720" y="3977640"/>
            <a:ext cx="4480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21295c"/>
                </a:solidFill>
                <a:latin typeface="Courier New"/>
                <a:ea typeface="Courier New"/>
              </a:rPr>
              <a:t>Run:  </a:t>
            </a:r>
            <a:r>
              <a:rPr b="0" lang="en-US" sz="1250" spc="-1" strike="noStrike">
                <a:solidFill>
                  <a:srgbClr val="21295c"/>
                </a:solidFill>
                <a:latin typeface="Courier New"/>
                <a:ea typeface="Courier New"/>
              </a:rPr>
              <a:t>mpirun -np 2 ./1_p2p_sync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34" name="Text 18"/>
          <p:cNvSpPr/>
          <p:nvPr/>
        </p:nvSpPr>
        <p:spPr>
          <a:xfrm>
            <a:off x="6903720" y="4434840"/>
            <a:ext cx="44802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b7a8c"/>
                </a:solidFill>
                <a:latin typeface="Calibri"/>
                <a:ea typeface="Calibri"/>
              </a:rPr>
              <a:t>Rank 1 prints “about to MPI_Recv…” first, then rank 0's send completes only after that receive is posted — order is enforced, not accidental.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35" name="Text 19"/>
          <p:cNvSpPr/>
          <p:nvPr/>
        </p:nvSpPr>
        <p:spPr>
          <a:xfrm>
            <a:off x="11548800" y="644652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b7a8c"/>
                </a:solidFill>
                <a:latin typeface="Calibri"/>
                <a:ea typeface="Calibri"/>
              </a:rPr>
              <a:t>4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 0"/>
          <p:cNvSpPr/>
          <p:nvPr/>
        </p:nvSpPr>
        <p:spPr>
          <a:xfrm>
            <a:off x="548640" y="32004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99" strike="noStrike">
                <a:solidFill>
                  <a:srgbClr val="1c7293"/>
                </a:solidFill>
                <a:latin typeface="Calibri"/>
                <a:ea typeface="Calibri"/>
              </a:rPr>
              <a:t>POINT-TO-POINT · DEMO 2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7" name="Text 1"/>
          <p:cNvSpPr/>
          <p:nvPr/>
        </p:nvSpPr>
        <p:spPr>
          <a:xfrm>
            <a:off x="548640" y="59436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21295c"/>
                </a:solidFill>
                <a:latin typeface="Cambria"/>
                <a:ea typeface="Cambria"/>
              </a:rPr>
              <a:t>Asynchronous (non-blocking) send/receive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138" name="Shape 2"/>
          <p:cNvSpPr/>
          <p:nvPr/>
        </p:nvSpPr>
        <p:spPr>
          <a:xfrm>
            <a:off x="548640" y="1298520"/>
            <a:ext cx="11063880" cy="16200"/>
          </a:xfrm>
          <a:prstGeom prst="rect">
            <a:avLst/>
          </a:prstGeom>
          <a:solidFill>
            <a:srgbClr val="d9e6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Text 3"/>
          <p:cNvSpPr/>
          <p:nvPr/>
        </p:nvSpPr>
        <p:spPr>
          <a:xfrm>
            <a:off x="548640" y="1508760"/>
            <a:ext cx="5668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17242b"/>
                </a:solidFill>
                <a:latin typeface="Calibri"/>
                <a:ea typeface="Calibri"/>
              </a:rPr>
              <a:t>MPI_Isend / MPI_Irecv return immediately. Both ranks post send + receive, do other work, then MPI_Wait — no rendezvous required.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40" name="Shape 4"/>
          <p:cNvSpPr/>
          <p:nvPr/>
        </p:nvSpPr>
        <p:spPr>
          <a:xfrm>
            <a:off x="731520" y="2377440"/>
            <a:ext cx="1645560" cy="54828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Text 5"/>
          <p:cNvSpPr/>
          <p:nvPr/>
        </p:nvSpPr>
        <p:spPr>
          <a:xfrm>
            <a:off x="731520" y="2377440"/>
            <a:ext cx="1645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rank 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42" name="Shape 6"/>
          <p:cNvSpPr/>
          <p:nvPr/>
        </p:nvSpPr>
        <p:spPr>
          <a:xfrm>
            <a:off x="4206240" y="2377440"/>
            <a:ext cx="1645560" cy="54828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Text 7"/>
          <p:cNvSpPr/>
          <p:nvPr/>
        </p:nvSpPr>
        <p:spPr>
          <a:xfrm>
            <a:off x="4206240" y="2377440"/>
            <a:ext cx="1645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rank 1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44" name="Shape 8"/>
          <p:cNvSpPr/>
          <p:nvPr/>
        </p:nvSpPr>
        <p:spPr>
          <a:xfrm>
            <a:off x="2377440" y="2514600"/>
            <a:ext cx="1828800" cy="360"/>
          </a:xfrm>
          <a:prstGeom prst="line">
            <a:avLst/>
          </a:prstGeom>
          <a:ln w="28575">
            <a:solidFill>
              <a:srgbClr val="21295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Shape 9"/>
          <p:cNvSpPr/>
          <p:nvPr/>
        </p:nvSpPr>
        <p:spPr>
          <a:xfrm flipH="1">
            <a:off x="2377440" y="2788920"/>
            <a:ext cx="1828800" cy="360"/>
          </a:xfrm>
          <a:prstGeom prst="line">
            <a:avLst/>
          </a:prstGeom>
          <a:ln w="28575">
            <a:solidFill>
              <a:srgbClr val="21295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Text 10"/>
          <p:cNvSpPr/>
          <p:nvPr/>
        </p:nvSpPr>
        <p:spPr>
          <a:xfrm>
            <a:off x="2103120" y="294444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b7a8c"/>
                </a:solidFill>
                <a:latin typeface="Calibri"/>
                <a:ea typeface="Calibri"/>
              </a:rPr>
              <a:t>Isend →   ← Isend</a:t>
            </a:r>
            <a:endParaRPr b="0" lang="en-IN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b7a8c"/>
                </a:solidFill>
                <a:latin typeface="Calibri"/>
                <a:ea typeface="Calibri"/>
              </a:rPr>
              <a:t>both in flight at once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47" name="Shape 11"/>
          <p:cNvSpPr/>
          <p:nvPr/>
        </p:nvSpPr>
        <p:spPr>
          <a:xfrm>
            <a:off x="548640" y="3657600"/>
            <a:ext cx="5668920" cy="2651400"/>
          </a:xfrm>
          <a:prstGeom prst="roundRect">
            <a:avLst>
              <a:gd name="adj" fmla="val 2069"/>
            </a:avLst>
          </a:prstGeom>
          <a:solidFill>
            <a:srgbClr val="0e2233"/>
          </a:solidFill>
          <a:ln w="12700">
            <a:solidFill>
              <a:srgbClr val="0e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8" name="Text 12"/>
          <p:cNvSpPr/>
          <p:nvPr/>
        </p:nvSpPr>
        <p:spPr>
          <a:xfrm>
            <a:off x="749880" y="3803760"/>
            <a:ext cx="526644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bfe3f2"/>
                </a:solidFill>
                <a:latin typeface="Courier New"/>
                <a:ea typeface="Courier New"/>
              </a:rPr>
              <a:t>MPI_Isend(send_buf, N, MPI_DOUBLE, partner,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bfe3f2"/>
                </a:solidFill>
                <a:latin typeface="Courier New"/>
                <a:ea typeface="Courier New"/>
              </a:rPr>
              <a:t>          </a:t>
            </a:r>
            <a:r>
              <a:rPr b="0" lang="en-US" sz="1200" spc="-1" strike="noStrike">
                <a:solidFill>
                  <a:srgbClr val="bfe3f2"/>
                </a:solidFill>
                <a:latin typeface="Courier New"/>
                <a:ea typeface="Courier New"/>
              </a:rPr>
              <a:t>TAG, MPI_COMM_WORLD, &amp;req[0]);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bfe3f2"/>
                </a:solidFill>
                <a:latin typeface="Courier New"/>
                <a:ea typeface="Courier New"/>
              </a:rPr>
              <a:t>MPI_Irecv(recv_buf, N, MPI_DOUBLE, partner,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bfe3f2"/>
                </a:solidFill>
                <a:latin typeface="Courier New"/>
                <a:ea typeface="Courier New"/>
              </a:rPr>
              <a:t>          </a:t>
            </a:r>
            <a:r>
              <a:rPr b="0" lang="en-US" sz="1200" spc="-1" strike="noStrike">
                <a:solidFill>
                  <a:srgbClr val="bfe3f2"/>
                </a:solidFill>
                <a:latin typeface="Courier New"/>
                <a:ea typeface="Courier New"/>
              </a:rPr>
              <a:t>TAG, MPI_COMM_WORLD, &amp;req[1]);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bfe3f2"/>
                </a:solidFill>
                <a:latin typeface="Courier New"/>
                <a:ea typeface="Courier New"/>
              </a:rPr>
              <a:t>do_other_work();          // overlaps!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bfe3f2"/>
                </a:solidFill>
                <a:latin typeface="Courier New"/>
                <a:ea typeface="Courier New"/>
              </a:rPr>
              <a:t>MPI_Waitall(2, req, MPI_STATUSES_IGNORE);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9" name="Text 13"/>
          <p:cNvSpPr/>
          <p:nvPr/>
        </p:nvSpPr>
        <p:spPr>
          <a:xfrm>
            <a:off x="6675120" y="1508760"/>
            <a:ext cx="4937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48" strike="noStrike">
                <a:solidFill>
                  <a:srgbClr val="1c7293"/>
                </a:solidFill>
                <a:latin typeface="Calibri"/>
                <a:ea typeface="Calibri"/>
              </a:rPr>
              <a:t>KEY POINT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0" name="Text 14"/>
          <p:cNvSpPr/>
          <p:nvPr/>
        </p:nvSpPr>
        <p:spPr>
          <a:xfrm>
            <a:off x="6675120" y="1810440"/>
            <a:ext cx="49374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7242b"/>
                </a:solidFill>
                <a:latin typeface="Calibri"/>
                <a:ea typeface="Calibri"/>
              </a:rPr>
              <a:t>If both ranks called the blocking MPI_Send at the same time, large messages could deadlock — each waiting for a receive the other hasn't posted. Non-blocking calls sidestep that and let communication overlap with computation.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51" name="Shape 15"/>
          <p:cNvSpPr/>
          <p:nvPr/>
        </p:nvSpPr>
        <p:spPr>
          <a:xfrm>
            <a:off x="6675120" y="3383280"/>
            <a:ext cx="4937400" cy="2285640"/>
          </a:xfrm>
          <a:prstGeom prst="roundRect">
            <a:avLst>
              <a:gd name="adj" fmla="val 3200"/>
            </a:avLst>
          </a:prstGeom>
          <a:solidFill>
            <a:srgbClr val="eaf4f8"/>
          </a:solidFill>
          <a:ln w="12700">
            <a:solidFill>
              <a:srgbClr val="eaf4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Text 16"/>
          <p:cNvSpPr/>
          <p:nvPr/>
        </p:nvSpPr>
        <p:spPr>
          <a:xfrm>
            <a:off x="6903720" y="3566160"/>
            <a:ext cx="4480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mbria"/>
                <a:ea typeface="Cambria"/>
              </a:rPr>
              <a:t>File: 2_p2p_async.cpp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3" name="Text 17"/>
          <p:cNvSpPr/>
          <p:nvPr/>
        </p:nvSpPr>
        <p:spPr>
          <a:xfrm>
            <a:off x="6903720" y="3977640"/>
            <a:ext cx="4480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21295c"/>
                </a:solidFill>
                <a:latin typeface="Courier New"/>
                <a:ea typeface="Courier New"/>
              </a:rPr>
              <a:t>Run:  </a:t>
            </a:r>
            <a:r>
              <a:rPr b="0" lang="en-US" sz="1250" spc="-1" strike="noStrike">
                <a:solidFill>
                  <a:srgbClr val="21295c"/>
                </a:solidFill>
                <a:latin typeface="Courier New"/>
                <a:ea typeface="Courier New"/>
              </a:rPr>
              <a:t>mpirun -np 2 ./2_p2p_async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54" name="Text 18"/>
          <p:cNvSpPr/>
          <p:nvPr/>
        </p:nvSpPr>
        <p:spPr>
          <a:xfrm>
            <a:off x="6903720" y="4434840"/>
            <a:ext cx="44802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b7a8c"/>
                </a:solidFill>
                <a:latin typeface="Calibri"/>
                <a:ea typeface="Calibri"/>
              </a:rPr>
              <a:t>A request handle (MPI_Request) tracks each pending op; MPI_Wait / MPI_Test check or block on completion later.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55" name="Text 19"/>
          <p:cNvSpPr/>
          <p:nvPr/>
        </p:nvSpPr>
        <p:spPr>
          <a:xfrm>
            <a:off x="11548800" y="644652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b7a8c"/>
                </a:solidFill>
                <a:latin typeface="Calibri"/>
                <a:ea typeface="Calibri"/>
              </a:rPr>
              <a:t>5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2026-09-23T10:23:19Z</dcterms:created>
  <dc:creator>PptxGenJS</dc:creator>
  <dc:description/>
  <dc:language>en-IN</dc:language>
  <cp:lastModifiedBy/>
  <dcterms:modified xsi:type="dcterms:W3CDTF">2026-09-23T21:23:28Z</dcterms:modified>
  <cp:revision>3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