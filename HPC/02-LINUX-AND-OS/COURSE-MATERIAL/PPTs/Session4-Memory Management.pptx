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Economica"/>
      <p:regular r:id="rId25"/>
      <p:bold r:id="rId26"/>
      <p:italic r:id="rId27"/>
      <p:boldItalic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conomica-bold.fntdata"/><Relationship Id="rId25" Type="http://schemas.openxmlformats.org/officeDocument/2006/relationships/font" Target="fonts/Economica-regular.fntdata"/><Relationship Id="rId28" Type="http://schemas.openxmlformats.org/officeDocument/2006/relationships/font" Target="fonts/Economica-boldItalic.fntdata"/><Relationship Id="rId27" Type="http://schemas.openxmlformats.org/officeDocument/2006/relationships/font" Target="fonts/Economic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33cf9fa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33cf9fa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33cf9fa62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33cf9fa62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33cf9fa62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33cf9fa62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33cf9fa62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33cf9fa62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33cf9fa62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33cf9fa62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33cf9fa62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33cf9fa62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33cf9fa62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33cf9fa62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33cf9fa62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33cf9fa62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33cf9fa62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33cf9fa62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33cf9fa62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33cf9fa62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33cf9fa62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33cf9fa62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33cf9fa62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33cf9fa62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33cf9fa62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33cf9fa62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33cf9fa62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33cf9fa62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33cf9fa62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33cf9fa62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33cf9fa62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33cf9fa62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33cf9fa62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733cf9fa62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33cf9fa62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33cf9fa62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Memory </a:t>
            </a:r>
            <a:r>
              <a:rPr lang="en-GB"/>
              <a:t>Management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ideal world has memory that is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Very large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Very fast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Non-volatile (doesn’t go away when power is turned off)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real world has memory that is: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Very large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Very fast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Affordable!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Pick any two…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Memory management goal: make the real world look as much like the ideal world as possible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GB" sz="1800">
                <a:latin typeface="Open Sans"/>
                <a:ea typeface="Open Sans"/>
                <a:cs typeface="Open Sans"/>
                <a:sym typeface="Open Sans"/>
              </a:rPr>
              <a:t>emory Hierarchy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2326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3815"/>
              <a:buFont typeface="Arial"/>
              <a:buNone/>
            </a:pPr>
            <a:r>
              <a:rPr b="1" lang="en-GB" sz="2511"/>
              <a:t>What is the memory hierarchy?</a:t>
            </a:r>
            <a:endParaRPr b="1" sz="251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/>
              <a:t>Different levels of memory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Some are small &amp; fast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Others are large &amp; slow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-GB"/>
              <a:t>What levels are usually included?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Cache: small amount of fast, expensive memory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L1 (level 1) cache: usually on the CPU chip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L2 &amp; L3 cache: off-chip, made of SRAM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Main memory: medium-speed, medium price memory (DRAM)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Disk: many gigabytes of slow, cheap, non-volatile storage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Memory manager handles the memory hierarchy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0437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7236" l="0" r="-756" t="0"/>
          <a:stretch/>
        </p:blipFill>
        <p:spPr>
          <a:xfrm>
            <a:off x="152400" y="152400"/>
            <a:ext cx="8922626" cy="448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b="11070" l="-590" r="590" t="11734"/>
          <a:stretch/>
        </p:blipFill>
        <p:spPr>
          <a:xfrm>
            <a:off x="152400" y="931150"/>
            <a:ext cx="8936525" cy="41162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391675" y="169975"/>
            <a:ext cx="57495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Modeling multiprogramming</a:t>
            </a:r>
            <a:endParaRPr sz="2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9"/>
          <p:cNvPicPr preferRelativeResize="0"/>
          <p:nvPr/>
        </p:nvPicPr>
        <p:blipFill rotWithShape="1">
          <a:blip r:embed="rId3">
            <a:alphaModFix/>
          </a:blip>
          <a:srcRect b="7236" l="0" r="0" t="0"/>
          <a:stretch/>
        </p:blipFill>
        <p:spPr>
          <a:xfrm>
            <a:off x="152400" y="152400"/>
            <a:ext cx="8811774" cy="448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0"/>
          <p:cNvPicPr preferRelativeResize="0"/>
          <p:nvPr/>
        </p:nvPicPr>
        <p:blipFill rotWithShape="1">
          <a:blip r:embed="rId3">
            <a:alphaModFix/>
          </a:blip>
          <a:srcRect b="11363" l="0" r="0" t="0"/>
          <a:stretch/>
        </p:blipFill>
        <p:spPr>
          <a:xfrm>
            <a:off x="152400" y="152400"/>
            <a:ext cx="8804376" cy="428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1"/>
          <p:cNvPicPr preferRelativeResize="0"/>
          <p:nvPr/>
        </p:nvPicPr>
        <p:blipFill rotWithShape="1">
          <a:blip r:embed="rId3">
            <a:alphaModFix/>
          </a:blip>
          <a:srcRect b="9682" l="0" r="0" t="0"/>
          <a:stretch/>
        </p:blipFill>
        <p:spPr>
          <a:xfrm>
            <a:off x="152400" y="152400"/>
            <a:ext cx="8944799" cy="437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/>
          <p:cNvPicPr preferRelativeResize="0"/>
          <p:nvPr/>
        </p:nvPicPr>
        <p:blipFill rotWithShape="1">
          <a:blip r:embed="rId3">
            <a:alphaModFix/>
          </a:blip>
          <a:srcRect b="8759" l="0" r="0" t="0"/>
          <a:stretch/>
        </p:blipFill>
        <p:spPr>
          <a:xfrm>
            <a:off x="152400" y="152400"/>
            <a:ext cx="8471825" cy="44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3"/>
          <p:cNvPicPr preferRelativeResize="0"/>
          <p:nvPr/>
        </p:nvPicPr>
        <p:blipFill rotWithShape="1">
          <a:blip r:embed="rId3">
            <a:alphaModFix/>
          </a:blip>
          <a:srcRect b="11512" l="0" r="-513" t="0"/>
          <a:stretch/>
        </p:blipFill>
        <p:spPr>
          <a:xfrm>
            <a:off x="152400" y="152400"/>
            <a:ext cx="8708326" cy="42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4"/>
          <p:cNvPicPr preferRelativeResize="0"/>
          <p:nvPr/>
        </p:nvPicPr>
        <p:blipFill rotWithShape="1">
          <a:blip r:embed="rId3">
            <a:alphaModFix/>
          </a:blip>
          <a:srcRect b="8609" l="0" r="0" t="0"/>
          <a:stretch/>
        </p:blipFill>
        <p:spPr>
          <a:xfrm>
            <a:off x="152400" y="152400"/>
            <a:ext cx="8715700" cy="442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5"/>
          <p:cNvPicPr preferRelativeResize="0"/>
          <p:nvPr/>
        </p:nvPicPr>
        <p:blipFill rotWithShape="1">
          <a:blip r:embed="rId3">
            <a:alphaModFix/>
          </a:blip>
          <a:srcRect b="6629" l="0" r="-756" t="0"/>
          <a:stretch/>
        </p:blipFill>
        <p:spPr>
          <a:xfrm>
            <a:off x="152400" y="152400"/>
            <a:ext cx="8819176" cy="451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6"/>
          <p:cNvPicPr preferRelativeResize="0"/>
          <p:nvPr/>
        </p:nvPicPr>
        <p:blipFill rotWithShape="1">
          <a:blip r:embed="rId3">
            <a:alphaModFix/>
          </a:blip>
          <a:srcRect b="11206" l="0" r="-756" t="0"/>
          <a:stretch/>
        </p:blipFill>
        <p:spPr>
          <a:xfrm>
            <a:off x="152400" y="152400"/>
            <a:ext cx="8811776" cy="429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7"/>
          <p:cNvPicPr preferRelativeResize="0"/>
          <p:nvPr/>
        </p:nvPicPr>
        <p:blipFill rotWithShape="1">
          <a:blip r:embed="rId3">
            <a:alphaModFix/>
          </a:blip>
          <a:srcRect b="8282" l="0" r="-1812" t="0"/>
          <a:stretch/>
        </p:blipFill>
        <p:spPr>
          <a:xfrm>
            <a:off x="152400" y="152400"/>
            <a:ext cx="8723099" cy="408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8"/>
          <p:cNvPicPr preferRelativeResize="0"/>
          <p:nvPr/>
        </p:nvPicPr>
        <p:blipFill rotWithShape="1">
          <a:blip r:embed="rId3">
            <a:alphaModFix/>
          </a:blip>
          <a:srcRect b="23728" l="0" r="-1174" t="0"/>
          <a:stretch/>
        </p:blipFill>
        <p:spPr>
          <a:xfrm>
            <a:off x="152400" y="152400"/>
            <a:ext cx="8264900" cy="369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9"/>
          <p:cNvPicPr preferRelativeResize="0"/>
          <p:nvPr/>
        </p:nvPicPr>
        <p:blipFill rotWithShape="1">
          <a:blip r:embed="rId3">
            <a:alphaModFix/>
          </a:blip>
          <a:srcRect b="20830" l="0" r="-4526" t="0"/>
          <a:stretch/>
        </p:blipFill>
        <p:spPr>
          <a:xfrm>
            <a:off x="152400" y="152400"/>
            <a:ext cx="8021025" cy="38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0"/>
          <p:cNvPicPr preferRelativeResize="0"/>
          <p:nvPr/>
        </p:nvPicPr>
        <p:blipFill rotWithShape="1">
          <a:blip r:embed="rId3">
            <a:alphaModFix/>
          </a:blip>
          <a:srcRect b="7544" l="0" r="-2291" t="0"/>
          <a:stretch/>
        </p:blipFill>
        <p:spPr>
          <a:xfrm>
            <a:off x="152400" y="152400"/>
            <a:ext cx="8907850" cy="447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1"/>
          <p:cNvPicPr preferRelativeResize="0"/>
          <p:nvPr/>
        </p:nvPicPr>
        <p:blipFill rotWithShape="1">
          <a:blip r:embed="rId3">
            <a:alphaModFix/>
          </a:blip>
          <a:srcRect b="11363" l="0" r="4215" t="0"/>
          <a:stretch/>
        </p:blipFill>
        <p:spPr>
          <a:xfrm>
            <a:off x="152400" y="152400"/>
            <a:ext cx="8390551" cy="428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