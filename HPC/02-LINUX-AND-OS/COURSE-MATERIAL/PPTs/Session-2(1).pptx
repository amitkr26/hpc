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10287000" cx="18288000"/>
  <p:notesSz cx="6858000" cy="9144000"/>
  <p:embeddedFontLst>
    <p:embeddedFont>
      <p:font typeface="IBM Plex Sans"/>
      <p:bold r:id="rId38"/>
      <p:boldItalic r:id="rId39"/>
    </p:embeddedFont>
    <p:embeddedFont>
      <p:font typeface="Poppins"/>
      <p:bold r:id="rId40"/>
      <p:boldItalic r:id="rId41"/>
    </p:embeddedFont>
    <p:embeddedFont>
      <p:font typeface="Roboto Mon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14">
          <p15:clr>
            <a:srgbClr val="A4A3A4"/>
          </p15:clr>
        </p15:guide>
        <p15:guide id="2" pos="2914">
          <p15:clr>
            <a:srgbClr val="A4A3A4"/>
          </p15:clr>
        </p15:guide>
      </p15:sldGuideLst>
    </p:ext>
    <p:ext uri="GoogleSlidesCustomDataVersion2">
      <go:slidesCustomData xmlns:go="http://customooxmlschemas.google.com/" r:id="rId46" roundtripDataSignature="AMtx7miQ8EhfBG44GKFnKUIQizQCK9DZ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14" orient="horz"/>
        <p:guide pos="291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20" Type="http://schemas.openxmlformats.org/officeDocument/2006/relationships/slide" Target="slides/slide15.xml"/><Relationship Id="rId42" Type="http://schemas.openxmlformats.org/officeDocument/2006/relationships/font" Target="fonts/RobotoMono-regular.fntdata"/><Relationship Id="rId41" Type="http://schemas.openxmlformats.org/officeDocument/2006/relationships/font" Target="fonts/Poppins-boldItalic.fntdata"/><Relationship Id="rId22" Type="http://schemas.openxmlformats.org/officeDocument/2006/relationships/slide" Target="slides/slide17.xml"/><Relationship Id="rId44" Type="http://schemas.openxmlformats.org/officeDocument/2006/relationships/font" Target="fonts/RobotoMono-italic.fntdata"/><Relationship Id="rId21" Type="http://schemas.openxmlformats.org/officeDocument/2006/relationships/slide" Target="slides/slide16.xml"/><Relationship Id="rId43" Type="http://schemas.openxmlformats.org/officeDocument/2006/relationships/font" Target="fonts/RobotoMono-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IBMPlexSans-boldItalic.fntdata"/><Relationship Id="rId16" Type="http://schemas.openxmlformats.org/officeDocument/2006/relationships/slide" Target="slides/slide11.xml"/><Relationship Id="rId38" Type="http://schemas.openxmlformats.org/officeDocument/2006/relationships/font" Target="fonts/IBMPlex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b="0" i="0" sz="1200" u="none" cap="none" strike="noStrike">
              <a:solidFill>
                <a:schemeClr val="dk1"/>
              </a:solidFill>
              <a:latin typeface="Calibri"/>
              <a:ea typeface="Calibri"/>
              <a:cs typeface="Calibri"/>
              <a:sym typeface="Calibri"/>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1" name="Google Shape;111;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112" name="Google Shape;112;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14" name="Google Shape;114;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5" name="Google Shape;115;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7" name="Google Shape;177;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sz="1200">
              <a:solidFill>
                <a:schemeClr val="dk1"/>
              </a:solidFill>
              <a:latin typeface="Calibri"/>
              <a:ea typeface="Calibri"/>
              <a:cs typeface="Calibri"/>
              <a:sym typeface="Calibri"/>
            </a:endParaRPr>
          </a:p>
        </p:txBody>
      </p:sp>
      <p:sp>
        <p:nvSpPr>
          <p:cNvPr id="178" name="Google Shape;178;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80" name="Google Shape;180;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1" name="Google Shape;181;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sed 's/oldtext/newtext/g' file.txt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s</a:t>
            </a:r>
            <a:r>
              <a:rPr lang="en-US" sz="1100">
                <a:latin typeface="Arial"/>
                <a:ea typeface="Arial"/>
                <a:cs typeface="Arial"/>
                <a:sym typeface="Arial"/>
              </a:rPr>
              <a:t> → Substitute command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oldtext</a:t>
            </a:r>
            <a:r>
              <a:rPr lang="en-US" sz="1100">
                <a:latin typeface="Arial"/>
                <a:ea typeface="Arial"/>
                <a:cs typeface="Arial"/>
                <a:sym typeface="Arial"/>
              </a:rPr>
              <a:t> → The string to search for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newtext</a:t>
            </a:r>
            <a:r>
              <a:rPr lang="en-US" sz="1100">
                <a:latin typeface="Arial"/>
                <a:ea typeface="Arial"/>
                <a:cs typeface="Arial"/>
                <a:sym typeface="Arial"/>
              </a:rPr>
              <a:t> → The string to replace it with</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g</a:t>
            </a:r>
            <a:r>
              <a:rPr lang="en-US" sz="1100">
                <a:latin typeface="Arial"/>
                <a:ea typeface="Arial"/>
                <a:cs typeface="Arial"/>
                <a:sym typeface="Arial"/>
              </a:rPr>
              <a:t> → Global flag (replace all occurrences in each line)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file.txt</a:t>
            </a:r>
            <a:r>
              <a:rPr lang="en-US" sz="1100">
                <a:latin typeface="Arial"/>
                <a:ea typeface="Arial"/>
                <a:cs typeface="Arial"/>
                <a:sym typeface="Arial"/>
              </a:rPr>
              <a:t> → The file to process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This command replaces </a:t>
            </a:r>
            <a:r>
              <a:rPr b="1" lang="en-US" sz="1100">
                <a:latin typeface="Arial"/>
                <a:ea typeface="Arial"/>
                <a:cs typeface="Arial"/>
                <a:sym typeface="Arial"/>
              </a:rPr>
              <a:t>every occurrence</a:t>
            </a:r>
            <a:r>
              <a:rPr lang="en-US" sz="1100">
                <a:latin typeface="Arial"/>
                <a:ea typeface="Arial"/>
                <a:cs typeface="Arial"/>
                <a:sym typeface="Arial"/>
              </a:rPr>
              <a:t> of </a:t>
            </a:r>
            <a:r>
              <a:rPr lang="en-US" sz="1100">
                <a:solidFill>
                  <a:srgbClr val="188038"/>
                </a:solidFill>
                <a:latin typeface="Roboto Mono"/>
                <a:ea typeface="Roboto Mono"/>
                <a:cs typeface="Roboto Mono"/>
                <a:sym typeface="Roboto Mono"/>
              </a:rPr>
              <a:t>oldtext</a:t>
            </a:r>
            <a:r>
              <a:rPr lang="en-US" sz="1100">
                <a:latin typeface="Arial"/>
                <a:ea typeface="Arial"/>
                <a:cs typeface="Arial"/>
                <a:sym typeface="Arial"/>
              </a:rPr>
              <a:t> with </a:t>
            </a:r>
            <a:r>
              <a:rPr lang="en-US" sz="1100">
                <a:solidFill>
                  <a:srgbClr val="188038"/>
                </a:solidFill>
                <a:latin typeface="Roboto Mono"/>
                <a:ea typeface="Roboto Mono"/>
                <a:cs typeface="Roboto Mono"/>
                <a:sym typeface="Roboto Mono"/>
              </a:rPr>
              <a:t>newtext</a:t>
            </a:r>
            <a:r>
              <a:rPr lang="en-US" sz="1100">
                <a:latin typeface="Arial"/>
                <a:ea typeface="Arial"/>
                <a:cs typeface="Arial"/>
                <a:sym typeface="Arial"/>
              </a:rPr>
              <a:t> in </a:t>
            </a:r>
            <a:r>
              <a:rPr lang="en-US" sz="1100">
                <a:solidFill>
                  <a:srgbClr val="188038"/>
                </a:solidFill>
                <a:latin typeface="Roboto Mono"/>
                <a:ea typeface="Roboto Mono"/>
                <a:cs typeface="Roboto Mono"/>
                <a:sym typeface="Roboto Mono"/>
              </a:rPr>
              <a:t>file.txt</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25" name="Google Shape;325;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72f5717983_0_1: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72f5717983_0_1: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g372f5717983_0_1:notes"/>
          <p:cNvSpPr txBox="1"/>
          <p:nvPr>
            <p:ph idx="12" type="sldNum"/>
          </p:nvPr>
        </p:nvSpPr>
        <p:spPr>
          <a:xfrm>
            <a:off x="5180013" y="6502400"/>
            <a:ext cx="3962400" cy="341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2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2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2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2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2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p2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2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2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3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3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1"/>
          <p:cNvSpPr/>
          <p:nvPr>
            <p:ph idx="2" type="pic"/>
          </p:nvPr>
        </p:nvSpPr>
        <p:spPr>
          <a:xfrm>
            <a:off x="1792288" y="612775"/>
            <a:ext cx="5486400" cy="4114800"/>
          </a:xfrm>
          <a:prstGeom prst="rect">
            <a:avLst/>
          </a:prstGeom>
          <a:noFill/>
          <a:ln>
            <a:noFill/>
          </a:ln>
        </p:spPr>
      </p:sp>
      <p:sp>
        <p:nvSpPr>
          <p:cNvPr id="68" name="Google Shape;68;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jpg"/><Relationship Id="rId4" Type="http://schemas.openxmlformats.org/officeDocument/2006/relationships/image" Target="../media/image8.png"/><Relationship Id="rId5"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jpg"/><Relationship Id="rId4" Type="http://schemas.openxmlformats.org/officeDocument/2006/relationships/image" Target="../media/image8.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jp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jpg"/><Relationship Id="rId4" Type="http://schemas.openxmlformats.org/officeDocument/2006/relationships/image" Target="../media/image8.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3.jpg"/><Relationship Id="rId4" Type="http://schemas.openxmlformats.org/officeDocument/2006/relationships/image" Target="../media/image8.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jp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jp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1.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jp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1.jp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jp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jp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jp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1.jp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jp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jp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jp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jp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jp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3.jp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15" l="0" r="0" t="-16"/>
            </a:stretch>
          </a:blipFill>
          <a:ln>
            <a:noFill/>
          </a:ln>
        </p:spPr>
      </p:sp>
      <p:sp>
        <p:nvSpPr>
          <p:cNvPr id="93" name="Google Shape;93;p1"/>
          <p:cNvSpPr/>
          <p:nvPr/>
        </p:nvSpPr>
        <p:spPr>
          <a:xfrm>
            <a:off x="1028700" y="939364"/>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94" name="Google Shape;94;p1"/>
          <p:cNvSpPr/>
          <p:nvPr/>
        </p:nvSpPr>
        <p:spPr>
          <a:xfrm>
            <a:off x="14397963" y="7123103"/>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95" name="Google Shape;95;p1"/>
          <p:cNvSpPr/>
          <p:nvPr/>
        </p:nvSpPr>
        <p:spPr>
          <a:xfrm>
            <a:off x="4370258" y="7123103"/>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96" name="Google Shape;96;p1"/>
          <p:cNvSpPr/>
          <p:nvPr/>
        </p:nvSpPr>
        <p:spPr>
          <a:xfrm>
            <a:off x="12856348" y="1360054"/>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97" name="Google Shape;97;p1"/>
          <p:cNvSpPr/>
          <p:nvPr/>
        </p:nvSpPr>
        <p:spPr>
          <a:xfrm>
            <a:off x="7848536" y="37835"/>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98" name="Google Shape;98;p1"/>
          <p:cNvSpPr/>
          <p:nvPr/>
        </p:nvSpPr>
        <p:spPr>
          <a:xfrm>
            <a:off x="762001" y="81915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99" name="Google Shape;99;p1"/>
          <p:cNvSpPr/>
          <p:nvPr/>
        </p:nvSpPr>
        <p:spPr>
          <a:xfrm>
            <a:off x="6019574" y="7124552"/>
            <a:ext cx="6990566" cy="868203"/>
          </a:xfrm>
          <a:custGeom>
            <a:rect b="b" l="l" r="r" t="t"/>
            <a:pathLst>
              <a:path extrusionOk="0" h="868203" w="6990566">
                <a:moveTo>
                  <a:pt x="0" y="0"/>
                </a:moveTo>
                <a:lnTo>
                  <a:pt x="6990566" y="0"/>
                </a:lnTo>
                <a:lnTo>
                  <a:pt x="6990566" y="868203"/>
                </a:lnTo>
                <a:lnTo>
                  <a:pt x="0" y="86820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0" name="Google Shape;100;p1"/>
          <p:cNvGrpSpPr/>
          <p:nvPr/>
        </p:nvGrpSpPr>
        <p:grpSpPr>
          <a:xfrm>
            <a:off x="1967174" y="2217133"/>
            <a:ext cx="14132706" cy="3184684"/>
            <a:chOff x="0" y="-47625"/>
            <a:chExt cx="18843608" cy="4246245"/>
          </a:xfrm>
        </p:grpSpPr>
        <p:sp>
          <p:nvSpPr>
            <p:cNvPr id="101" name="Google Shape;101;p1"/>
            <p:cNvSpPr/>
            <p:nvPr/>
          </p:nvSpPr>
          <p:spPr>
            <a:xfrm>
              <a:off x="0" y="0"/>
              <a:ext cx="18843608" cy="4198620"/>
            </a:xfrm>
            <a:custGeom>
              <a:rect b="b" l="l" r="r" t="t"/>
              <a:pathLst>
                <a:path extrusionOk="0" h="4198620" w="18843608">
                  <a:moveTo>
                    <a:pt x="0" y="0"/>
                  </a:moveTo>
                  <a:lnTo>
                    <a:pt x="18843608" y="0"/>
                  </a:lnTo>
                  <a:lnTo>
                    <a:pt x="18843608" y="4198620"/>
                  </a:lnTo>
                  <a:lnTo>
                    <a:pt x="0" y="4198620"/>
                  </a:lnTo>
                  <a:close/>
                </a:path>
              </a:pathLst>
            </a:custGeom>
            <a:solidFill>
              <a:srgbClr val="000000">
                <a:alpha val="0"/>
              </a:srgbClr>
            </a:solidFill>
            <a:ln>
              <a:noFill/>
            </a:ln>
          </p:spPr>
        </p:sp>
        <p:sp>
          <p:nvSpPr>
            <p:cNvPr id="102" name="Google Shape;102;p1"/>
            <p:cNvSpPr txBox="1"/>
            <p:nvPr/>
          </p:nvSpPr>
          <p:spPr>
            <a:xfrm>
              <a:off x="0" y="-47625"/>
              <a:ext cx="18843608" cy="4246245"/>
            </a:xfrm>
            <a:prstGeom prst="rect">
              <a:avLst/>
            </a:prstGeom>
            <a:noFill/>
            <a:ln>
              <a:noFill/>
            </a:ln>
          </p:spPr>
          <p:txBody>
            <a:bodyPr anchorCtr="0" anchor="t" bIns="0" lIns="0" spcFirstLastPara="1" rIns="0" wrap="square" tIns="0">
              <a:noAutofit/>
            </a:bodyPr>
            <a:lstStyle/>
            <a:p>
              <a:pPr indent="0" lvl="0" marL="0" marR="0" rtl="0" algn="ctr">
                <a:lnSpc>
                  <a:spcPct val="124800"/>
                </a:lnSpc>
                <a:spcBef>
                  <a:spcPts val="0"/>
                </a:spcBef>
                <a:spcAft>
                  <a:spcPts val="0"/>
                </a:spcAft>
                <a:buNone/>
              </a:pPr>
              <a:r>
                <a:rPr b="1" lang="en-US" sz="10000">
                  <a:solidFill>
                    <a:srgbClr val="C1FF72"/>
                  </a:solidFill>
                  <a:latin typeface="Calibri"/>
                  <a:ea typeface="Calibri"/>
                  <a:cs typeface="Calibri"/>
                  <a:sym typeface="Calibri"/>
                </a:rPr>
                <a:t>Linux and Operating System</a:t>
              </a:r>
              <a:endParaRPr b="1" sz="10000">
                <a:solidFill>
                  <a:srgbClr val="C1FF72"/>
                </a:solidFill>
                <a:latin typeface="Calibri"/>
                <a:ea typeface="Calibri"/>
                <a:cs typeface="Calibri"/>
                <a:sym typeface="Calibri"/>
              </a:endParaRPr>
            </a:p>
          </p:txBody>
        </p:sp>
      </p:grpSp>
      <p:grpSp>
        <p:nvGrpSpPr>
          <p:cNvPr id="103" name="Google Shape;103;p1"/>
          <p:cNvGrpSpPr/>
          <p:nvPr/>
        </p:nvGrpSpPr>
        <p:grpSpPr>
          <a:xfrm>
            <a:off x="7086600" y="7429500"/>
            <a:ext cx="3825240" cy="494030"/>
            <a:chOff x="-703833" y="-57566"/>
            <a:chExt cx="8582779" cy="658627"/>
          </a:xfrm>
        </p:grpSpPr>
        <p:sp>
          <p:nvSpPr>
            <p:cNvPr id="104" name="Google Shape;104;p1"/>
            <p:cNvSpPr/>
            <p:nvPr/>
          </p:nvSpPr>
          <p:spPr>
            <a:xfrm>
              <a:off x="-703833" y="101588"/>
              <a:ext cx="7937361" cy="499473"/>
            </a:xfrm>
            <a:custGeom>
              <a:rect b="b" l="l" r="r" t="t"/>
              <a:pathLst>
                <a:path extrusionOk="0" h="499473" w="12129017">
                  <a:moveTo>
                    <a:pt x="0" y="0"/>
                  </a:moveTo>
                  <a:lnTo>
                    <a:pt x="12129017" y="0"/>
                  </a:lnTo>
                  <a:lnTo>
                    <a:pt x="12129017" y="499473"/>
                  </a:lnTo>
                  <a:lnTo>
                    <a:pt x="0" y="499473"/>
                  </a:lnTo>
                  <a:close/>
                </a:path>
              </a:pathLst>
            </a:custGeom>
            <a:solidFill>
              <a:srgbClr val="000000">
                <a:alpha val="0"/>
              </a:srgbClr>
            </a:solidFill>
            <a:ln>
              <a:noFill/>
            </a:ln>
          </p:spPr>
        </p:sp>
        <p:sp>
          <p:nvSpPr>
            <p:cNvPr id="105" name="Google Shape;105;p1"/>
            <p:cNvSpPr txBox="1"/>
            <p:nvPr/>
          </p:nvSpPr>
          <p:spPr>
            <a:xfrm>
              <a:off x="1347827" y="-57566"/>
              <a:ext cx="6531119" cy="557039"/>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None/>
              </a:pPr>
              <a:r>
                <a:rPr b="1" lang="en-US" sz="2125">
                  <a:solidFill>
                    <a:srgbClr val="0A0A23"/>
                  </a:solidFill>
                  <a:latin typeface="Poppins"/>
                  <a:ea typeface="Poppins"/>
                  <a:cs typeface="Poppins"/>
                  <a:sym typeface="Poppins"/>
                </a:rPr>
                <a:t>Presenter</a:t>
              </a:r>
              <a:endParaRPr b="1" sz="2125">
                <a:solidFill>
                  <a:srgbClr val="0A0A23"/>
                </a:solidFill>
                <a:latin typeface="Poppins"/>
                <a:ea typeface="Poppins"/>
                <a:cs typeface="Poppins"/>
                <a:sym typeface="Poppins"/>
              </a:endParaRPr>
            </a:p>
          </p:txBody>
        </p:sp>
      </p:grpSp>
      <p:grpSp>
        <p:nvGrpSpPr>
          <p:cNvPr id="106" name="Google Shape;106;p1"/>
          <p:cNvGrpSpPr/>
          <p:nvPr/>
        </p:nvGrpSpPr>
        <p:grpSpPr>
          <a:xfrm>
            <a:off x="2209800" y="7886700"/>
            <a:ext cx="14641830" cy="2502535"/>
            <a:chOff x="0" y="0"/>
            <a:chExt cx="14075280" cy="3336325"/>
          </a:xfrm>
        </p:grpSpPr>
        <p:sp>
          <p:nvSpPr>
            <p:cNvPr id="107" name="Google Shape;107;p1"/>
            <p:cNvSpPr/>
            <p:nvPr/>
          </p:nvSpPr>
          <p:spPr>
            <a:xfrm>
              <a:off x="0" y="0"/>
              <a:ext cx="14075280" cy="3336325"/>
            </a:xfrm>
            <a:custGeom>
              <a:rect b="b" l="l" r="r" t="t"/>
              <a:pathLst>
                <a:path extrusionOk="0" h="3336325" w="14075280">
                  <a:moveTo>
                    <a:pt x="0" y="0"/>
                  </a:moveTo>
                  <a:lnTo>
                    <a:pt x="14075280" y="0"/>
                  </a:lnTo>
                  <a:lnTo>
                    <a:pt x="14075280" y="3336325"/>
                  </a:lnTo>
                  <a:lnTo>
                    <a:pt x="0" y="3336325"/>
                  </a:lnTo>
                  <a:close/>
                </a:path>
              </a:pathLst>
            </a:custGeom>
            <a:solidFill>
              <a:srgbClr val="000000">
                <a:alpha val="0"/>
              </a:srgbClr>
            </a:solidFill>
            <a:ln>
              <a:noFill/>
            </a:ln>
          </p:spPr>
        </p:sp>
        <p:sp>
          <p:nvSpPr>
            <p:cNvPr id="108" name="Google Shape;108;p1"/>
            <p:cNvSpPr txBox="1"/>
            <p:nvPr/>
          </p:nvSpPr>
          <p:spPr>
            <a:xfrm>
              <a:off x="0" y="101588"/>
              <a:ext cx="14075280" cy="242457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3709">
                  <a:solidFill>
                    <a:srgbClr val="FFFFFF"/>
                  </a:solidFill>
                  <a:latin typeface="Poppins"/>
                  <a:ea typeface="Poppins"/>
                  <a:cs typeface="Poppins"/>
                  <a:sym typeface="Poppins"/>
                </a:rPr>
                <a:t>Arun Kumar</a:t>
              </a:r>
              <a:endParaRPr b="1" sz="3709">
                <a:solidFill>
                  <a:srgbClr val="FFFFFF"/>
                </a:solidFill>
                <a:latin typeface="Poppins"/>
                <a:ea typeface="Poppins"/>
                <a:cs typeface="Poppins"/>
                <a:sym typeface="Poppins"/>
              </a:endParaRPr>
            </a:p>
            <a:p>
              <a:pPr indent="0" lvl="0" marL="0" marR="0" rtl="0" algn="ctr">
                <a:lnSpc>
                  <a:spcPct val="100000"/>
                </a:lnSpc>
                <a:spcBef>
                  <a:spcPts val="0"/>
                </a:spcBef>
                <a:spcAft>
                  <a:spcPts val="0"/>
                </a:spcAft>
                <a:buNone/>
              </a:pPr>
              <a:r>
                <a:rPr b="1" lang="en-US" sz="3709">
                  <a:solidFill>
                    <a:srgbClr val="FFFFFF"/>
                  </a:solidFill>
                  <a:latin typeface="Poppins"/>
                  <a:ea typeface="Poppins"/>
                  <a:cs typeface="Poppins"/>
                  <a:sym typeface="Poppins"/>
                </a:rPr>
                <a:t>Senior Project Engineer</a:t>
              </a:r>
              <a:endParaRPr b="1" sz="3709">
                <a:solidFill>
                  <a:srgbClr val="FFFFFF"/>
                </a:solidFill>
                <a:latin typeface="Poppins"/>
                <a:ea typeface="Poppins"/>
                <a:cs typeface="Poppins"/>
                <a:sym typeface="Poppins"/>
              </a:endParaRPr>
            </a:p>
            <a:p>
              <a:pPr indent="0" lvl="0" marL="0" marR="0" rtl="0" algn="ctr">
                <a:lnSpc>
                  <a:spcPct val="100000"/>
                </a:lnSpc>
                <a:spcBef>
                  <a:spcPts val="0"/>
                </a:spcBef>
                <a:spcAft>
                  <a:spcPts val="0"/>
                </a:spcAft>
                <a:buNone/>
              </a:pPr>
              <a:r>
                <a:rPr b="1" lang="en-US" sz="3709">
                  <a:solidFill>
                    <a:srgbClr val="FFFFFF"/>
                  </a:solidFill>
                  <a:latin typeface="Poppins"/>
                  <a:ea typeface="Poppins"/>
                  <a:cs typeface="Poppins"/>
                  <a:sym typeface="Poppins"/>
                </a:rPr>
                <a:t>Software Technology &amp; Cyber Security Group</a:t>
              </a:r>
              <a:endParaRPr b="1" sz="3709">
                <a:solidFill>
                  <a:srgbClr val="FFFFFF"/>
                </a:solidFill>
                <a:latin typeface="Poppins"/>
                <a:ea typeface="Poppins"/>
                <a:cs typeface="Poppins"/>
                <a:sym typeface="Poppi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118" name="Google Shape;118;p2"/>
          <p:cNvSpPr/>
          <p:nvPr/>
        </p:nvSpPr>
        <p:spPr>
          <a:xfrm>
            <a:off x="878206" y="23087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119" name="Google Shape;119;p2"/>
          <p:cNvSpPr/>
          <p:nvPr/>
        </p:nvSpPr>
        <p:spPr>
          <a:xfrm>
            <a:off x="12783301" y="7692194"/>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120" name="Google Shape;120;p2"/>
          <p:cNvSpPr/>
          <p:nvPr/>
        </p:nvSpPr>
        <p:spPr>
          <a:xfrm>
            <a:off x="13990088" y="1222528"/>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121" name="Google Shape;121;p2"/>
          <p:cNvSpPr/>
          <p:nvPr/>
        </p:nvSpPr>
        <p:spPr>
          <a:xfrm>
            <a:off x="16305444" y="-566950"/>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122" name="Google Shape;122;p2"/>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123" name="Google Shape;123;p2"/>
          <p:cNvSpPr/>
          <p:nvPr/>
        </p:nvSpPr>
        <p:spPr>
          <a:xfrm>
            <a:off x="2255567" y="2279240"/>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24" name="Google Shape;124;p2"/>
          <p:cNvSpPr/>
          <p:nvPr/>
        </p:nvSpPr>
        <p:spPr>
          <a:xfrm>
            <a:off x="1535557" y="23853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25" name="Google Shape;125;p2"/>
          <p:cNvGrpSpPr/>
          <p:nvPr/>
        </p:nvGrpSpPr>
        <p:grpSpPr>
          <a:xfrm>
            <a:off x="4466741" y="376014"/>
            <a:ext cx="9354519" cy="1284732"/>
            <a:chOff x="0" y="-38100"/>
            <a:chExt cx="12472692" cy="1712976"/>
          </a:xfrm>
        </p:grpSpPr>
        <p:sp>
          <p:nvSpPr>
            <p:cNvPr id="126" name="Google Shape;126;p2"/>
            <p:cNvSpPr/>
            <p:nvPr/>
          </p:nvSpPr>
          <p:spPr>
            <a:xfrm>
              <a:off x="0" y="0"/>
              <a:ext cx="12472692" cy="1674876"/>
            </a:xfrm>
            <a:custGeom>
              <a:rect b="b" l="l" r="r" t="t"/>
              <a:pathLst>
                <a:path extrusionOk="0" h="1674876" w="12472692">
                  <a:moveTo>
                    <a:pt x="0" y="0"/>
                  </a:moveTo>
                  <a:lnTo>
                    <a:pt x="12472692" y="0"/>
                  </a:lnTo>
                  <a:lnTo>
                    <a:pt x="12472692" y="1674876"/>
                  </a:lnTo>
                  <a:lnTo>
                    <a:pt x="0" y="1674876"/>
                  </a:lnTo>
                  <a:close/>
                </a:path>
              </a:pathLst>
            </a:custGeom>
            <a:solidFill>
              <a:srgbClr val="000000">
                <a:alpha val="0"/>
              </a:srgbClr>
            </a:solidFill>
            <a:ln>
              <a:noFill/>
            </a:ln>
          </p:spPr>
        </p:sp>
        <p:sp>
          <p:nvSpPr>
            <p:cNvPr id="127" name="Google Shape;127;p2"/>
            <p:cNvSpPr txBox="1"/>
            <p:nvPr/>
          </p:nvSpPr>
          <p:spPr>
            <a:xfrm>
              <a:off x="0" y="-38100"/>
              <a:ext cx="12472692"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Course Outline</a:t>
              </a:r>
              <a:endParaRPr b="1" sz="8000">
                <a:solidFill>
                  <a:srgbClr val="C1FF72"/>
                </a:solidFill>
                <a:latin typeface="Calibri"/>
                <a:ea typeface="Calibri"/>
                <a:cs typeface="Calibri"/>
                <a:sym typeface="Calibri"/>
              </a:endParaRPr>
            </a:p>
          </p:txBody>
        </p:sp>
      </p:grpSp>
      <p:grpSp>
        <p:nvGrpSpPr>
          <p:cNvPr id="128" name="Google Shape;128;p2"/>
          <p:cNvGrpSpPr/>
          <p:nvPr/>
        </p:nvGrpSpPr>
        <p:grpSpPr>
          <a:xfrm>
            <a:off x="2915679" y="2610731"/>
            <a:ext cx="4638391" cy="573576"/>
            <a:chOff x="0" y="-57150"/>
            <a:chExt cx="6184521" cy="764767"/>
          </a:xfrm>
        </p:grpSpPr>
        <p:sp>
          <p:nvSpPr>
            <p:cNvPr id="129" name="Google Shape;129;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30" name="Google Shape;130;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Introduction of Linux</a:t>
              </a:r>
              <a:endParaRPr b="1" sz="3125">
                <a:solidFill>
                  <a:srgbClr val="FFFFFF"/>
                </a:solidFill>
                <a:latin typeface="Calibri"/>
                <a:ea typeface="Calibri"/>
                <a:cs typeface="Calibri"/>
                <a:sym typeface="Calibri"/>
              </a:endParaRPr>
            </a:p>
          </p:txBody>
        </p:sp>
      </p:grpSp>
      <p:grpSp>
        <p:nvGrpSpPr>
          <p:cNvPr id="131" name="Google Shape;131;p2"/>
          <p:cNvGrpSpPr/>
          <p:nvPr/>
        </p:nvGrpSpPr>
        <p:grpSpPr>
          <a:xfrm>
            <a:off x="1644401" y="2487342"/>
            <a:ext cx="906750" cy="857913"/>
            <a:chOff x="0" y="-95250"/>
            <a:chExt cx="1209000" cy="1143883"/>
          </a:xfrm>
        </p:grpSpPr>
        <p:sp>
          <p:nvSpPr>
            <p:cNvPr id="132" name="Google Shape;132;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33" name="Google Shape;133;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1</a:t>
              </a:r>
              <a:endParaRPr sz="4605">
                <a:solidFill>
                  <a:srgbClr val="000000"/>
                </a:solidFill>
                <a:latin typeface="Calibri"/>
                <a:ea typeface="Calibri"/>
                <a:cs typeface="Calibri"/>
                <a:sym typeface="Calibri"/>
              </a:endParaRPr>
            </a:p>
          </p:txBody>
        </p:sp>
      </p:grpSp>
      <p:sp>
        <p:nvSpPr>
          <p:cNvPr id="134" name="Google Shape;134;p2"/>
          <p:cNvSpPr/>
          <p:nvPr/>
        </p:nvSpPr>
        <p:spPr>
          <a:xfrm>
            <a:off x="8603725" y="85857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135" name="Google Shape;135;p2"/>
          <p:cNvSpPr/>
          <p:nvPr/>
        </p:nvSpPr>
        <p:spPr>
          <a:xfrm>
            <a:off x="9981148" y="2279240"/>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36" name="Google Shape;136;p2"/>
          <p:cNvSpPr/>
          <p:nvPr/>
        </p:nvSpPr>
        <p:spPr>
          <a:xfrm>
            <a:off x="9261138" y="23853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37" name="Google Shape;137;p2"/>
          <p:cNvGrpSpPr/>
          <p:nvPr/>
        </p:nvGrpSpPr>
        <p:grpSpPr>
          <a:xfrm>
            <a:off x="10641261" y="2610731"/>
            <a:ext cx="4638391" cy="573576"/>
            <a:chOff x="0" y="-57150"/>
            <a:chExt cx="6184521" cy="764767"/>
          </a:xfrm>
        </p:grpSpPr>
        <p:sp>
          <p:nvSpPr>
            <p:cNvPr id="138" name="Google Shape;138;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39" name="Google Shape;139;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Shell Scripting</a:t>
              </a:r>
              <a:endParaRPr b="1" sz="3125">
                <a:solidFill>
                  <a:srgbClr val="FFFFFF"/>
                </a:solidFill>
                <a:latin typeface="Calibri"/>
                <a:ea typeface="Calibri"/>
                <a:cs typeface="Calibri"/>
                <a:sym typeface="Calibri"/>
              </a:endParaRPr>
            </a:p>
          </p:txBody>
        </p:sp>
      </p:grpSp>
      <p:grpSp>
        <p:nvGrpSpPr>
          <p:cNvPr id="140" name="Google Shape;140;p2"/>
          <p:cNvGrpSpPr/>
          <p:nvPr/>
        </p:nvGrpSpPr>
        <p:grpSpPr>
          <a:xfrm>
            <a:off x="9369982" y="2487342"/>
            <a:ext cx="906750" cy="857913"/>
            <a:chOff x="0" y="-95250"/>
            <a:chExt cx="1209000" cy="1143883"/>
          </a:xfrm>
        </p:grpSpPr>
        <p:sp>
          <p:nvSpPr>
            <p:cNvPr id="141" name="Google Shape;141;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42" name="Google Shape;142;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2</a:t>
              </a:r>
              <a:endParaRPr sz="4605">
                <a:solidFill>
                  <a:srgbClr val="000000"/>
                </a:solidFill>
                <a:latin typeface="Calibri"/>
                <a:ea typeface="Calibri"/>
                <a:cs typeface="Calibri"/>
                <a:sym typeface="Calibri"/>
              </a:endParaRPr>
            </a:p>
          </p:txBody>
        </p:sp>
      </p:grpSp>
      <p:sp>
        <p:nvSpPr>
          <p:cNvPr id="143" name="Google Shape;143;p2"/>
          <p:cNvSpPr/>
          <p:nvPr/>
        </p:nvSpPr>
        <p:spPr>
          <a:xfrm>
            <a:off x="2255567" y="4289503"/>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44" name="Google Shape;144;p2"/>
          <p:cNvSpPr/>
          <p:nvPr/>
        </p:nvSpPr>
        <p:spPr>
          <a:xfrm>
            <a:off x="1535557" y="4395569"/>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45" name="Google Shape;145;p2"/>
          <p:cNvGrpSpPr/>
          <p:nvPr/>
        </p:nvGrpSpPr>
        <p:grpSpPr>
          <a:xfrm>
            <a:off x="2915679" y="4620993"/>
            <a:ext cx="4638391" cy="573576"/>
            <a:chOff x="0" y="-57150"/>
            <a:chExt cx="6184521" cy="764767"/>
          </a:xfrm>
        </p:grpSpPr>
        <p:sp>
          <p:nvSpPr>
            <p:cNvPr id="146" name="Google Shape;146;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47" name="Google Shape;147;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Processes &amp; Scheduling </a:t>
              </a:r>
              <a:endParaRPr b="1" sz="3125">
                <a:solidFill>
                  <a:srgbClr val="FFFFFF"/>
                </a:solidFill>
                <a:latin typeface="Calibri"/>
                <a:ea typeface="Calibri"/>
                <a:cs typeface="Calibri"/>
                <a:sym typeface="Calibri"/>
              </a:endParaRPr>
            </a:p>
          </p:txBody>
        </p:sp>
      </p:grpSp>
      <p:grpSp>
        <p:nvGrpSpPr>
          <p:cNvPr id="148" name="Google Shape;148;p2"/>
          <p:cNvGrpSpPr/>
          <p:nvPr/>
        </p:nvGrpSpPr>
        <p:grpSpPr>
          <a:xfrm>
            <a:off x="1644401" y="4497604"/>
            <a:ext cx="906750" cy="857913"/>
            <a:chOff x="0" y="-95250"/>
            <a:chExt cx="1209000" cy="1143883"/>
          </a:xfrm>
        </p:grpSpPr>
        <p:sp>
          <p:nvSpPr>
            <p:cNvPr id="149" name="Google Shape;149;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50" name="Google Shape;150;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3</a:t>
              </a:r>
              <a:endParaRPr sz="4605">
                <a:solidFill>
                  <a:srgbClr val="000000"/>
                </a:solidFill>
                <a:latin typeface="Calibri"/>
                <a:ea typeface="Calibri"/>
                <a:cs typeface="Calibri"/>
                <a:sym typeface="Calibri"/>
              </a:endParaRPr>
            </a:p>
          </p:txBody>
        </p:sp>
      </p:grpSp>
      <p:sp>
        <p:nvSpPr>
          <p:cNvPr id="151" name="Google Shape;151;p2"/>
          <p:cNvSpPr/>
          <p:nvPr/>
        </p:nvSpPr>
        <p:spPr>
          <a:xfrm>
            <a:off x="9981148" y="4289503"/>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52" name="Google Shape;152;p2"/>
          <p:cNvSpPr/>
          <p:nvPr/>
        </p:nvSpPr>
        <p:spPr>
          <a:xfrm>
            <a:off x="9261138" y="4395569"/>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53" name="Google Shape;153;p2"/>
          <p:cNvGrpSpPr/>
          <p:nvPr/>
        </p:nvGrpSpPr>
        <p:grpSpPr>
          <a:xfrm>
            <a:off x="10641261" y="4620993"/>
            <a:ext cx="5384130" cy="573576"/>
            <a:chOff x="0" y="-57150"/>
            <a:chExt cx="7178840" cy="764767"/>
          </a:xfrm>
        </p:grpSpPr>
        <p:sp>
          <p:nvSpPr>
            <p:cNvPr id="154" name="Google Shape;154;p2"/>
            <p:cNvSpPr/>
            <p:nvPr/>
          </p:nvSpPr>
          <p:spPr>
            <a:xfrm>
              <a:off x="0" y="0"/>
              <a:ext cx="7178840" cy="707617"/>
            </a:xfrm>
            <a:custGeom>
              <a:rect b="b" l="l" r="r" t="t"/>
              <a:pathLst>
                <a:path extrusionOk="0" h="707617" w="7178840">
                  <a:moveTo>
                    <a:pt x="0" y="0"/>
                  </a:moveTo>
                  <a:lnTo>
                    <a:pt x="7178840" y="0"/>
                  </a:lnTo>
                  <a:lnTo>
                    <a:pt x="7178840" y="707617"/>
                  </a:lnTo>
                  <a:lnTo>
                    <a:pt x="0" y="707617"/>
                  </a:lnTo>
                  <a:close/>
                </a:path>
              </a:pathLst>
            </a:custGeom>
            <a:solidFill>
              <a:srgbClr val="000000">
                <a:alpha val="0"/>
              </a:srgbClr>
            </a:solidFill>
            <a:ln>
              <a:noFill/>
            </a:ln>
          </p:spPr>
        </p:sp>
        <p:sp>
          <p:nvSpPr>
            <p:cNvPr id="155" name="Google Shape;155;p2"/>
            <p:cNvSpPr txBox="1"/>
            <p:nvPr/>
          </p:nvSpPr>
          <p:spPr>
            <a:xfrm>
              <a:off x="0" y="-57150"/>
              <a:ext cx="7178840"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Memory Management</a:t>
              </a:r>
              <a:endParaRPr b="1" sz="3125">
                <a:solidFill>
                  <a:srgbClr val="FFFFFF"/>
                </a:solidFill>
                <a:latin typeface="Calibri"/>
                <a:ea typeface="Calibri"/>
                <a:cs typeface="Calibri"/>
                <a:sym typeface="Calibri"/>
              </a:endParaRPr>
            </a:p>
          </p:txBody>
        </p:sp>
      </p:grpSp>
      <p:grpSp>
        <p:nvGrpSpPr>
          <p:cNvPr id="156" name="Google Shape;156;p2"/>
          <p:cNvGrpSpPr/>
          <p:nvPr/>
        </p:nvGrpSpPr>
        <p:grpSpPr>
          <a:xfrm>
            <a:off x="9369982" y="4497604"/>
            <a:ext cx="906750" cy="857913"/>
            <a:chOff x="0" y="-95250"/>
            <a:chExt cx="1209000" cy="1143883"/>
          </a:xfrm>
        </p:grpSpPr>
        <p:sp>
          <p:nvSpPr>
            <p:cNvPr id="157" name="Google Shape;157;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58" name="Google Shape;158;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4</a:t>
              </a:r>
              <a:endParaRPr sz="4605">
                <a:solidFill>
                  <a:srgbClr val="000000"/>
                </a:solidFill>
                <a:latin typeface="Calibri"/>
                <a:ea typeface="Calibri"/>
                <a:cs typeface="Calibri"/>
                <a:sym typeface="Calibri"/>
              </a:endParaRPr>
            </a:p>
          </p:txBody>
        </p:sp>
      </p:grpSp>
      <p:sp>
        <p:nvSpPr>
          <p:cNvPr id="159" name="Google Shape;159;p2"/>
          <p:cNvSpPr/>
          <p:nvPr/>
        </p:nvSpPr>
        <p:spPr>
          <a:xfrm>
            <a:off x="2255567" y="6461691"/>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60" name="Google Shape;160;p2"/>
          <p:cNvSpPr/>
          <p:nvPr/>
        </p:nvSpPr>
        <p:spPr>
          <a:xfrm>
            <a:off x="1535557" y="6567757"/>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61" name="Google Shape;161;p2"/>
          <p:cNvGrpSpPr/>
          <p:nvPr/>
        </p:nvGrpSpPr>
        <p:grpSpPr>
          <a:xfrm>
            <a:off x="2915679" y="6793181"/>
            <a:ext cx="4638391" cy="573576"/>
            <a:chOff x="0" y="-57150"/>
            <a:chExt cx="6184521" cy="764767"/>
          </a:xfrm>
        </p:grpSpPr>
        <p:sp>
          <p:nvSpPr>
            <p:cNvPr id="162" name="Google Shape;162;p2"/>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63" name="Google Shape;163;p2"/>
            <p:cNvSpPr txBox="1"/>
            <p:nvPr/>
          </p:nvSpPr>
          <p:spPr>
            <a:xfrm>
              <a:off x="0" y="-57150"/>
              <a:ext cx="6184521" cy="76476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File Systems</a:t>
              </a:r>
              <a:endParaRPr b="1" sz="3125">
                <a:solidFill>
                  <a:srgbClr val="FFFFFF"/>
                </a:solidFill>
                <a:latin typeface="Calibri"/>
                <a:ea typeface="Calibri"/>
                <a:cs typeface="Calibri"/>
                <a:sym typeface="Calibri"/>
              </a:endParaRPr>
            </a:p>
          </p:txBody>
        </p:sp>
      </p:grpSp>
      <p:grpSp>
        <p:nvGrpSpPr>
          <p:cNvPr id="164" name="Google Shape;164;p2"/>
          <p:cNvGrpSpPr/>
          <p:nvPr/>
        </p:nvGrpSpPr>
        <p:grpSpPr>
          <a:xfrm>
            <a:off x="1644401" y="6669792"/>
            <a:ext cx="906750" cy="857913"/>
            <a:chOff x="0" y="-95250"/>
            <a:chExt cx="1209000" cy="1143883"/>
          </a:xfrm>
        </p:grpSpPr>
        <p:sp>
          <p:nvSpPr>
            <p:cNvPr id="165" name="Google Shape;165;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66" name="Google Shape;166;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5</a:t>
              </a:r>
              <a:endParaRPr sz="4605">
                <a:solidFill>
                  <a:srgbClr val="000000"/>
                </a:solidFill>
                <a:latin typeface="Calibri"/>
                <a:ea typeface="Calibri"/>
                <a:cs typeface="Calibri"/>
                <a:sym typeface="Calibri"/>
              </a:endParaRPr>
            </a:p>
          </p:txBody>
        </p:sp>
      </p:grpSp>
      <p:sp>
        <p:nvSpPr>
          <p:cNvPr id="167" name="Google Shape;167;p2"/>
          <p:cNvSpPr/>
          <p:nvPr/>
        </p:nvSpPr>
        <p:spPr>
          <a:xfrm>
            <a:off x="9981148" y="6461691"/>
            <a:ext cx="6044243" cy="1013566"/>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68" name="Google Shape;168;p2"/>
          <p:cNvSpPr/>
          <p:nvPr/>
        </p:nvSpPr>
        <p:spPr>
          <a:xfrm>
            <a:off x="9261138" y="6567757"/>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69" name="Google Shape;169;p2"/>
          <p:cNvGrpSpPr/>
          <p:nvPr/>
        </p:nvGrpSpPr>
        <p:grpSpPr>
          <a:xfrm>
            <a:off x="9369982" y="6669792"/>
            <a:ext cx="906750" cy="857913"/>
            <a:chOff x="0" y="-95250"/>
            <a:chExt cx="1209000" cy="1143883"/>
          </a:xfrm>
        </p:grpSpPr>
        <p:sp>
          <p:nvSpPr>
            <p:cNvPr id="170" name="Google Shape;170;p2"/>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171" name="Google Shape;171;p2"/>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6</a:t>
              </a:r>
              <a:endParaRPr sz="4605">
                <a:solidFill>
                  <a:srgbClr val="000000"/>
                </a:solidFill>
                <a:latin typeface="Calibri"/>
                <a:ea typeface="Calibri"/>
                <a:cs typeface="Calibri"/>
                <a:sym typeface="Calibri"/>
              </a:endParaRPr>
            </a:p>
          </p:txBody>
        </p:sp>
      </p:grpSp>
      <p:grpSp>
        <p:nvGrpSpPr>
          <p:cNvPr id="172" name="Google Shape;172;p2"/>
          <p:cNvGrpSpPr/>
          <p:nvPr/>
        </p:nvGrpSpPr>
        <p:grpSpPr>
          <a:xfrm>
            <a:off x="10641261" y="6844981"/>
            <a:ext cx="4944110" cy="573893"/>
            <a:chOff x="0" y="-57573"/>
            <a:chExt cx="6592147" cy="765190"/>
          </a:xfrm>
        </p:grpSpPr>
        <p:sp>
          <p:nvSpPr>
            <p:cNvPr id="173" name="Google Shape;173;p2"/>
            <p:cNvSpPr/>
            <p:nvPr/>
          </p:nvSpPr>
          <p:spPr>
            <a:xfrm>
              <a:off x="0" y="0"/>
              <a:ext cx="4712552" cy="707617"/>
            </a:xfrm>
            <a:custGeom>
              <a:rect b="b" l="l" r="r" t="t"/>
              <a:pathLst>
                <a:path extrusionOk="0" h="707617" w="4712552">
                  <a:moveTo>
                    <a:pt x="0" y="0"/>
                  </a:moveTo>
                  <a:lnTo>
                    <a:pt x="4712552" y="0"/>
                  </a:lnTo>
                  <a:lnTo>
                    <a:pt x="4712552" y="707617"/>
                  </a:lnTo>
                  <a:lnTo>
                    <a:pt x="0" y="707617"/>
                  </a:lnTo>
                  <a:close/>
                </a:path>
              </a:pathLst>
            </a:custGeom>
            <a:solidFill>
              <a:srgbClr val="000000">
                <a:alpha val="0"/>
              </a:srgbClr>
            </a:solidFill>
            <a:ln>
              <a:noFill/>
            </a:ln>
          </p:spPr>
        </p:sp>
        <p:sp>
          <p:nvSpPr>
            <p:cNvPr id="174" name="Google Shape;174;p2"/>
            <p:cNvSpPr txBox="1"/>
            <p:nvPr/>
          </p:nvSpPr>
          <p:spPr>
            <a:xfrm>
              <a:off x="0" y="-57573"/>
              <a:ext cx="6592147"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Package Managers</a:t>
              </a:r>
              <a:endParaRPr b="1" sz="3125">
                <a:solidFill>
                  <a:srgbClr val="FFFFFF"/>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
          <p:cNvSpPr/>
          <p:nvPr/>
        </p:nvSpPr>
        <p:spPr>
          <a:xfrm>
            <a:off x="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184" name="Google Shape;184;p3"/>
          <p:cNvSpPr/>
          <p:nvPr/>
        </p:nvSpPr>
        <p:spPr>
          <a:xfrm>
            <a:off x="878206" y="230875"/>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185" name="Google Shape;185;p3"/>
          <p:cNvSpPr/>
          <p:nvPr/>
        </p:nvSpPr>
        <p:spPr>
          <a:xfrm>
            <a:off x="12783301" y="7692194"/>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186" name="Google Shape;186;p3"/>
          <p:cNvSpPr/>
          <p:nvPr/>
        </p:nvSpPr>
        <p:spPr>
          <a:xfrm>
            <a:off x="13990088" y="1222528"/>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187" name="Google Shape;187;p3"/>
          <p:cNvSpPr/>
          <p:nvPr/>
        </p:nvSpPr>
        <p:spPr>
          <a:xfrm>
            <a:off x="16277504" y="351895"/>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188" name="Google Shape;188;p3"/>
          <p:cNvSpPr/>
          <p:nvPr/>
        </p:nvSpPr>
        <p:spPr>
          <a:xfrm>
            <a:off x="685801" y="887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grpSp>
        <p:nvGrpSpPr>
          <p:cNvPr id="189" name="Google Shape;189;p3"/>
          <p:cNvGrpSpPr/>
          <p:nvPr/>
        </p:nvGrpSpPr>
        <p:grpSpPr>
          <a:xfrm>
            <a:off x="4466741" y="376014"/>
            <a:ext cx="9354519" cy="1284732"/>
            <a:chOff x="0" y="-38100"/>
            <a:chExt cx="12472692" cy="1712976"/>
          </a:xfrm>
        </p:grpSpPr>
        <p:sp>
          <p:nvSpPr>
            <p:cNvPr id="190" name="Google Shape;190;p3"/>
            <p:cNvSpPr/>
            <p:nvPr/>
          </p:nvSpPr>
          <p:spPr>
            <a:xfrm>
              <a:off x="0" y="0"/>
              <a:ext cx="12472692" cy="1674876"/>
            </a:xfrm>
            <a:custGeom>
              <a:rect b="b" l="l" r="r" t="t"/>
              <a:pathLst>
                <a:path extrusionOk="0" h="1674876" w="12472692">
                  <a:moveTo>
                    <a:pt x="0" y="0"/>
                  </a:moveTo>
                  <a:lnTo>
                    <a:pt x="12472692" y="0"/>
                  </a:lnTo>
                  <a:lnTo>
                    <a:pt x="12472692" y="1674876"/>
                  </a:lnTo>
                  <a:lnTo>
                    <a:pt x="0" y="1674876"/>
                  </a:lnTo>
                  <a:close/>
                </a:path>
              </a:pathLst>
            </a:custGeom>
            <a:solidFill>
              <a:srgbClr val="000000">
                <a:alpha val="0"/>
              </a:srgbClr>
            </a:solidFill>
            <a:ln>
              <a:noFill/>
            </a:ln>
          </p:spPr>
        </p:sp>
        <p:sp>
          <p:nvSpPr>
            <p:cNvPr id="191" name="Google Shape;191;p3"/>
            <p:cNvSpPr txBox="1"/>
            <p:nvPr/>
          </p:nvSpPr>
          <p:spPr>
            <a:xfrm>
              <a:off x="0" y="-38100"/>
              <a:ext cx="12472692"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Shell Scripting</a:t>
              </a:r>
              <a:endParaRPr b="1" sz="8000">
                <a:solidFill>
                  <a:srgbClr val="C1FF72"/>
                </a:solidFill>
                <a:latin typeface="Calibri"/>
                <a:ea typeface="Calibri"/>
                <a:cs typeface="Calibri"/>
                <a:sym typeface="Calibri"/>
              </a:endParaRPr>
            </a:p>
            <a:p>
              <a:pPr indent="0" lvl="0" marL="0" marR="0" rtl="0" algn="ctr">
                <a:lnSpc>
                  <a:spcPct val="124812"/>
                </a:lnSpc>
                <a:spcBef>
                  <a:spcPts val="0"/>
                </a:spcBef>
                <a:spcAft>
                  <a:spcPts val="0"/>
                </a:spcAft>
                <a:buNone/>
              </a:pPr>
              <a:r>
                <a:t/>
              </a:r>
              <a:endParaRPr b="1" sz="8000">
                <a:solidFill>
                  <a:srgbClr val="C1FF72"/>
                </a:solidFill>
                <a:latin typeface="Calibri"/>
                <a:ea typeface="Calibri"/>
                <a:cs typeface="Calibri"/>
                <a:sym typeface="Calibri"/>
              </a:endParaRPr>
            </a:p>
          </p:txBody>
        </p:sp>
      </p:grpSp>
      <p:sp>
        <p:nvSpPr>
          <p:cNvPr id="192" name="Google Shape;192;p3"/>
          <p:cNvSpPr/>
          <p:nvPr/>
        </p:nvSpPr>
        <p:spPr>
          <a:xfrm>
            <a:off x="8603725" y="85857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193" name="Google Shape;193;p3"/>
          <p:cNvSpPr/>
          <p:nvPr/>
        </p:nvSpPr>
        <p:spPr>
          <a:xfrm>
            <a:off x="9325610" y="1669415"/>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194" name="Google Shape;194;p3"/>
          <p:cNvSpPr/>
          <p:nvPr/>
        </p:nvSpPr>
        <p:spPr>
          <a:xfrm>
            <a:off x="8682018" y="185190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195" name="Google Shape;195;p3"/>
          <p:cNvGrpSpPr/>
          <p:nvPr/>
        </p:nvGrpSpPr>
        <p:grpSpPr>
          <a:xfrm>
            <a:off x="10005626" y="2037009"/>
            <a:ext cx="6985635" cy="589133"/>
            <a:chOff x="-167640" y="-77893"/>
            <a:chExt cx="9314179" cy="785510"/>
          </a:xfrm>
        </p:grpSpPr>
        <p:sp>
          <p:nvSpPr>
            <p:cNvPr id="196" name="Google Shape;196;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197" name="Google Shape;197;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Introduction to Shell and Shell Scripting</a:t>
              </a:r>
              <a:endParaRPr b="1" sz="3125">
                <a:solidFill>
                  <a:srgbClr val="FFFFFF"/>
                </a:solidFill>
                <a:latin typeface="Calibri"/>
                <a:ea typeface="Calibri"/>
                <a:cs typeface="Calibri"/>
                <a:sym typeface="Calibri"/>
              </a:endParaRPr>
            </a:p>
          </p:txBody>
        </p:sp>
      </p:grpSp>
      <p:grpSp>
        <p:nvGrpSpPr>
          <p:cNvPr id="198" name="Google Shape;198;p3"/>
          <p:cNvGrpSpPr/>
          <p:nvPr/>
        </p:nvGrpSpPr>
        <p:grpSpPr>
          <a:xfrm>
            <a:off x="8804832" y="1947592"/>
            <a:ext cx="906750" cy="857913"/>
            <a:chOff x="0" y="-95250"/>
            <a:chExt cx="1209000" cy="1143883"/>
          </a:xfrm>
        </p:grpSpPr>
        <p:sp>
          <p:nvSpPr>
            <p:cNvPr id="199" name="Google Shape;199;p3"/>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00" name="Google Shape;200;p3"/>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1</a:t>
              </a:r>
              <a:endParaRPr sz="4605">
                <a:solidFill>
                  <a:srgbClr val="000000"/>
                </a:solidFill>
                <a:latin typeface="Calibri"/>
                <a:ea typeface="Calibri"/>
                <a:cs typeface="Calibri"/>
                <a:sym typeface="Calibri"/>
              </a:endParaRPr>
            </a:p>
          </p:txBody>
        </p:sp>
      </p:grpSp>
      <p:sp>
        <p:nvSpPr>
          <p:cNvPr id="201" name="Google Shape;201;p3"/>
          <p:cNvSpPr/>
          <p:nvPr/>
        </p:nvSpPr>
        <p:spPr>
          <a:xfrm>
            <a:off x="2915920" y="4664075"/>
            <a:ext cx="4638675" cy="530860"/>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02" name="Google Shape;202;p3"/>
          <p:cNvSpPr/>
          <p:nvPr/>
        </p:nvSpPr>
        <p:spPr>
          <a:xfrm>
            <a:off x="10641330" y="4664075"/>
            <a:ext cx="5384165" cy="530860"/>
          </a:xfrm>
          <a:custGeom>
            <a:rect b="b" l="l" r="r" t="t"/>
            <a:pathLst>
              <a:path extrusionOk="0" h="707617" w="7178840">
                <a:moveTo>
                  <a:pt x="0" y="0"/>
                </a:moveTo>
                <a:lnTo>
                  <a:pt x="7178840" y="0"/>
                </a:lnTo>
                <a:lnTo>
                  <a:pt x="7178840" y="707617"/>
                </a:lnTo>
                <a:lnTo>
                  <a:pt x="0" y="707617"/>
                </a:lnTo>
                <a:close/>
              </a:path>
            </a:pathLst>
          </a:custGeom>
          <a:solidFill>
            <a:srgbClr val="000000">
              <a:alpha val="0"/>
            </a:srgbClr>
          </a:solidFill>
          <a:ln>
            <a:noFill/>
          </a:ln>
        </p:spPr>
      </p:sp>
      <p:pic>
        <p:nvPicPr>
          <p:cNvPr id="203" name="Google Shape;203;p3"/>
          <p:cNvPicPr preferRelativeResize="0"/>
          <p:nvPr/>
        </p:nvPicPr>
        <p:blipFill rotWithShape="1">
          <a:blip r:embed="rId7">
            <a:alphaModFix/>
          </a:blip>
          <a:srcRect b="0" l="0" r="0" t="0"/>
          <a:stretch/>
        </p:blipFill>
        <p:spPr>
          <a:xfrm>
            <a:off x="609600" y="1333500"/>
            <a:ext cx="7309485" cy="7933690"/>
          </a:xfrm>
          <a:prstGeom prst="rect">
            <a:avLst/>
          </a:prstGeom>
          <a:noFill/>
          <a:ln>
            <a:noFill/>
          </a:ln>
        </p:spPr>
      </p:pic>
      <p:sp>
        <p:nvSpPr>
          <p:cNvPr id="204" name="Google Shape;204;p3"/>
          <p:cNvSpPr/>
          <p:nvPr/>
        </p:nvSpPr>
        <p:spPr>
          <a:xfrm>
            <a:off x="9371330" y="3258820"/>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05" name="Google Shape;205;p3"/>
          <p:cNvSpPr/>
          <p:nvPr/>
        </p:nvSpPr>
        <p:spPr>
          <a:xfrm>
            <a:off x="8682018" y="3391146"/>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06" name="Google Shape;206;p3"/>
          <p:cNvGrpSpPr/>
          <p:nvPr/>
        </p:nvGrpSpPr>
        <p:grpSpPr>
          <a:xfrm>
            <a:off x="9955461" y="3642289"/>
            <a:ext cx="6985635" cy="589133"/>
            <a:chOff x="-167640" y="-77893"/>
            <a:chExt cx="9314179" cy="785510"/>
          </a:xfrm>
        </p:grpSpPr>
        <p:sp>
          <p:nvSpPr>
            <p:cNvPr id="207" name="Google Shape;207;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08" name="Google Shape;208;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Basic Shell Commands</a:t>
              </a:r>
              <a:endParaRPr b="1" sz="3125">
                <a:solidFill>
                  <a:srgbClr val="FFFFFF"/>
                </a:solidFill>
                <a:latin typeface="Calibri"/>
                <a:ea typeface="Calibri"/>
                <a:cs typeface="Calibri"/>
                <a:sym typeface="Calibri"/>
              </a:endParaRPr>
            </a:p>
          </p:txBody>
        </p:sp>
      </p:grpSp>
      <p:grpSp>
        <p:nvGrpSpPr>
          <p:cNvPr id="209" name="Google Shape;209;p3"/>
          <p:cNvGrpSpPr/>
          <p:nvPr/>
        </p:nvGrpSpPr>
        <p:grpSpPr>
          <a:xfrm>
            <a:off x="8762922" y="3471592"/>
            <a:ext cx="906750" cy="857913"/>
            <a:chOff x="0" y="-95250"/>
            <a:chExt cx="1209000" cy="1143883"/>
          </a:xfrm>
        </p:grpSpPr>
        <p:sp>
          <p:nvSpPr>
            <p:cNvPr id="210" name="Google Shape;210;p3"/>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11" name="Google Shape;211;p3"/>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2</a:t>
              </a:r>
              <a:endParaRPr sz="4605">
                <a:solidFill>
                  <a:srgbClr val="000000"/>
                </a:solidFill>
                <a:latin typeface="Calibri"/>
                <a:ea typeface="Calibri"/>
                <a:cs typeface="Calibri"/>
                <a:sym typeface="Calibri"/>
              </a:endParaRPr>
            </a:p>
          </p:txBody>
        </p:sp>
      </p:grpSp>
      <p:sp>
        <p:nvSpPr>
          <p:cNvPr id="212" name="Google Shape;212;p3"/>
          <p:cNvSpPr/>
          <p:nvPr/>
        </p:nvSpPr>
        <p:spPr>
          <a:xfrm>
            <a:off x="9525000" y="4762500"/>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13" name="Google Shape;213;p3"/>
          <p:cNvSpPr/>
          <p:nvPr/>
        </p:nvSpPr>
        <p:spPr>
          <a:xfrm>
            <a:off x="8805208" y="487514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14" name="Google Shape;214;p3"/>
          <p:cNvGrpSpPr/>
          <p:nvPr/>
        </p:nvGrpSpPr>
        <p:grpSpPr>
          <a:xfrm>
            <a:off x="10058331" y="5169464"/>
            <a:ext cx="6985635" cy="589133"/>
            <a:chOff x="-167640" y="-77893"/>
            <a:chExt cx="9314179" cy="785510"/>
          </a:xfrm>
        </p:grpSpPr>
        <p:sp>
          <p:nvSpPr>
            <p:cNvPr id="215" name="Google Shape;215;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16" name="Google Shape;216;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Writing Shell Scripts</a:t>
              </a:r>
              <a:endParaRPr b="1" sz="3125">
                <a:solidFill>
                  <a:srgbClr val="FFFFFF"/>
                </a:solidFill>
                <a:latin typeface="Calibri"/>
                <a:ea typeface="Calibri"/>
                <a:cs typeface="Calibri"/>
                <a:sym typeface="Calibri"/>
              </a:endParaRPr>
            </a:p>
          </p:txBody>
        </p:sp>
      </p:grpSp>
      <p:grpSp>
        <p:nvGrpSpPr>
          <p:cNvPr id="217" name="Google Shape;217;p3"/>
          <p:cNvGrpSpPr/>
          <p:nvPr/>
        </p:nvGrpSpPr>
        <p:grpSpPr>
          <a:xfrm>
            <a:off x="8914052" y="4919392"/>
            <a:ext cx="906750" cy="857913"/>
            <a:chOff x="0" y="-95250"/>
            <a:chExt cx="1209000" cy="1143883"/>
          </a:xfrm>
        </p:grpSpPr>
        <p:sp>
          <p:nvSpPr>
            <p:cNvPr id="218" name="Google Shape;218;p3"/>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19" name="Google Shape;219;p3"/>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3</a:t>
              </a:r>
              <a:endParaRPr sz="4605">
                <a:solidFill>
                  <a:srgbClr val="000000"/>
                </a:solidFill>
                <a:latin typeface="Calibri"/>
                <a:ea typeface="Calibri"/>
                <a:cs typeface="Calibri"/>
                <a:sym typeface="Calibri"/>
              </a:endParaRPr>
            </a:p>
          </p:txBody>
        </p:sp>
      </p:grpSp>
      <p:sp>
        <p:nvSpPr>
          <p:cNvPr id="220" name="Google Shape;220;p3"/>
          <p:cNvSpPr/>
          <p:nvPr/>
        </p:nvSpPr>
        <p:spPr>
          <a:xfrm>
            <a:off x="9599930" y="6131560"/>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21" name="Google Shape;221;p3"/>
          <p:cNvSpPr/>
          <p:nvPr/>
        </p:nvSpPr>
        <p:spPr>
          <a:xfrm>
            <a:off x="8771553" y="631405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22" name="Google Shape;222;p3"/>
          <p:cNvGrpSpPr/>
          <p:nvPr/>
        </p:nvGrpSpPr>
        <p:grpSpPr>
          <a:xfrm>
            <a:off x="10058331" y="6515029"/>
            <a:ext cx="6985635" cy="589133"/>
            <a:chOff x="-167640" y="-77893"/>
            <a:chExt cx="9314179" cy="785510"/>
          </a:xfrm>
        </p:grpSpPr>
        <p:sp>
          <p:nvSpPr>
            <p:cNvPr id="223" name="Google Shape;223;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24" name="Google Shape;224;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Conditional statements</a:t>
              </a:r>
              <a:endParaRPr b="1" sz="3125">
                <a:solidFill>
                  <a:srgbClr val="FFFFFF"/>
                </a:solidFill>
                <a:latin typeface="Calibri"/>
                <a:ea typeface="Calibri"/>
                <a:cs typeface="Calibri"/>
                <a:sym typeface="Calibri"/>
              </a:endParaRPr>
            </a:p>
          </p:txBody>
        </p:sp>
      </p:grpSp>
      <p:grpSp>
        <p:nvGrpSpPr>
          <p:cNvPr id="225" name="Google Shape;225;p3"/>
          <p:cNvGrpSpPr/>
          <p:nvPr/>
        </p:nvGrpSpPr>
        <p:grpSpPr>
          <a:xfrm>
            <a:off x="8881032" y="6362747"/>
            <a:ext cx="906750" cy="857913"/>
            <a:chOff x="0" y="-95250"/>
            <a:chExt cx="1209000" cy="1143883"/>
          </a:xfrm>
        </p:grpSpPr>
        <p:sp>
          <p:nvSpPr>
            <p:cNvPr id="226" name="Google Shape;226;p3"/>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27" name="Google Shape;227;p3"/>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4</a:t>
              </a:r>
              <a:endParaRPr sz="4605">
                <a:solidFill>
                  <a:srgbClr val="000000"/>
                </a:solidFill>
                <a:latin typeface="Calibri"/>
                <a:ea typeface="Calibri"/>
                <a:cs typeface="Calibri"/>
                <a:sym typeface="Calibri"/>
              </a:endParaRPr>
            </a:p>
          </p:txBody>
        </p:sp>
      </p:grpSp>
      <p:sp>
        <p:nvSpPr>
          <p:cNvPr id="228" name="Google Shape;228;p3"/>
          <p:cNvSpPr/>
          <p:nvPr/>
        </p:nvSpPr>
        <p:spPr>
          <a:xfrm>
            <a:off x="9525000" y="7734300"/>
            <a:ext cx="7919720" cy="1013460"/>
          </a:xfrm>
          <a:custGeom>
            <a:rect b="b" l="l" r="r" t="t"/>
            <a:pathLst>
              <a:path extrusionOk="0" h="1013566" w="6044243">
                <a:moveTo>
                  <a:pt x="0" y="0"/>
                </a:moveTo>
                <a:lnTo>
                  <a:pt x="6044243" y="0"/>
                </a:lnTo>
                <a:lnTo>
                  <a:pt x="6044243" y="1013566"/>
                </a:lnTo>
                <a:lnTo>
                  <a:pt x="0" y="1013566"/>
                </a:lnTo>
                <a:lnTo>
                  <a:pt x="0" y="0"/>
                </a:lnTo>
                <a:close/>
              </a:path>
            </a:pathLst>
          </a:custGeom>
          <a:blipFill rotWithShape="1">
            <a:blip r:embed="rId5">
              <a:alphaModFix/>
            </a:blip>
            <a:stretch>
              <a:fillRect b="0" l="0" r="0" t="0"/>
            </a:stretch>
          </a:blipFill>
          <a:ln>
            <a:noFill/>
          </a:ln>
        </p:spPr>
      </p:sp>
      <p:sp>
        <p:nvSpPr>
          <p:cNvPr id="229" name="Google Shape;229;p3"/>
          <p:cNvSpPr/>
          <p:nvPr/>
        </p:nvSpPr>
        <p:spPr>
          <a:xfrm>
            <a:off x="8881408" y="7916791"/>
            <a:ext cx="1124438" cy="1124438"/>
          </a:xfrm>
          <a:custGeom>
            <a:rect b="b" l="l" r="r" t="t"/>
            <a:pathLst>
              <a:path extrusionOk="0" h="1124438" w="1124438">
                <a:moveTo>
                  <a:pt x="0" y="0"/>
                </a:moveTo>
                <a:lnTo>
                  <a:pt x="1124438" y="0"/>
                </a:lnTo>
                <a:lnTo>
                  <a:pt x="1124438" y="1124438"/>
                </a:lnTo>
                <a:lnTo>
                  <a:pt x="0" y="1124438"/>
                </a:lnTo>
                <a:lnTo>
                  <a:pt x="0" y="0"/>
                </a:lnTo>
                <a:close/>
              </a:path>
            </a:pathLst>
          </a:custGeom>
          <a:blipFill rotWithShape="1">
            <a:blip r:embed="rId6">
              <a:alphaModFix/>
            </a:blip>
            <a:stretch>
              <a:fillRect b="0" l="0" r="0" t="0"/>
            </a:stretch>
          </a:blipFill>
          <a:ln>
            <a:noFill/>
          </a:ln>
        </p:spPr>
      </p:sp>
      <p:grpSp>
        <p:nvGrpSpPr>
          <p:cNvPr id="230" name="Google Shape;230;p3"/>
          <p:cNvGrpSpPr/>
          <p:nvPr/>
        </p:nvGrpSpPr>
        <p:grpSpPr>
          <a:xfrm>
            <a:off x="10134531" y="8117769"/>
            <a:ext cx="6985635" cy="589133"/>
            <a:chOff x="-167640" y="-77893"/>
            <a:chExt cx="9314179" cy="785510"/>
          </a:xfrm>
        </p:grpSpPr>
        <p:sp>
          <p:nvSpPr>
            <p:cNvPr id="231" name="Google Shape;231;p3"/>
            <p:cNvSpPr/>
            <p:nvPr/>
          </p:nvSpPr>
          <p:spPr>
            <a:xfrm>
              <a:off x="0" y="0"/>
              <a:ext cx="6184521" cy="707617"/>
            </a:xfrm>
            <a:custGeom>
              <a:rect b="b" l="l" r="r" t="t"/>
              <a:pathLst>
                <a:path extrusionOk="0" h="707617" w="6184521">
                  <a:moveTo>
                    <a:pt x="0" y="0"/>
                  </a:moveTo>
                  <a:lnTo>
                    <a:pt x="6184521" y="0"/>
                  </a:lnTo>
                  <a:lnTo>
                    <a:pt x="6184521" y="707617"/>
                  </a:lnTo>
                  <a:lnTo>
                    <a:pt x="0" y="707617"/>
                  </a:lnTo>
                  <a:close/>
                </a:path>
              </a:pathLst>
            </a:custGeom>
            <a:solidFill>
              <a:srgbClr val="000000">
                <a:alpha val="0"/>
              </a:srgbClr>
            </a:solidFill>
            <a:ln>
              <a:noFill/>
            </a:ln>
          </p:spPr>
        </p:sp>
        <p:sp>
          <p:nvSpPr>
            <p:cNvPr id="232" name="Google Shape;232;p3"/>
            <p:cNvSpPr txBox="1"/>
            <p:nvPr/>
          </p:nvSpPr>
          <p:spPr>
            <a:xfrm>
              <a:off x="-167640" y="-77893"/>
              <a:ext cx="9314179" cy="7645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lang="en-US" sz="3125">
                  <a:solidFill>
                    <a:srgbClr val="FFFFFF"/>
                  </a:solidFill>
                  <a:latin typeface="Calibri"/>
                  <a:ea typeface="Calibri"/>
                  <a:cs typeface="Calibri"/>
                  <a:sym typeface="Calibri"/>
                </a:rPr>
                <a:t>Loops: for, while, until</a:t>
              </a:r>
              <a:endParaRPr b="1" sz="3125">
                <a:solidFill>
                  <a:srgbClr val="FFFFFF"/>
                </a:solidFill>
                <a:latin typeface="Calibri"/>
                <a:ea typeface="Calibri"/>
                <a:cs typeface="Calibri"/>
                <a:sym typeface="Calibri"/>
              </a:endParaRPr>
            </a:p>
          </p:txBody>
        </p:sp>
      </p:grpSp>
      <p:grpSp>
        <p:nvGrpSpPr>
          <p:cNvPr id="233" name="Google Shape;233;p3"/>
          <p:cNvGrpSpPr/>
          <p:nvPr/>
        </p:nvGrpSpPr>
        <p:grpSpPr>
          <a:xfrm>
            <a:off x="8988982" y="7971837"/>
            <a:ext cx="906750" cy="857913"/>
            <a:chOff x="0" y="-95250"/>
            <a:chExt cx="1209000" cy="1143883"/>
          </a:xfrm>
        </p:grpSpPr>
        <p:sp>
          <p:nvSpPr>
            <p:cNvPr id="234" name="Google Shape;234;p3"/>
            <p:cNvSpPr/>
            <p:nvPr/>
          </p:nvSpPr>
          <p:spPr>
            <a:xfrm>
              <a:off x="0" y="0"/>
              <a:ext cx="1209000" cy="1048633"/>
            </a:xfrm>
            <a:custGeom>
              <a:rect b="b" l="l" r="r" t="t"/>
              <a:pathLst>
                <a:path extrusionOk="0" h="1048633" w="1209000">
                  <a:moveTo>
                    <a:pt x="0" y="0"/>
                  </a:moveTo>
                  <a:lnTo>
                    <a:pt x="1209000" y="0"/>
                  </a:lnTo>
                  <a:lnTo>
                    <a:pt x="1209000" y="1048633"/>
                  </a:lnTo>
                  <a:lnTo>
                    <a:pt x="0" y="1048633"/>
                  </a:lnTo>
                  <a:close/>
                </a:path>
              </a:pathLst>
            </a:custGeom>
            <a:solidFill>
              <a:srgbClr val="000000">
                <a:alpha val="0"/>
              </a:srgbClr>
            </a:solidFill>
            <a:ln>
              <a:noFill/>
            </a:ln>
          </p:spPr>
        </p:sp>
        <p:sp>
          <p:nvSpPr>
            <p:cNvPr id="235" name="Google Shape;235;p3"/>
            <p:cNvSpPr txBox="1"/>
            <p:nvPr/>
          </p:nvSpPr>
          <p:spPr>
            <a:xfrm>
              <a:off x="0" y="-95250"/>
              <a:ext cx="1209000" cy="1143883"/>
            </a:xfrm>
            <a:prstGeom prst="rect">
              <a:avLst/>
            </a:prstGeom>
            <a:noFill/>
            <a:ln>
              <a:noFill/>
            </a:ln>
          </p:spPr>
          <p:txBody>
            <a:bodyPr anchorCtr="0" anchor="t" bIns="0" lIns="0" spcFirstLastPara="1" rIns="0" wrap="square" tIns="0">
              <a:noAutofit/>
            </a:bodyPr>
            <a:lstStyle/>
            <a:p>
              <a:pPr indent="0" lvl="0" marL="0" marR="0" rtl="0" algn="ctr">
                <a:lnSpc>
                  <a:spcPct val="139956"/>
                </a:lnSpc>
                <a:spcBef>
                  <a:spcPts val="0"/>
                </a:spcBef>
                <a:spcAft>
                  <a:spcPts val="0"/>
                </a:spcAft>
                <a:buNone/>
              </a:pPr>
              <a:r>
                <a:rPr lang="en-US" sz="4605">
                  <a:solidFill>
                    <a:srgbClr val="000000"/>
                  </a:solidFill>
                  <a:latin typeface="Calibri"/>
                  <a:ea typeface="Calibri"/>
                  <a:cs typeface="Calibri"/>
                  <a:sym typeface="Calibri"/>
                </a:rPr>
                <a:t>5</a:t>
              </a:r>
              <a:endParaRPr sz="4605">
                <a:solidFill>
                  <a:srgbClr val="000000"/>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grpSp>
        <p:nvGrpSpPr>
          <p:cNvPr id="241" name="Google Shape;241;p4"/>
          <p:cNvGrpSpPr/>
          <p:nvPr/>
        </p:nvGrpSpPr>
        <p:grpSpPr>
          <a:xfrm>
            <a:off x="3047870" y="314201"/>
            <a:ext cx="12632950" cy="1284732"/>
            <a:chOff x="0" y="-38100"/>
            <a:chExt cx="16843933" cy="1712976"/>
          </a:xfrm>
        </p:grpSpPr>
        <p:sp>
          <p:nvSpPr>
            <p:cNvPr id="242" name="Google Shape;242;p4"/>
            <p:cNvSpPr/>
            <p:nvPr/>
          </p:nvSpPr>
          <p:spPr>
            <a:xfrm>
              <a:off x="0" y="0"/>
              <a:ext cx="16843933" cy="1674876"/>
            </a:xfrm>
            <a:custGeom>
              <a:rect b="b" l="l" r="r" t="t"/>
              <a:pathLst>
                <a:path extrusionOk="0" h="1674876" w="16843933">
                  <a:moveTo>
                    <a:pt x="0" y="0"/>
                  </a:moveTo>
                  <a:lnTo>
                    <a:pt x="16843933" y="0"/>
                  </a:lnTo>
                  <a:lnTo>
                    <a:pt x="16843933" y="1674876"/>
                  </a:lnTo>
                  <a:lnTo>
                    <a:pt x="0" y="1674876"/>
                  </a:lnTo>
                  <a:close/>
                </a:path>
              </a:pathLst>
            </a:custGeom>
            <a:solidFill>
              <a:srgbClr val="000000">
                <a:alpha val="0"/>
              </a:srgbClr>
            </a:solidFill>
            <a:ln>
              <a:noFill/>
            </a:ln>
          </p:spPr>
        </p:sp>
        <p:sp>
          <p:nvSpPr>
            <p:cNvPr id="243" name="Google Shape;243;p4"/>
            <p:cNvSpPr txBox="1"/>
            <p:nvPr/>
          </p:nvSpPr>
          <p:spPr>
            <a:xfrm>
              <a:off x="0" y="-38100"/>
              <a:ext cx="16843933" cy="1712976"/>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What is Shell Scripting ?</a:t>
              </a:r>
              <a:endParaRPr b="1" sz="8000">
                <a:solidFill>
                  <a:schemeClr val="dk1"/>
                </a:solidFill>
                <a:latin typeface="Calibri"/>
                <a:ea typeface="Calibri"/>
                <a:cs typeface="Calibri"/>
                <a:sym typeface="Calibri"/>
              </a:endParaRPr>
            </a:p>
            <a:p>
              <a:pPr indent="0" lvl="0" marL="0" marR="0" rtl="0" algn="ctr">
                <a:lnSpc>
                  <a:spcPct val="124812"/>
                </a:lnSpc>
                <a:spcBef>
                  <a:spcPts val="0"/>
                </a:spcBef>
                <a:spcAft>
                  <a:spcPts val="0"/>
                </a:spcAft>
                <a:buNone/>
              </a:pPr>
              <a:r>
                <a:t/>
              </a:r>
              <a:endParaRPr b="1" sz="8000">
                <a:solidFill>
                  <a:srgbClr val="C1FF72"/>
                </a:solidFill>
                <a:latin typeface="Calibri"/>
                <a:ea typeface="Calibri"/>
                <a:cs typeface="Calibri"/>
                <a:sym typeface="Calibri"/>
              </a:endParaRPr>
            </a:p>
          </p:txBody>
        </p:sp>
      </p:grpSp>
      <p:sp>
        <p:nvSpPr>
          <p:cNvPr id="244" name="Google Shape;244;p4"/>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45" name="Google Shape;245;p4"/>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46" name="Google Shape;246;p4"/>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47" name="Google Shape;247;p4"/>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4"/>
          <p:cNvSpPr/>
          <p:nvPr/>
        </p:nvSpPr>
        <p:spPr>
          <a:xfrm>
            <a:off x="1183216" y="2578483"/>
            <a:ext cx="15921568" cy="7415767"/>
          </a:xfrm>
          <a:custGeom>
            <a:rect b="b" l="l" r="r" t="t"/>
            <a:pathLst>
              <a:path extrusionOk="0" h="7415767" w="15921568">
                <a:moveTo>
                  <a:pt x="0" y="0"/>
                </a:moveTo>
                <a:lnTo>
                  <a:pt x="15921567" y="0"/>
                </a:lnTo>
                <a:lnTo>
                  <a:pt x="15921567" y="7415766"/>
                </a:lnTo>
                <a:lnTo>
                  <a:pt x="0" y="7415766"/>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9" name="Google Shape;249;p4"/>
          <p:cNvGrpSpPr/>
          <p:nvPr/>
        </p:nvGrpSpPr>
        <p:grpSpPr>
          <a:xfrm>
            <a:off x="1644965" y="3084680"/>
            <a:ext cx="14998071" cy="6441281"/>
            <a:chOff x="0" y="-66675"/>
            <a:chExt cx="19997428" cy="8588375"/>
          </a:xfrm>
        </p:grpSpPr>
        <p:sp>
          <p:nvSpPr>
            <p:cNvPr id="250" name="Google Shape;250;p4"/>
            <p:cNvSpPr/>
            <p:nvPr/>
          </p:nvSpPr>
          <p:spPr>
            <a:xfrm>
              <a:off x="0" y="0"/>
              <a:ext cx="19997427" cy="8521700"/>
            </a:xfrm>
            <a:custGeom>
              <a:rect b="b" l="l" r="r" t="t"/>
              <a:pathLst>
                <a:path extrusionOk="0" h="8521700" w="19997427">
                  <a:moveTo>
                    <a:pt x="0" y="0"/>
                  </a:moveTo>
                  <a:lnTo>
                    <a:pt x="19997427" y="0"/>
                  </a:lnTo>
                  <a:lnTo>
                    <a:pt x="19997427" y="8521700"/>
                  </a:lnTo>
                  <a:lnTo>
                    <a:pt x="0" y="8521700"/>
                  </a:lnTo>
                  <a:close/>
                </a:path>
              </a:pathLst>
            </a:custGeom>
            <a:solidFill>
              <a:srgbClr val="000000">
                <a:alpha val="0"/>
              </a:srgbClr>
            </a:solidFill>
            <a:ln>
              <a:noFill/>
            </a:ln>
          </p:spPr>
        </p:sp>
        <p:sp>
          <p:nvSpPr>
            <p:cNvPr id="251" name="Google Shape;251;p4"/>
            <p:cNvSpPr txBox="1"/>
            <p:nvPr/>
          </p:nvSpPr>
          <p:spPr>
            <a:xfrm>
              <a:off x="0" y="-66675"/>
              <a:ext cx="19997428" cy="858837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chemeClr val="dk1"/>
                  </a:solidFill>
                  <a:latin typeface="Calibri"/>
                  <a:ea typeface="Calibri"/>
                  <a:cs typeface="Calibri"/>
                  <a:sym typeface="Calibri"/>
                </a:rPr>
                <a:t>Shell scripting </a:t>
              </a:r>
              <a:r>
                <a:rPr b="1" lang="en-US" sz="3000">
                  <a:solidFill>
                    <a:srgbClr val="FFFFFF"/>
                  </a:solidFill>
                  <a:latin typeface="Calibri"/>
                  <a:ea typeface="Calibri"/>
                  <a:cs typeface="Calibri"/>
                  <a:sym typeface="Calibri"/>
                </a:rPr>
                <a:t>is a method of automating tasks in Unix-like operating systems by writing a </a:t>
              </a:r>
              <a:r>
                <a:rPr b="1" lang="en-US" sz="3000">
                  <a:solidFill>
                    <a:schemeClr val="dk1"/>
                  </a:solidFill>
                  <a:latin typeface="Calibri"/>
                  <a:ea typeface="Calibri"/>
                  <a:cs typeface="Calibri"/>
                  <a:sym typeface="Calibri"/>
                </a:rPr>
                <a:t>series of commands</a:t>
              </a:r>
              <a:r>
                <a:rPr b="1" lang="en-US" sz="3000">
                  <a:solidFill>
                    <a:srgbClr val="FFFFFF"/>
                  </a:solidFill>
                  <a:latin typeface="Calibri"/>
                  <a:ea typeface="Calibri"/>
                  <a:cs typeface="Calibri"/>
                  <a:sym typeface="Calibri"/>
                </a:rPr>
                <a:t> that the </a:t>
              </a:r>
              <a:r>
                <a:rPr b="1" lang="en-US" sz="3000">
                  <a:solidFill>
                    <a:schemeClr val="dk1"/>
                  </a:solidFill>
                  <a:latin typeface="Calibri"/>
                  <a:ea typeface="Calibri"/>
                  <a:cs typeface="Calibri"/>
                  <a:sym typeface="Calibri"/>
                </a:rPr>
                <a:t>shell interpreter</a:t>
              </a:r>
              <a:r>
                <a:rPr b="1" lang="en-US" sz="3000">
                  <a:solidFill>
                    <a:srgbClr val="FFFFFF"/>
                  </a:solidFill>
                  <a:latin typeface="Calibri"/>
                  <a:ea typeface="Calibri"/>
                  <a:cs typeface="Calibri"/>
                  <a:sym typeface="Calibri"/>
                </a:rPr>
                <a:t> executes sequentially. It is widely used for system administration, file manipulation, text processing, and application automation, making workflows more efficient and reducing manual effort. A typical shell script begins with a </a:t>
              </a:r>
              <a:r>
                <a:rPr b="1" lang="en-US" sz="3000">
                  <a:solidFill>
                    <a:schemeClr val="dk1"/>
                  </a:solidFill>
                  <a:latin typeface="Calibri"/>
                  <a:ea typeface="Calibri"/>
                  <a:cs typeface="Calibri"/>
                  <a:sym typeface="Calibri"/>
                </a:rPr>
                <a:t>shebang (#!)</a:t>
              </a:r>
              <a:r>
                <a:rPr b="1" lang="en-US" sz="3000">
                  <a:solidFill>
                    <a:srgbClr val="FFFFFF"/>
                  </a:solidFill>
                  <a:latin typeface="Calibri"/>
                  <a:ea typeface="Calibri"/>
                  <a:cs typeface="Calibri"/>
                  <a:sym typeface="Calibri"/>
                </a:rPr>
                <a:t> to specify the interpreter, followed by commands that perform various operations, such as defining </a:t>
              </a:r>
              <a:r>
                <a:rPr b="1" lang="en-US" sz="3000">
                  <a:solidFill>
                    <a:schemeClr val="dk1"/>
                  </a:solidFill>
                  <a:latin typeface="Calibri"/>
                  <a:ea typeface="Calibri"/>
                  <a:cs typeface="Calibri"/>
                  <a:sym typeface="Calibri"/>
                </a:rPr>
                <a:t>variables</a:t>
              </a:r>
              <a:r>
                <a:rPr b="1" lang="en-US" sz="3000">
                  <a:solidFill>
                    <a:srgbClr val="FFFFFF"/>
                  </a:solidFill>
                  <a:latin typeface="Calibri"/>
                  <a:ea typeface="Calibri"/>
                  <a:cs typeface="Calibri"/>
                  <a:sym typeface="Calibri"/>
                </a:rPr>
                <a:t>, </a:t>
              </a:r>
              <a:r>
                <a:rPr b="1" lang="en-US" sz="3000">
                  <a:solidFill>
                    <a:schemeClr val="dk1"/>
                  </a:solidFill>
                  <a:latin typeface="Calibri"/>
                  <a:ea typeface="Calibri"/>
                  <a:cs typeface="Calibri"/>
                  <a:sym typeface="Calibri"/>
                </a:rPr>
                <a:t>executing loops</a:t>
              </a:r>
              <a:r>
                <a:rPr b="1" lang="en-US" sz="3000">
                  <a:solidFill>
                    <a:srgbClr val="FFFFFF"/>
                  </a:solidFill>
                  <a:latin typeface="Calibri"/>
                  <a:ea typeface="Calibri"/>
                  <a:cs typeface="Calibri"/>
                  <a:sym typeface="Calibri"/>
                </a:rPr>
                <a:t>, </a:t>
              </a:r>
              <a:r>
                <a:rPr b="1" lang="en-US" sz="3000">
                  <a:solidFill>
                    <a:schemeClr val="dk1"/>
                  </a:solidFill>
                  <a:latin typeface="Calibri"/>
                  <a:ea typeface="Calibri"/>
                  <a:cs typeface="Calibri"/>
                  <a:sym typeface="Calibri"/>
                </a:rPr>
                <a:t>handling conditionals</a:t>
              </a:r>
              <a:r>
                <a:rPr b="1" lang="en-US" sz="3000">
                  <a:solidFill>
                    <a:srgbClr val="FFFFFF"/>
                  </a:solidFill>
                  <a:latin typeface="Calibri"/>
                  <a:ea typeface="Calibri"/>
                  <a:cs typeface="Calibri"/>
                  <a:sym typeface="Calibri"/>
                </a:rPr>
                <a:t>, and</a:t>
              </a:r>
              <a:r>
                <a:rPr b="1" lang="en-US" sz="3000">
                  <a:solidFill>
                    <a:schemeClr val="dk1"/>
                  </a:solidFill>
                  <a:latin typeface="Calibri"/>
                  <a:ea typeface="Calibri"/>
                  <a:cs typeface="Calibri"/>
                  <a:sym typeface="Calibri"/>
                </a:rPr>
                <a:t> processing user input</a:t>
              </a:r>
              <a:r>
                <a:rPr b="1" lang="en-US" sz="3000">
                  <a:solidFill>
                    <a:srgbClr val="FFFFFF"/>
                  </a:solidFill>
                  <a:latin typeface="Calibri"/>
                  <a:ea typeface="Calibri"/>
                  <a:cs typeface="Calibri"/>
                  <a:sym typeface="Calibri"/>
                </a:rPr>
                <a:t>. Shell scripting also enables piping and redirection, error handling, </a:t>
              </a:r>
              <a:r>
                <a:rPr b="1" lang="en-US" sz="3000">
                  <a:solidFill>
                    <a:schemeClr val="dk1"/>
                  </a:solidFill>
                  <a:latin typeface="Calibri"/>
                  <a:ea typeface="Calibri"/>
                  <a:cs typeface="Calibri"/>
                  <a:sym typeface="Calibri"/>
                </a:rPr>
                <a:t>scheduled execution</a:t>
              </a:r>
              <a:r>
                <a:rPr b="1" lang="en-US" sz="3000">
                  <a:solidFill>
                    <a:srgbClr val="FFFFFF"/>
                  </a:solidFill>
                  <a:latin typeface="Calibri"/>
                  <a:ea typeface="Calibri"/>
                  <a:cs typeface="Calibri"/>
                  <a:sym typeface="Calibri"/>
                </a:rPr>
                <a:t> using cron jobs, and modular coding through functions, enhancing its flexibility and usability. Different shells interpreter, such as </a:t>
              </a:r>
              <a:r>
                <a:rPr b="1" lang="en-US" sz="3000">
                  <a:solidFill>
                    <a:schemeClr val="dk1"/>
                  </a:solidFill>
                  <a:latin typeface="Calibri"/>
                  <a:ea typeface="Calibri"/>
                  <a:cs typeface="Calibri"/>
                  <a:sym typeface="Calibri"/>
                </a:rPr>
                <a:t>Bash</a:t>
              </a:r>
              <a:r>
                <a:rPr b="1" lang="en-US" sz="3000">
                  <a:solidFill>
                    <a:srgbClr val="FFFFFF"/>
                  </a:solidFill>
                  <a:latin typeface="Calibri"/>
                  <a:ea typeface="Calibri"/>
                  <a:cs typeface="Calibri"/>
                  <a:sym typeface="Calibri"/>
                </a:rPr>
                <a:t>, </a:t>
              </a:r>
              <a:r>
                <a:rPr b="1" lang="en-US" sz="3000">
                  <a:solidFill>
                    <a:schemeClr val="dk1"/>
                  </a:solidFill>
                  <a:latin typeface="Calibri"/>
                  <a:ea typeface="Calibri"/>
                  <a:cs typeface="Calibri"/>
                  <a:sym typeface="Calibri"/>
                </a:rPr>
                <a:t>Bourne Shell</a:t>
              </a:r>
              <a:r>
                <a:rPr b="1" lang="en-US" sz="3000">
                  <a:solidFill>
                    <a:srgbClr val="FFFFFF"/>
                  </a:solidFill>
                  <a:latin typeface="Calibri"/>
                  <a:ea typeface="Calibri"/>
                  <a:cs typeface="Calibri"/>
                  <a:sym typeface="Calibri"/>
                </a:rPr>
                <a:t>, </a:t>
              </a:r>
              <a:r>
                <a:rPr b="1" lang="en-US" sz="3000">
                  <a:solidFill>
                    <a:schemeClr val="dk1"/>
                  </a:solidFill>
                  <a:latin typeface="Calibri"/>
                  <a:ea typeface="Calibri"/>
                  <a:cs typeface="Calibri"/>
                  <a:sym typeface="Calibri"/>
                </a:rPr>
                <a:t>C Shell</a:t>
              </a:r>
              <a:r>
                <a:rPr b="1" lang="en-US" sz="3000">
                  <a:solidFill>
                    <a:srgbClr val="FFFFFF"/>
                  </a:solidFill>
                  <a:latin typeface="Calibri"/>
                  <a:ea typeface="Calibri"/>
                  <a:cs typeface="Calibri"/>
                  <a:sym typeface="Calibri"/>
                </a:rPr>
                <a:t>, and </a:t>
              </a:r>
              <a:r>
                <a:rPr b="1" lang="en-US" sz="3000">
                  <a:solidFill>
                    <a:schemeClr val="dk1"/>
                  </a:solidFill>
                  <a:latin typeface="Calibri"/>
                  <a:ea typeface="Calibri"/>
                  <a:cs typeface="Calibri"/>
                  <a:sym typeface="Calibri"/>
                </a:rPr>
                <a:t>Korn Shell</a:t>
              </a:r>
              <a:r>
                <a:rPr b="1" lang="en-US" sz="3000">
                  <a:solidFill>
                    <a:srgbClr val="FFFFFF"/>
                  </a:solidFill>
                  <a:latin typeface="Calibri"/>
                  <a:ea typeface="Calibri"/>
                  <a:cs typeface="Calibri"/>
                  <a:sym typeface="Calibri"/>
                </a:rPr>
                <a:t>, provide distinct scripting features, making it adaptable to diverse computing environments. Its simplicity, portability, and efficiency make it an essential tool for developers, system administrators, and DevOps engineers, significantly streamlining automation and improving system performance</a:t>
              </a:r>
              <a:endParaRPr b="1" sz="3000">
                <a:solidFill>
                  <a:srgbClr val="FFFFFF"/>
                </a:solidFill>
                <a:latin typeface="Calibri"/>
                <a:ea typeface="Calibri"/>
                <a:cs typeface="Calibri"/>
                <a:sym typeface="Calibri"/>
              </a:endParaRPr>
            </a:p>
            <a:p>
              <a:pPr indent="0" lvl="0" marL="0" marR="0" rtl="0" algn="just">
                <a:lnSpc>
                  <a:spcPct val="140000"/>
                </a:lnSpc>
                <a:spcBef>
                  <a:spcPts val="0"/>
                </a:spcBef>
                <a:spcAft>
                  <a:spcPts val="0"/>
                </a:spcAft>
                <a:buNone/>
              </a:pPr>
              <a:r>
                <a:t/>
              </a:r>
              <a:endParaRPr b="1" sz="3000">
                <a:solidFill>
                  <a:srgbClr val="FFFFFF"/>
                </a:solidFill>
                <a:latin typeface="Calibri"/>
                <a:ea typeface="Calibri"/>
                <a:cs typeface="Calibri"/>
                <a:sym typeface="Calibri"/>
              </a:endParaRPr>
            </a:p>
          </p:txBody>
        </p:sp>
      </p:grpSp>
      <p:sp>
        <p:nvSpPr>
          <p:cNvPr id="252" name="Google Shape;252;p4"/>
          <p:cNvSpPr/>
          <p:nvPr/>
        </p:nvSpPr>
        <p:spPr>
          <a:xfrm>
            <a:off x="16002112" y="2665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253" name="Google Shape;253;p4"/>
          <p:cNvSpPr/>
          <p:nvPr/>
        </p:nvSpPr>
        <p:spPr>
          <a:xfrm>
            <a:off x="152401" y="876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5"/>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259" name="Google Shape;259;p5"/>
          <p:cNvSpPr txBox="1"/>
          <p:nvPr/>
        </p:nvSpPr>
        <p:spPr>
          <a:xfrm>
            <a:off x="2667000" y="294005"/>
            <a:ext cx="13038455" cy="850265"/>
          </a:xfrm>
          <a:prstGeom prst="rect">
            <a:avLst/>
          </a:prstGeom>
          <a:noFill/>
          <a:ln>
            <a:noFill/>
          </a:ln>
        </p:spPr>
        <p:txBody>
          <a:bodyPr anchorCtr="0" anchor="t" bIns="0" lIns="0" spcFirstLastPara="1" rIns="0" wrap="square" tIns="0">
            <a:noAutofit/>
          </a:bodyPr>
          <a:lstStyle/>
          <a:p>
            <a:pPr indent="0" lvl="0" marL="0" marR="0" rtl="0" algn="ctr">
              <a:lnSpc>
                <a:spcPct val="124812"/>
              </a:lnSpc>
              <a:spcBef>
                <a:spcPts val="0"/>
              </a:spcBef>
              <a:spcAft>
                <a:spcPts val="0"/>
              </a:spcAft>
              <a:buNone/>
            </a:pPr>
            <a:r>
              <a:rPr b="1" lang="en-US" sz="8000">
                <a:solidFill>
                  <a:srgbClr val="C1FF72"/>
                </a:solidFill>
                <a:latin typeface="Calibri"/>
                <a:ea typeface="Calibri"/>
                <a:cs typeface="Calibri"/>
                <a:sym typeface="Calibri"/>
              </a:rPr>
              <a:t>What is Shell Interpreter ? </a:t>
            </a:r>
            <a:endParaRPr b="1" sz="8000">
              <a:solidFill>
                <a:srgbClr val="C1FF72"/>
              </a:solidFill>
              <a:latin typeface="Calibri"/>
              <a:ea typeface="Calibri"/>
              <a:cs typeface="Calibri"/>
              <a:sym typeface="Calibri"/>
            </a:endParaRPr>
          </a:p>
        </p:txBody>
      </p:sp>
      <p:sp>
        <p:nvSpPr>
          <p:cNvPr id="260" name="Google Shape;260;p5"/>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61" name="Google Shape;261;p5"/>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62" name="Google Shape;262;p5"/>
          <p:cNvSpPr/>
          <p:nvPr/>
        </p:nvSpPr>
        <p:spPr>
          <a:xfrm>
            <a:off x="16611712" y="97650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5"/>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64" name="Google Shape;264;p5"/>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265" name="Google Shape;265;p5"/>
          <p:cNvSpPr/>
          <p:nvPr/>
        </p:nvSpPr>
        <p:spPr>
          <a:xfrm>
            <a:off x="8519160" y="2007870"/>
            <a:ext cx="9447530" cy="7819390"/>
          </a:xfrm>
          <a:custGeom>
            <a:rect b="b" l="l" r="r" t="t"/>
            <a:pathLst>
              <a:path extrusionOk="0" h="7415767" w="15921568">
                <a:moveTo>
                  <a:pt x="0" y="0"/>
                </a:moveTo>
                <a:lnTo>
                  <a:pt x="15921567" y="0"/>
                </a:lnTo>
                <a:lnTo>
                  <a:pt x="15921567" y="7415766"/>
                </a:lnTo>
                <a:lnTo>
                  <a:pt x="0" y="7415766"/>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5"/>
          <p:cNvSpPr txBox="1"/>
          <p:nvPr/>
        </p:nvSpPr>
        <p:spPr>
          <a:xfrm>
            <a:off x="8945245" y="2572385"/>
            <a:ext cx="8775700" cy="7338695"/>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None/>
            </a:pPr>
            <a:r>
              <a:rPr b="1" lang="en-US" sz="3000">
                <a:solidFill>
                  <a:schemeClr val="dk1"/>
                </a:solidFill>
                <a:latin typeface="IBM Plex Sans"/>
                <a:ea typeface="IBM Plex Sans"/>
                <a:cs typeface="IBM Plex Sans"/>
                <a:sym typeface="IBM Plex Sans"/>
              </a:rPr>
              <a:t>A shell </a:t>
            </a:r>
            <a:r>
              <a:rPr b="1" lang="en-US" sz="3000">
                <a:solidFill>
                  <a:srgbClr val="FFFFFF"/>
                </a:solidFill>
                <a:latin typeface="IBM Plex Sans"/>
                <a:ea typeface="IBM Plex Sans"/>
                <a:cs typeface="IBM Plex Sans"/>
                <a:sym typeface="IBM Plex Sans"/>
              </a:rPr>
              <a:t>is a</a:t>
            </a:r>
            <a:r>
              <a:rPr b="1" lang="en-US" sz="3000">
                <a:solidFill>
                  <a:schemeClr val="dk1"/>
                </a:solidFill>
                <a:latin typeface="IBM Plex Sans"/>
                <a:ea typeface="IBM Plex Sans"/>
                <a:cs typeface="IBM Plex Sans"/>
                <a:sym typeface="IBM Plex Sans"/>
              </a:rPr>
              <a:t> command-line interface </a:t>
            </a:r>
            <a:r>
              <a:rPr b="1" lang="en-US" sz="3000">
                <a:solidFill>
                  <a:srgbClr val="FFFFFF"/>
                </a:solidFill>
                <a:latin typeface="IBM Plex Sans"/>
                <a:ea typeface="IBM Plex Sans"/>
                <a:cs typeface="IBM Plex Sans"/>
                <a:sym typeface="IBM Plex Sans"/>
              </a:rPr>
              <a:t>that enables users to interact with the operating system by executing commands, managing files, and controlling processes. It acts as an intermediary between the user and the system’s kernel, </a:t>
            </a:r>
            <a:r>
              <a:rPr b="1" lang="en-US" sz="3000">
                <a:solidFill>
                  <a:schemeClr val="dk1"/>
                </a:solidFill>
                <a:latin typeface="IBM Plex Sans"/>
                <a:ea typeface="IBM Plex Sans"/>
                <a:cs typeface="IBM Plex Sans"/>
                <a:sym typeface="IBM Plex Sans"/>
              </a:rPr>
              <a:t>interpreting commands </a:t>
            </a:r>
            <a:r>
              <a:rPr b="1" lang="en-US" sz="3000">
                <a:solidFill>
                  <a:srgbClr val="FFFFFF"/>
                </a:solidFill>
                <a:latin typeface="IBM Plex Sans"/>
                <a:ea typeface="IBM Plex Sans"/>
                <a:cs typeface="IBM Plex Sans"/>
                <a:sym typeface="IBM Plex Sans"/>
              </a:rPr>
              <a:t>and </a:t>
            </a:r>
            <a:r>
              <a:rPr b="1" lang="en-US" sz="3000">
                <a:solidFill>
                  <a:schemeClr val="dk1"/>
                </a:solidFill>
                <a:latin typeface="IBM Plex Sans"/>
                <a:ea typeface="IBM Plex Sans"/>
                <a:cs typeface="IBM Plex Sans"/>
                <a:sym typeface="IBM Plex Sans"/>
              </a:rPr>
              <a:t>executing </a:t>
            </a:r>
            <a:r>
              <a:rPr b="1" lang="en-US" sz="3000">
                <a:solidFill>
                  <a:srgbClr val="FFFFFF"/>
                </a:solidFill>
                <a:latin typeface="IBM Plex Sans"/>
                <a:ea typeface="IBM Plex Sans"/>
                <a:cs typeface="IBM Plex Sans"/>
                <a:sym typeface="IBM Plex Sans"/>
              </a:rPr>
              <a:t>them accordingly. </a:t>
            </a:r>
            <a:endParaRPr b="1" sz="3000">
              <a:solidFill>
                <a:srgbClr val="FFFFFF"/>
              </a:solidFill>
              <a:latin typeface="IBM Plex Sans"/>
              <a:ea typeface="IBM Plex Sans"/>
              <a:cs typeface="IBM Plex Sans"/>
              <a:sym typeface="IBM Plex Sans"/>
            </a:endParaRPr>
          </a:p>
          <a:p>
            <a:pPr indent="0" lvl="0" marL="0" marR="0" rtl="0" algn="just">
              <a:lnSpc>
                <a:spcPct val="140000"/>
              </a:lnSpc>
              <a:spcBef>
                <a:spcPts val="0"/>
              </a:spcBef>
              <a:spcAft>
                <a:spcPts val="0"/>
              </a:spcAft>
              <a:buNone/>
            </a:pPr>
            <a:r>
              <a:t/>
            </a:r>
            <a:endParaRPr b="1" sz="3000">
              <a:solidFill>
                <a:srgbClr val="FFFFFF"/>
              </a:solidFill>
              <a:latin typeface="IBM Plex Sans"/>
              <a:ea typeface="IBM Plex Sans"/>
              <a:cs typeface="IBM Plex Sans"/>
              <a:sym typeface="IBM Plex Sans"/>
            </a:endParaRPr>
          </a:p>
          <a:p>
            <a:pPr indent="0" lvl="0" marL="0" marR="0" rtl="0" algn="just">
              <a:lnSpc>
                <a:spcPct val="140000"/>
              </a:lnSpc>
              <a:spcBef>
                <a:spcPts val="400"/>
              </a:spcBef>
              <a:spcAft>
                <a:spcPts val="0"/>
              </a:spcAft>
              <a:buClr>
                <a:srgbClr val="FFFFFF"/>
              </a:buClr>
              <a:buSzPts val="3000"/>
              <a:buFont typeface="IBM Plex Sans"/>
              <a:buNone/>
            </a:pPr>
            <a:r>
              <a:rPr b="1" lang="en-US" sz="3000">
                <a:solidFill>
                  <a:srgbClr val="FFFFFF"/>
                </a:solidFill>
                <a:latin typeface="IBM Plex Sans"/>
                <a:ea typeface="IBM Plex Sans"/>
                <a:cs typeface="IBM Plex Sans"/>
                <a:sym typeface="IBM Plex Sans"/>
              </a:rPr>
              <a:t>Shell Choices</a:t>
            </a:r>
            <a:endParaRPr b="1" sz="3000">
              <a:solidFill>
                <a:srgbClr val="FFFFFF"/>
              </a:solidFill>
              <a:latin typeface="IBM Plex Sans"/>
              <a:ea typeface="IBM Plex Sans"/>
              <a:cs typeface="IBM Plex Sans"/>
              <a:sym typeface="IBM Plex Sans"/>
            </a:endParaRPr>
          </a:p>
          <a:p>
            <a:pPr indent="0" lvl="0" marL="0" marR="0" rtl="0" algn="just">
              <a:lnSpc>
                <a:spcPct val="140000"/>
              </a:lnSpc>
              <a:spcBef>
                <a:spcPts val="1000"/>
              </a:spcBef>
              <a:spcAft>
                <a:spcPts val="0"/>
              </a:spcAft>
              <a:buClr>
                <a:srgbClr val="FFFFFF"/>
              </a:buClr>
              <a:buSzPts val="3000"/>
              <a:buFont typeface="IBM Plex Sans"/>
              <a:buNone/>
            </a:pPr>
            <a:r>
              <a:rPr b="1" lang="en-US" sz="3000">
                <a:solidFill>
                  <a:srgbClr val="FFFFFF"/>
                </a:solidFill>
                <a:latin typeface="IBM Plex Sans"/>
                <a:ea typeface="IBM Plex Sans"/>
                <a:cs typeface="IBM Plex Sans"/>
                <a:sym typeface="IBM Plex Sans"/>
              </a:rPr>
              <a:t>Linux provides a wide choice of shells; exactly what is available on the system is listed in </a:t>
            </a:r>
            <a:r>
              <a:rPr b="1" lang="en-US" sz="3000">
                <a:solidFill>
                  <a:schemeClr val="dk1"/>
                </a:solidFill>
                <a:latin typeface="IBM Plex Sans"/>
                <a:ea typeface="IBM Plex Sans"/>
                <a:cs typeface="IBM Plex Sans"/>
                <a:sym typeface="IBM Plex Sans"/>
              </a:rPr>
              <a:t>/etc/shells</a:t>
            </a:r>
            <a:r>
              <a:rPr b="1" lang="en-US" sz="3000">
                <a:solidFill>
                  <a:srgbClr val="FFFFFF"/>
                </a:solidFill>
                <a:latin typeface="IBM Plex Sans"/>
                <a:ea typeface="IBM Plex Sans"/>
                <a:cs typeface="IBM Plex Sans"/>
                <a:sym typeface="IBM Plex Sans"/>
              </a:rPr>
              <a:t>.</a:t>
            </a:r>
            <a:endParaRPr b="1" sz="3000">
              <a:solidFill>
                <a:srgbClr val="FFFFFF"/>
              </a:solidFill>
              <a:latin typeface="IBM Plex Sans"/>
              <a:ea typeface="IBM Plex Sans"/>
              <a:cs typeface="IBM Plex Sans"/>
              <a:sym typeface="IBM Plex Sans"/>
            </a:endParaRPr>
          </a:p>
          <a:p>
            <a:pPr indent="0" lvl="0" marL="0" marR="0" rtl="0" algn="just">
              <a:lnSpc>
                <a:spcPct val="140000"/>
              </a:lnSpc>
              <a:spcBef>
                <a:spcPts val="0"/>
              </a:spcBef>
              <a:spcAft>
                <a:spcPts val="0"/>
              </a:spcAft>
              <a:buNone/>
            </a:pPr>
            <a:r>
              <a:t/>
            </a:r>
            <a:endParaRPr b="1" sz="3000">
              <a:solidFill>
                <a:srgbClr val="FFFFFF"/>
              </a:solidFill>
              <a:latin typeface="IBM Plex Sans"/>
              <a:ea typeface="IBM Plex Sans"/>
              <a:cs typeface="IBM Plex Sans"/>
              <a:sym typeface="IBM Plex Sans"/>
            </a:endParaRPr>
          </a:p>
        </p:txBody>
      </p:sp>
      <p:sp>
        <p:nvSpPr>
          <p:cNvPr id="267" name="Google Shape;267;p5"/>
          <p:cNvSpPr/>
          <p:nvPr/>
        </p:nvSpPr>
        <p:spPr>
          <a:xfrm>
            <a:off x="228601" y="12573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pic>
        <p:nvPicPr>
          <p:cNvPr id="268" name="Google Shape;268;p5"/>
          <p:cNvPicPr preferRelativeResize="0"/>
          <p:nvPr/>
        </p:nvPicPr>
        <p:blipFill rotWithShape="1">
          <a:blip r:embed="rId5">
            <a:alphaModFix/>
          </a:blip>
          <a:srcRect b="10812" l="0" r="0" t="0"/>
          <a:stretch/>
        </p:blipFill>
        <p:spPr>
          <a:xfrm>
            <a:off x="609600" y="2640965"/>
            <a:ext cx="7298055" cy="655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274" name="Google Shape;274;p6"/>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75" name="Google Shape;275;p6"/>
          <p:cNvSpPr txBox="1"/>
          <p:nvPr/>
        </p:nvSpPr>
        <p:spPr>
          <a:xfrm>
            <a:off x="3429000" y="419100"/>
            <a:ext cx="11316335"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u="none" strike="noStrike">
                <a:solidFill>
                  <a:srgbClr val="C1FF72"/>
                </a:solidFill>
                <a:latin typeface="Calibri"/>
                <a:ea typeface="Calibri"/>
                <a:cs typeface="Calibri"/>
                <a:sym typeface="Calibri"/>
              </a:rPr>
              <a:t>Shell Interpreters</a:t>
            </a:r>
            <a:endParaRPr b="1" sz="8000" u="none" strike="noStrike">
              <a:solidFill>
                <a:srgbClr val="C1FF72"/>
              </a:solidFill>
              <a:latin typeface="Calibri"/>
              <a:ea typeface="Calibri"/>
              <a:cs typeface="Calibri"/>
              <a:sym typeface="Calibri"/>
            </a:endParaRPr>
          </a:p>
        </p:txBody>
      </p:sp>
      <p:sp>
        <p:nvSpPr>
          <p:cNvPr id="276" name="Google Shape;276;p6"/>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77" name="Google Shape;277;p6"/>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78" name="Google Shape;278;p6"/>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279" name="Google Shape;279;p6"/>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280" name="Google Shape;280;p6"/>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281" name="Google Shape;281;p6"/>
          <p:cNvSpPr txBox="1"/>
          <p:nvPr/>
        </p:nvSpPr>
        <p:spPr>
          <a:xfrm>
            <a:off x="762000" y="171577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1. Bourne Shell (sh)</a:t>
            </a:r>
            <a:endParaRPr b="1" sz="3000">
              <a:solidFill>
                <a:srgbClr val="C1FF72"/>
              </a:solidFill>
              <a:latin typeface="Calibri"/>
              <a:ea typeface="Calibri"/>
              <a:cs typeface="Calibri"/>
              <a:sym typeface="Calibri"/>
            </a:endParaRPr>
          </a:p>
        </p:txBody>
      </p:sp>
      <p:sp>
        <p:nvSpPr>
          <p:cNvPr id="282" name="Google Shape;282;p6"/>
          <p:cNvSpPr txBox="1"/>
          <p:nvPr/>
        </p:nvSpPr>
        <p:spPr>
          <a:xfrm>
            <a:off x="1102995" y="2325370"/>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One of the earliest Unix shells, known for its simplicity and efficiency.</a:t>
            </a:r>
            <a:endParaRPr b="1" sz="3000">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Lacks advanced interactive features but is widely used in scripting.</a:t>
            </a:r>
            <a:endParaRPr b="1" sz="3000">
              <a:solidFill>
                <a:srgbClr val="FFFFFF"/>
              </a:solidFill>
              <a:latin typeface="Calibri"/>
              <a:ea typeface="Calibri"/>
              <a:cs typeface="Calibri"/>
              <a:sym typeface="Calibri"/>
            </a:endParaRPr>
          </a:p>
        </p:txBody>
      </p:sp>
      <p:sp>
        <p:nvSpPr>
          <p:cNvPr id="283" name="Google Shape;283;p6"/>
          <p:cNvSpPr txBox="1"/>
          <p:nvPr/>
        </p:nvSpPr>
        <p:spPr>
          <a:xfrm>
            <a:off x="838200" y="362839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2. Bourne Again Shell (Bash)</a:t>
            </a:r>
            <a:endParaRPr b="1" sz="3000">
              <a:solidFill>
                <a:srgbClr val="C1FF72"/>
              </a:solidFill>
              <a:latin typeface="Calibri"/>
              <a:ea typeface="Calibri"/>
              <a:cs typeface="Calibri"/>
              <a:sym typeface="Calibri"/>
            </a:endParaRPr>
          </a:p>
        </p:txBody>
      </p:sp>
      <p:sp>
        <p:nvSpPr>
          <p:cNvPr id="284" name="Google Shape;284;p6"/>
          <p:cNvSpPr txBox="1"/>
          <p:nvPr/>
        </p:nvSpPr>
        <p:spPr>
          <a:xfrm>
            <a:off x="1179195" y="4271645"/>
            <a:ext cx="16149955" cy="1350010"/>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Bash </a:t>
            </a:r>
            <a:r>
              <a:rPr b="1" lang="en-US" sz="3000">
                <a:solidFill>
                  <a:srgbClr val="FFFFFF"/>
                </a:solidFill>
                <a:latin typeface="Calibri"/>
                <a:ea typeface="Calibri"/>
                <a:cs typeface="Calibri"/>
                <a:sym typeface="Calibri"/>
              </a:rPr>
              <a:t>(Bourne-Again SHell) is one of the most commonly used Unix/Linux shells and is </a:t>
            </a:r>
            <a:r>
              <a:rPr b="1" lang="en-US" sz="3000">
                <a:solidFill>
                  <a:schemeClr val="lt1"/>
                </a:solidFill>
                <a:latin typeface="Calibri"/>
                <a:ea typeface="Calibri"/>
                <a:cs typeface="Calibri"/>
                <a:sym typeface="Calibri"/>
              </a:rPr>
              <a:t>the default shell</a:t>
            </a:r>
            <a:r>
              <a:rPr b="1" lang="en-US" sz="3000">
                <a:solidFill>
                  <a:srgbClr val="FFFFFF"/>
                </a:solidFill>
                <a:latin typeface="Calibri"/>
                <a:ea typeface="Calibri"/>
                <a:cs typeface="Calibri"/>
                <a:sym typeface="Calibri"/>
              </a:rPr>
              <a:t> in many Linux distributions</a:t>
            </a:r>
            <a:endParaRPr b="1" sz="3000">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Supports command history, auto-completion, and improved debugging tools.</a:t>
            </a:r>
            <a:endParaRPr b="1" sz="3000">
              <a:solidFill>
                <a:srgbClr val="FFFFFF"/>
              </a:solidFill>
              <a:latin typeface="Calibri"/>
              <a:ea typeface="Calibri"/>
              <a:cs typeface="Calibri"/>
              <a:sym typeface="Calibri"/>
            </a:endParaRPr>
          </a:p>
        </p:txBody>
      </p:sp>
      <p:sp>
        <p:nvSpPr>
          <p:cNvPr id="285" name="Google Shape;285;p6"/>
          <p:cNvSpPr txBox="1"/>
          <p:nvPr/>
        </p:nvSpPr>
        <p:spPr>
          <a:xfrm>
            <a:off x="838200" y="59055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3. C Shell (csh)</a:t>
            </a:r>
            <a:endParaRPr b="1" sz="3000">
              <a:solidFill>
                <a:srgbClr val="C1FF72"/>
              </a:solidFill>
              <a:latin typeface="Calibri"/>
              <a:ea typeface="Calibri"/>
              <a:cs typeface="Calibri"/>
              <a:sym typeface="Calibri"/>
            </a:endParaRPr>
          </a:p>
        </p:txBody>
      </p:sp>
      <p:sp>
        <p:nvSpPr>
          <p:cNvPr id="286" name="Google Shape;286;p6"/>
          <p:cNvSpPr txBox="1"/>
          <p:nvPr/>
        </p:nvSpPr>
        <p:spPr>
          <a:xfrm>
            <a:off x="1143000" y="6489065"/>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Provides C-like syntax, making it easier for programmers familiar with C.</a:t>
            </a:r>
            <a:endParaRPr b="1" sz="3000">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Includes features like aliasing, job control, and command history.</a:t>
            </a:r>
            <a:endParaRPr b="1" sz="3000">
              <a:solidFill>
                <a:srgbClr val="FFFFFF"/>
              </a:solidFill>
              <a:latin typeface="Calibri"/>
              <a:ea typeface="Calibri"/>
              <a:cs typeface="Calibri"/>
              <a:sym typeface="Calibri"/>
            </a:endParaRPr>
          </a:p>
        </p:txBody>
      </p:sp>
      <p:sp>
        <p:nvSpPr>
          <p:cNvPr id="287" name="Google Shape;287;p6"/>
          <p:cNvSpPr txBox="1"/>
          <p:nvPr/>
        </p:nvSpPr>
        <p:spPr>
          <a:xfrm>
            <a:off x="914400" y="76581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4. RC Shell (rc)</a:t>
            </a:r>
            <a:endParaRPr b="1" sz="3000">
              <a:solidFill>
                <a:srgbClr val="C1FF72"/>
              </a:solidFill>
              <a:latin typeface="Calibri"/>
              <a:ea typeface="Calibri"/>
              <a:cs typeface="Calibri"/>
              <a:sym typeface="Calibri"/>
            </a:endParaRPr>
          </a:p>
        </p:txBody>
      </p:sp>
      <p:sp>
        <p:nvSpPr>
          <p:cNvPr id="288" name="Google Shape;288;p6"/>
          <p:cNvSpPr txBox="1"/>
          <p:nvPr/>
        </p:nvSpPr>
        <p:spPr>
          <a:xfrm>
            <a:off x="1255395" y="8301355"/>
            <a:ext cx="16149955" cy="1350010"/>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Rc shell eliminates unnecessary quoting, making scripting more intuitive and reducing errors.</a:t>
            </a:r>
            <a:endParaRPr b="1" sz="3000">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All variables are treated as lists of strings, simplifying data manipulation and eliminating complex parsing. </a:t>
            </a:r>
            <a:endParaRPr b="1" sz="3000">
              <a:solidFill>
                <a:srgbClr val="FFFFFF"/>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294" name="Google Shape;294;p7"/>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295" name="Google Shape;295;p7"/>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u="none" strike="noStrike">
                <a:solidFill>
                  <a:srgbClr val="C1FF72"/>
                </a:solidFill>
                <a:latin typeface="Calibri"/>
                <a:ea typeface="Calibri"/>
                <a:cs typeface="Calibri"/>
                <a:sym typeface="Calibri"/>
              </a:rPr>
              <a:t>Types of Shells</a:t>
            </a:r>
            <a:endParaRPr b="1" sz="8000" u="none" strike="noStrike">
              <a:solidFill>
                <a:srgbClr val="C1FF72"/>
              </a:solidFill>
              <a:latin typeface="Calibri"/>
              <a:ea typeface="Calibri"/>
              <a:cs typeface="Calibri"/>
              <a:sym typeface="Calibri"/>
            </a:endParaRPr>
          </a:p>
        </p:txBody>
      </p:sp>
      <p:sp>
        <p:nvSpPr>
          <p:cNvPr id="296" name="Google Shape;296;p7"/>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297" name="Google Shape;297;p7"/>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298" name="Google Shape;298;p7"/>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299" name="Google Shape;299;p7"/>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00" name="Google Shape;300;p7"/>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01" name="Google Shape;301;p7"/>
          <p:cNvSpPr txBox="1"/>
          <p:nvPr/>
        </p:nvSpPr>
        <p:spPr>
          <a:xfrm>
            <a:off x="762000" y="171577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5. Fish Shell (fish)</a:t>
            </a:r>
            <a:endParaRPr b="1" sz="3000">
              <a:solidFill>
                <a:srgbClr val="C1FF72"/>
              </a:solidFill>
              <a:latin typeface="Calibri"/>
              <a:ea typeface="Calibri"/>
              <a:cs typeface="Calibri"/>
              <a:sym typeface="Calibri"/>
            </a:endParaRPr>
          </a:p>
        </p:txBody>
      </p:sp>
      <p:sp>
        <p:nvSpPr>
          <p:cNvPr id="302" name="Google Shape;302;p7"/>
          <p:cNvSpPr txBox="1"/>
          <p:nvPr/>
        </p:nvSpPr>
        <p:spPr>
          <a:xfrm>
            <a:off x="1102995" y="2325370"/>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Commands are color-coded to indicate errors or valid syntax.</a:t>
            </a:r>
            <a:endParaRPr b="1" sz="3000">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Fish suggests commands based on history as you type.</a:t>
            </a:r>
            <a:endParaRPr b="1" sz="3000">
              <a:solidFill>
                <a:srgbClr val="FFFFFF"/>
              </a:solidFill>
              <a:latin typeface="Calibri"/>
              <a:ea typeface="Calibri"/>
              <a:cs typeface="Calibri"/>
              <a:sym typeface="Calibri"/>
            </a:endParaRPr>
          </a:p>
        </p:txBody>
      </p:sp>
      <p:sp>
        <p:nvSpPr>
          <p:cNvPr id="303" name="Google Shape;303;p7"/>
          <p:cNvSpPr txBox="1"/>
          <p:nvPr/>
        </p:nvSpPr>
        <p:spPr>
          <a:xfrm>
            <a:off x="838200" y="362839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6. TENEX C Shell (tcsh)</a:t>
            </a:r>
            <a:endParaRPr b="1" sz="3000">
              <a:solidFill>
                <a:srgbClr val="C1FF72"/>
              </a:solidFill>
              <a:latin typeface="Calibri"/>
              <a:ea typeface="Calibri"/>
              <a:cs typeface="Calibri"/>
              <a:sym typeface="Calibri"/>
            </a:endParaRPr>
          </a:p>
        </p:txBody>
      </p:sp>
      <p:sp>
        <p:nvSpPr>
          <p:cNvPr id="304" name="Google Shape;304;p7"/>
          <p:cNvSpPr txBox="1"/>
          <p:nvPr/>
        </p:nvSpPr>
        <p:spPr>
          <a:xfrm>
            <a:off x="1179195" y="4271645"/>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An enhanced version of C Shell with improved command-line editing.</a:t>
            </a:r>
            <a:endParaRPr b="1" sz="3000">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Provides better scripting capabilities and interactive features.</a:t>
            </a:r>
            <a:endParaRPr b="1" sz="3000">
              <a:solidFill>
                <a:srgbClr val="FFFFFF"/>
              </a:solidFill>
              <a:latin typeface="Calibri"/>
              <a:ea typeface="Calibri"/>
              <a:cs typeface="Calibri"/>
              <a:sym typeface="Calibri"/>
            </a:endParaRPr>
          </a:p>
        </p:txBody>
      </p:sp>
      <p:sp>
        <p:nvSpPr>
          <p:cNvPr id="305" name="Google Shape;305;p7"/>
          <p:cNvSpPr txBox="1"/>
          <p:nvPr/>
        </p:nvSpPr>
        <p:spPr>
          <a:xfrm>
            <a:off x="914400" y="765810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8. Korn Shell (ksh)</a:t>
            </a:r>
            <a:endParaRPr b="1" sz="3000">
              <a:solidFill>
                <a:srgbClr val="C1FF72"/>
              </a:solidFill>
              <a:latin typeface="Calibri"/>
              <a:ea typeface="Calibri"/>
              <a:cs typeface="Calibri"/>
              <a:sym typeface="Calibri"/>
            </a:endParaRPr>
          </a:p>
        </p:txBody>
      </p:sp>
      <p:sp>
        <p:nvSpPr>
          <p:cNvPr id="306" name="Google Shape;306;p7"/>
          <p:cNvSpPr txBox="1"/>
          <p:nvPr/>
        </p:nvSpPr>
        <p:spPr>
          <a:xfrm>
            <a:off x="1255395" y="8301355"/>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Combines features of Bourne and C shells, offering better scripting capabilities.</a:t>
            </a:r>
            <a:endParaRPr b="1" sz="3000">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Supports associative arrays, floating-point arithmetic, and improved performance.</a:t>
            </a:r>
            <a:endParaRPr b="1" sz="3000">
              <a:solidFill>
                <a:srgbClr val="FFFFFF"/>
              </a:solidFill>
              <a:latin typeface="Calibri"/>
              <a:ea typeface="Calibri"/>
              <a:cs typeface="Calibri"/>
              <a:sym typeface="Calibri"/>
            </a:endParaRPr>
          </a:p>
        </p:txBody>
      </p:sp>
      <p:sp>
        <p:nvSpPr>
          <p:cNvPr id="307" name="Google Shape;307;p7"/>
          <p:cNvSpPr txBox="1"/>
          <p:nvPr/>
        </p:nvSpPr>
        <p:spPr>
          <a:xfrm>
            <a:off x="802005" y="5703570"/>
            <a:ext cx="6955155" cy="51117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7. Z Shell (zsh)</a:t>
            </a:r>
            <a:endParaRPr b="1" sz="3000">
              <a:solidFill>
                <a:srgbClr val="C1FF72"/>
              </a:solidFill>
              <a:latin typeface="Calibri"/>
              <a:ea typeface="Calibri"/>
              <a:cs typeface="Calibri"/>
              <a:sym typeface="Calibri"/>
            </a:endParaRPr>
          </a:p>
        </p:txBody>
      </p:sp>
      <p:sp>
        <p:nvSpPr>
          <p:cNvPr id="308" name="Google Shape;308;p7"/>
          <p:cNvSpPr txBox="1"/>
          <p:nvPr/>
        </p:nvSpPr>
        <p:spPr>
          <a:xfrm>
            <a:off x="1143000" y="6313170"/>
            <a:ext cx="16149955" cy="899795"/>
          </a:xfrm>
          <a:prstGeom prst="rect">
            <a:avLst/>
          </a:prstGeom>
          <a:noFill/>
          <a:ln>
            <a:noFill/>
          </a:ln>
        </p:spPr>
        <p:txBody>
          <a:bodyPr anchorCtr="0" anchor="t" bIns="0" lIns="0" spcFirstLastPara="1" rIns="0" wrap="square" tIns="0">
            <a:spAutoFit/>
          </a:bodyPr>
          <a:lstStyle/>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An extended shell with advanced customization options.</a:t>
            </a:r>
            <a:endParaRPr b="1" sz="3000">
              <a:solidFill>
                <a:srgbClr val="FFFFFF"/>
              </a:solidFill>
              <a:latin typeface="Calibri"/>
              <a:ea typeface="Calibri"/>
              <a:cs typeface="Calibri"/>
              <a:sym typeface="Calibri"/>
            </a:endParaRPr>
          </a:p>
          <a:p>
            <a:pPr indent="-457200" lvl="0" marL="457200" marR="0" rtl="0" algn="just">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Offers powerful auto-completion, spelling correction, and improved scripting features.</a:t>
            </a:r>
            <a:endParaRPr b="1" sz="3000">
              <a:solidFill>
                <a:srgbClr val="FFFFF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314" name="Google Shape;314;p8"/>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15" name="Google Shape;315;p8"/>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u="none" strike="noStrike">
                <a:solidFill>
                  <a:srgbClr val="C1FF72"/>
                </a:solidFill>
                <a:latin typeface="Calibri"/>
                <a:ea typeface="Calibri"/>
                <a:cs typeface="Calibri"/>
                <a:sym typeface="Calibri"/>
              </a:rPr>
              <a:t>Basic Shell Commands</a:t>
            </a:r>
            <a:endParaRPr b="1" sz="8000" u="none" strike="noStrike">
              <a:solidFill>
                <a:srgbClr val="C1FF72"/>
              </a:solidFill>
              <a:latin typeface="Calibri"/>
              <a:ea typeface="Calibri"/>
              <a:cs typeface="Calibri"/>
              <a:sym typeface="Calibri"/>
            </a:endParaRPr>
          </a:p>
        </p:txBody>
      </p:sp>
      <p:sp>
        <p:nvSpPr>
          <p:cNvPr id="316" name="Google Shape;316;p8"/>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17" name="Google Shape;317;p8"/>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18" name="Google Shape;318;p8"/>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19" name="Google Shape;319;p8"/>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20" name="Google Shape;320;p8"/>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21" name="Google Shape;321;p8"/>
          <p:cNvSpPr txBox="1"/>
          <p:nvPr/>
        </p:nvSpPr>
        <p:spPr>
          <a:xfrm>
            <a:off x="762000" y="1715770"/>
            <a:ext cx="6955155" cy="818705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1. echo – Prints text to the terminal</a:t>
            </a:r>
            <a:endParaRPr b="1" sz="3000">
              <a:solidFill>
                <a:srgbClr val="C1FF72"/>
              </a:solidFill>
              <a:latin typeface="Calibri"/>
              <a:ea typeface="Calibri"/>
              <a:cs typeface="Calibri"/>
              <a:sym typeface="Calibri"/>
            </a:endParaRPr>
          </a:p>
          <a:p>
            <a:pPr indent="0" lvl="0" marL="0" marR="0" rtl="0" algn="l">
              <a:lnSpc>
                <a:spcPct val="133000"/>
              </a:lnSpc>
              <a:spcBef>
                <a:spcPts val="0"/>
              </a:spcBef>
              <a:spcAft>
                <a:spcPts val="0"/>
              </a:spcAft>
              <a:buNone/>
            </a:pPr>
            <a:r>
              <a:rPr b="1" lang="en-US" sz="3000">
                <a:solidFill>
                  <a:srgbClr val="FFFFFF"/>
                </a:solidFill>
                <a:latin typeface="Calibri"/>
                <a:ea typeface="Calibri"/>
                <a:cs typeface="Calibri"/>
                <a:sym typeface="Calibri"/>
              </a:rPr>
              <a:t>Example : </a:t>
            </a:r>
            <a:r>
              <a:rPr b="1" lang="en-US" sz="3000">
                <a:solidFill>
                  <a:srgbClr val="E5B8B7"/>
                </a:solidFill>
                <a:latin typeface="Calibri"/>
                <a:ea typeface="Calibri"/>
                <a:cs typeface="Calibri"/>
                <a:sym typeface="Calibri"/>
              </a:rPr>
              <a:t>echo "Hello, World!"</a:t>
            </a:r>
            <a:endParaRPr b="1" sz="3000">
              <a:solidFill>
                <a:srgbClr val="E5B8B7"/>
              </a:solidFill>
              <a:latin typeface="Calibri"/>
              <a:ea typeface="Calibri"/>
              <a:cs typeface="Calibri"/>
              <a:sym typeface="Calibri"/>
            </a:endParaRPr>
          </a:p>
          <a:p>
            <a:pPr indent="16510" lvl="0" marL="0" marR="0" rtl="0" algn="l">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2. pwd – Displays the current working directory</a:t>
            </a:r>
            <a:endParaRPr b="1" sz="3000">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None/>
            </a:pPr>
            <a:r>
              <a:rPr b="1" lang="en-US" sz="3000">
                <a:solidFill>
                  <a:srgbClr val="FFFFFF"/>
                </a:solidFill>
                <a:latin typeface="Calibri"/>
                <a:ea typeface="Calibri"/>
                <a:cs typeface="Calibri"/>
                <a:sym typeface="Calibri"/>
              </a:rPr>
              <a:t>Example : </a:t>
            </a:r>
            <a:r>
              <a:rPr b="1" lang="en-US" sz="3000">
                <a:solidFill>
                  <a:srgbClr val="E5B8B7"/>
                </a:solidFill>
                <a:latin typeface="Calibri"/>
                <a:ea typeface="Calibri"/>
                <a:cs typeface="Calibri"/>
                <a:sym typeface="Calibri"/>
              </a:rPr>
              <a:t>pwd</a:t>
            </a:r>
            <a:endParaRPr b="1" sz="3000">
              <a:solidFill>
                <a:srgbClr val="E5B8B7"/>
              </a:solidFill>
              <a:latin typeface="Calibri"/>
              <a:ea typeface="Calibri"/>
              <a:cs typeface="Calibri"/>
              <a:sym typeface="Calibri"/>
            </a:endParaRPr>
          </a:p>
          <a:p>
            <a:pPr indent="16509" lvl="1" marL="45720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3. ls – Lists files in a directory</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ls -l</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4. cd – Changes the current directory</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cd /path/to/directory</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5. touch – Creates an empty fil</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a:t>
            </a:r>
            <a:r>
              <a:rPr b="1" i="0" lang="en-US" sz="3000" u="none" cap="none" strike="noStrike">
                <a:solidFill>
                  <a:srgbClr val="E5B8B7"/>
                </a:solidFill>
                <a:latin typeface="Calibri"/>
                <a:ea typeface="Calibri"/>
                <a:cs typeface="Calibri"/>
                <a:sym typeface="Calibri"/>
              </a:rPr>
              <a:t> touch myfile.txt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p:txBody>
      </p:sp>
      <p:pic>
        <p:nvPicPr>
          <p:cNvPr id="322" name="Google Shape;322;p8"/>
          <p:cNvPicPr preferRelativeResize="0"/>
          <p:nvPr/>
        </p:nvPicPr>
        <p:blipFill rotWithShape="1">
          <a:blip r:embed="rId5">
            <a:alphaModFix/>
          </a:blip>
          <a:srcRect b="0" l="0" r="0" t="0"/>
          <a:stretch/>
        </p:blipFill>
        <p:spPr>
          <a:xfrm>
            <a:off x="7010400" y="2247900"/>
            <a:ext cx="10988675" cy="588899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328" name="Google Shape;328;p9"/>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29" name="Google Shape;329;p9"/>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u="none" strike="noStrike">
                <a:solidFill>
                  <a:srgbClr val="C1FF72"/>
                </a:solidFill>
                <a:latin typeface="Calibri"/>
                <a:ea typeface="Calibri"/>
                <a:cs typeface="Calibri"/>
                <a:sym typeface="Calibri"/>
              </a:rPr>
              <a:t>Basic Shell Commands</a:t>
            </a:r>
            <a:endParaRPr b="1" sz="8000" u="none" strike="noStrike">
              <a:solidFill>
                <a:srgbClr val="C1FF72"/>
              </a:solidFill>
              <a:latin typeface="Calibri"/>
              <a:ea typeface="Calibri"/>
              <a:cs typeface="Calibri"/>
              <a:sym typeface="Calibri"/>
            </a:endParaRPr>
          </a:p>
        </p:txBody>
      </p:sp>
      <p:sp>
        <p:nvSpPr>
          <p:cNvPr id="330" name="Google Shape;330;p9"/>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31" name="Google Shape;331;p9"/>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32" name="Google Shape;332;p9"/>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33" name="Google Shape;333;p9"/>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34" name="Google Shape;334;p9"/>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35" name="Google Shape;335;p9"/>
          <p:cNvSpPr txBox="1"/>
          <p:nvPr/>
        </p:nvSpPr>
        <p:spPr>
          <a:xfrm>
            <a:off x="762000" y="1715770"/>
            <a:ext cx="6955155" cy="767524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6. mkdir – Creates a new directory</a:t>
            </a:r>
            <a:endParaRPr b="1" sz="3000">
              <a:solidFill>
                <a:srgbClr val="C1FF72"/>
              </a:solidFill>
              <a:latin typeface="Calibri"/>
              <a:ea typeface="Calibri"/>
              <a:cs typeface="Calibri"/>
              <a:sym typeface="Calibri"/>
            </a:endParaRPr>
          </a:p>
          <a:p>
            <a:pPr indent="0" lvl="0" marL="0" marR="0" rtl="0" algn="l">
              <a:lnSpc>
                <a:spcPct val="133000"/>
              </a:lnSpc>
              <a:spcBef>
                <a:spcPts val="0"/>
              </a:spcBef>
              <a:spcAft>
                <a:spcPts val="0"/>
              </a:spcAft>
              <a:buNone/>
            </a:pPr>
            <a:r>
              <a:rPr b="1" lang="en-US" sz="3000">
                <a:solidFill>
                  <a:srgbClr val="FFFFFF"/>
                </a:solidFill>
                <a:latin typeface="Calibri"/>
                <a:ea typeface="Calibri"/>
                <a:cs typeface="Calibri"/>
                <a:sym typeface="Calibri"/>
              </a:rPr>
              <a:t>Example : </a:t>
            </a:r>
            <a:r>
              <a:rPr b="1" lang="en-US" sz="3000">
                <a:solidFill>
                  <a:srgbClr val="E5B8B7"/>
                </a:solidFill>
                <a:latin typeface="Calibri"/>
                <a:ea typeface="Calibri"/>
                <a:cs typeface="Calibri"/>
                <a:sym typeface="Calibri"/>
              </a:rPr>
              <a:t>mkdir mydirectory</a:t>
            </a:r>
            <a:endParaRPr b="1" sz="3000">
              <a:solidFill>
                <a:srgbClr val="E5B8B7"/>
              </a:solidFill>
              <a:latin typeface="Calibri"/>
              <a:ea typeface="Calibri"/>
              <a:cs typeface="Calibri"/>
              <a:sym typeface="Calibri"/>
            </a:endParaRPr>
          </a:p>
          <a:p>
            <a:pPr indent="16510" lvl="0" marL="0" marR="0" rtl="0" algn="l">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7. rm – Removes file</a:t>
            </a:r>
            <a:endParaRPr b="1" sz="3000">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None/>
            </a:pPr>
            <a:r>
              <a:rPr b="1" lang="en-US" sz="3000">
                <a:solidFill>
                  <a:srgbClr val="FFFFFF"/>
                </a:solidFill>
                <a:latin typeface="Calibri"/>
                <a:ea typeface="Calibri"/>
                <a:cs typeface="Calibri"/>
                <a:sym typeface="Calibri"/>
              </a:rPr>
              <a:t>Example : </a:t>
            </a:r>
            <a:r>
              <a:rPr b="1" lang="en-US" sz="3000">
                <a:solidFill>
                  <a:srgbClr val="E5B8B7"/>
                </a:solidFill>
                <a:latin typeface="Calibri"/>
                <a:ea typeface="Calibri"/>
                <a:cs typeface="Calibri"/>
                <a:sym typeface="Calibri"/>
              </a:rPr>
              <a:t>rm myfile.txt</a:t>
            </a:r>
            <a:endParaRPr b="1" sz="3000">
              <a:solidFill>
                <a:srgbClr val="E5B8B7"/>
              </a:solidFill>
              <a:latin typeface="Calibri"/>
              <a:ea typeface="Calibri"/>
              <a:cs typeface="Calibri"/>
              <a:sym typeface="Calibri"/>
            </a:endParaRPr>
          </a:p>
          <a:p>
            <a:pPr indent="16509" lvl="1" marL="45720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8. chmod – Changes file permission</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chmod 755 script.sh</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9. grep – Searches for patterns in a fil</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grep "error" logfile.txt</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10. sed – Stream editor for modifying text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a:t>
            </a:r>
            <a:r>
              <a:rPr b="1" i="0" lang="en-US" sz="3000" u="none" cap="none" strike="noStrike">
                <a:solidFill>
                  <a:srgbClr val="E5B8B7"/>
                </a:solidFill>
                <a:latin typeface="Calibri"/>
                <a:ea typeface="Calibri"/>
                <a:cs typeface="Calibri"/>
                <a:sym typeface="Calibri"/>
              </a:rPr>
              <a:t> sed 's/oldtext/newtext/g' file.txt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p:txBody>
      </p:sp>
      <p:pic>
        <p:nvPicPr>
          <p:cNvPr id="336" name="Google Shape;336;p9"/>
          <p:cNvPicPr preferRelativeResize="0"/>
          <p:nvPr/>
        </p:nvPicPr>
        <p:blipFill rotWithShape="1">
          <a:blip r:embed="rId5">
            <a:alphaModFix/>
          </a:blip>
          <a:srcRect b="0" l="0" r="0" t="0"/>
          <a:stretch/>
        </p:blipFill>
        <p:spPr>
          <a:xfrm>
            <a:off x="9067800" y="1257300"/>
            <a:ext cx="7195185" cy="6198870"/>
          </a:xfrm>
          <a:prstGeom prst="rect">
            <a:avLst/>
          </a:prstGeom>
          <a:noFill/>
          <a:ln>
            <a:noFill/>
          </a:ln>
        </p:spPr>
      </p:pic>
      <p:pic>
        <p:nvPicPr>
          <p:cNvPr id="337" name="Google Shape;337;p9"/>
          <p:cNvPicPr preferRelativeResize="0"/>
          <p:nvPr/>
        </p:nvPicPr>
        <p:blipFill rotWithShape="1">
          <a:blip r:embed="rId6">
            <a:alphaModFix/>
          </a:blip>
          <a:srcRect b="0" l="0" r="0" t="0"/>
          <a:stretch/>
        </p:blipFill>
        <p:spPr>
          <a:xfrm>
            <a:off x="9067800" y="7429500"/>
            <a:ext cx="7154545" cy="22739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g372f5717983_0_1"/>
          <p:cNvPicPr preferRelativeResize="0"/>
          <p:nvPr/>
        </p:nvPicPr>
        <p:blipFill>
          <a:blip r:embed="rId3">
            <a:alphaModFix/>
          </a:blip>
          <a:stretch>
            <a:fillRect/>
          </a:stretch>
        </p:blipFill>
        <p:spPr>
          <a:xfrm>
            <a:off x="152400" y="1151525"/>
            <a:ext cx="17552299" cy="8720925"/>
          </a:xfrm>
          <a:prstGeom prst="rect">
            <a:avLst/>
          </a:prstGeom>
          <a:noFill/>
          <a:ln>
            <a:noFill/>
          </a:ln>
        </p:spPr>
      </p:pic>
      <p:sp>
        <p:nvSpPr>
          <p:cNvPr id="344" name="Google Shape;344;g372f5717983_0_1"/>
          <p:cNvSpPr txBox="1"/>
          <p:nvPr/>
        </p:nvSpPr>
        <p:spPr>
          <a:xfrm>
            <a:off x="875175" y="322425"/>
            <a:ext cx="8106900" cy="82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sed commands</a:t>
            </a:r>
            <a:endParaRPr sz="3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350" name="Google Shape;350;p10"/>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51" name="Google Shape;351;p10"/>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u="none" strike="noStrike">
                <a:solidFill>
                  <a:srgbClr val="C1FF72"/>
                </a:solidFill>
                <a:latin typeface="Calibri"/>
                <a:ea typeface="Calibri"/>
                <a:cs typeface="Calibri"/>
                <a:sym typeface="Calibri"/>
              </a:rPr>
              <a:t>Basic Shell Commands</a:t>
            </a:r>
            <a:endParaRPr b="1" sz="8000" u="none" strike="noStrike">
              <a:solidFill>
                <a:srgbClr val="C1FF72"/>
              </a:solidFill>
              <a:latin typeface="Calibri"/>
              <a:ea typeface="Calibri"/>
              <a:cs typeface="Calibri"/>
              <a:sym typeface="Calibri"/>
            </a:endParaRPr>
          </a:p>
        </p:txBody>
      </p:sp>
      <p:sp>
        <p:nvSpPr>
          <p:cNvPr id="352" name="Google Shape;352;p10"/>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53" name="Google Shape;353;p10"/>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54" name="Google Shape;354;p10"/>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55" name="Google Shape;355;p10"/>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56" name="Google Shape;356;p10"/>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57" name="Google Shape;357;p10"/>
          <p:cNvSpPr txBox="1"/>
          <p:nvPr/>
        </p:nvSpPr>
        <p:spPr>
          <a:xfrm>
            <a:off x="762000" y="1715770"/>
            <a:ext cx="7760970" cy="818705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11. read – Takes user input</a:t>
            </a:r>
            <a:endParaRPr b="1" sz="3000">
              <a:solidFill>
                <a:srgbClr val="C1FF72"/>
              </a:solidFill>
              <a:latin typeface="Calibri"/>
              <a:ea typeface="Calibri"/>
              <a:cs typeface="Calibri"/>
              <a:sym typeface="Calibri"/>
            </a:endParaRPr>
          </a:p>
          <a:p>
            <a:pPr indent="0" lvl="0" marL="0" marR="0" rtl="0" algn="l">
              <a:lnSpc>
                <a:spcPct val="133000"/>
              </a:lnSpc>
              <a:spcBef>
                <a:spcPts val="0"/>
              </a:spcBef>
              <a:spcAft>
                <a:spcPts val="0"/>
              </a:spcAft>
              <a:buNone/>
            </a:pPr>
            <a:r>
              <a:rPr b="1" lang="en-US" sz="3000">
                <a:solidFill>
                  <a:srgbClr val="FFFFFF"/>
                </a:solidFill>
                <a:latin typeface="Calibri"/>
                <a:ea typeface="Calibri"/>
                <a:cs typeface="Calibri"/>
                <a:sym typeface="Calibri"/>
              </a:rPr>
              <a:t>Example : </a:t>
            </a:r>
            <a:r>
              <a:rPr b="1" lang="en-US" sz="3000">
                <a:solidFill>
                  <a:srgbClr val="E5B8B7"/>
                </a:solidFill>
                <a:latin typeface="Calibri"/>
                <a:ea typeface="Calibri"/>
                <a:cs typeface="Calibri"/>
                <a:sym typeface="Calibri"/>
              </a:rPr>
              <a:t>echo "Enter your name:"</a:t>
            </a:r>
            <a:endParaRPr b="1" sz="3000">
              <a:solidFill>
                <a:srgbClr val="E5B8B7"/>
              </a:solidFill>
              <a:latin typeface="Calibri"/>
              <a:ea typeface="Calibri"/>
              <a:cs typeface="Calibri"/>
              <a:sym typeface="Calibri"/>
            </a:endParaRPr>
          </a:p>
          <a:p>
            <a:pPr indent="457200" lvl="2" marL="914400" marR="0" rtl="0" algn="l">
              <a:lnSpc>
                <a:spcPct val="133000"/>
              </a:lnSpc>
              <a:spcBef>
                <a:spcPts val="0"/>
              </a:spcBef>
              <a:spcAft>
                <a:spcPts val="0"/>
              </a:spcAft>
              <a:buNone/>
            </a:pPr>
            <a:r>
              <a:rPr b="1" i="0" lang="en-US" sz="3000" u="none" cap="none" strike="noStrike">
                <a:solidFill>
                  <a:srgbClr val="E5B8B7"/>
                </a:solidFill>
                <a:latin typeface="Calibri"/>
                <a:ea typeface="Calibri"/>
                <a:cs typeface="Calibri"/>
                <a:sym typeface="Calibri"/>
              </a:rPr>
              <a:t>   read name</a:t>
            </a:r>
            <a:endParaRPr b="1" i="0" sz="3000" u="none" cap="none" strike="noStrike">
              <a:solidFill>
                <a:srgbClr val="E5B8B7"/>
              </a:solidFill>
              <a:latin typeface="Calibri"/>
              <a:ea typeface="Calibri"/>
              <a:cs typeface="Calibri"/>
              <a:sym typeface="Calibri"/>
            </a:endParaRPr>
          </a:p>
          <a:p>
            <a:pPr indent="457200" lvl="2" marL="914400" marR="0" rtl="0" algn="l">
              <a:lnSpc>
                <a:spcPct val="133000"/>
              </a:lnSpc>
              <a:spcBef>
                <a:spcPts val="0"/>
              </a:spcBef>
              <a:spcAft>
                <a:spcPts val="0"/>
              </a:spcAft>
              <a:buNone/>
            </a:pPr>
            <a:r>
              <a:rPr b="1" i="0" lang="en-US" sz="3000" u="none" cap="none" strike="noStrike">
                <a:solidFill>
                  <a:srgbClr val="E5B8B7"/>
                </a:solidFill>
                <a:latin typeface="Calibri"/>
                <a:ea typeface="Calibri"/>
                <a:cs typeface="Calibri"/>
                <a:sym typeface="Calibri"/>
              </a:rPr>
              <a:t>   echo "Hello, $name!"</a:t>
            </a:r>
            <a:endParaRPr b="1" i="0" sz="3000" u="none" cap="none" strike="noStrike">
              <a:solidFill>
                <a:srgbClr val="E5B8B7"/>
              </a:solidFill>
              <a:latin typeface="Calibri"/>
              <a:ea typeface="Calibri"/>
              <a:cs typeface="Calibri"/>
              <a:sym typeface="Calibri"/>
            </a:endParaRPr>
          </a:p>
          <a:p>
            <a:pPr indent="16510" lvl="0" marL="0" marR="0" rtl="0" algn="l">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12. expr – Performs arithmetic operations</a:t>
            </a:r>
            <a:endParaRPr b="1" sz="3000">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None/>
            </a:pPr>
            <a:r>
              <a:rPr b="1" lang="en-US" sz="3000">
                <a:solidFill>
                  <a:srgbClr val="FFFFFF"/>
                </a:solidFill>
                <a:latin typeface="Calibri"/>
                <a:ea typeface="Calibri"/>
                <a:cs typeface="Calibri"/>
                <a:sym typeface="Calibri"/>
              </a:rPr>
              <a:t>Example : </a:t>
            </a:r>
            <a:r>
              <a:rPr b="1" lang="en-US" sz="3000">
                <a:solidFill>
                  <a:srgbClr val="E5B8B7"/>
                </a:solidFill>
                <a:latin typeface="Calibri"/>
                <a:ea typeface="Calibri"/>
                <a:cs typeface="Calibri"/>
                <a:sym typeface="Calibri"/>
              </a:rPr>
              <a:t>expr 5 + 3</a:t>
            </a:r>
            <a:endParaRPr b="1" sz="3000">
              <a:solidFill>
                <a:srgbClr val="E5B8B7"/>
              </a:solidFill>
              <a:latin typeface="Calibri"/>
              <a:ea typeface="Calibri"/>
              <a:cs typeface="Calibri"/>
              <a:sym typeface="Calibri"/>
            </a:endParaRPr>
          </a:p>
          <a:p>
            <a:pPr indent="16509" lvl="1" marL="45720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13. let – Performs arithmetic calculations inside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a script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let result=5*3</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E5B8B7"/>
                </a:solidFill>
                <a:latin typeface="Calibri"/>
                <a:ea typeface="Calibri"/>
                <a:cs typeface="Calibri"/>
                <a:sym typeface="Calibri"/>
              </a:rPr>
              <a:t>                   echo $result</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14. find – Searches for file</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find /home -name "*.txt"</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p:txBody>
      </p:sp>
      <p:pic>
        <p:nvPicPr>
          <p:cNvPr id="358" name="Google Shape;358;p10"/>
          <p:cNvPicPr preferRelativeResize="0"/>
          <p:nvPr/>
        </p:nvPicPr>
        <p:blipFill rotWithShape="1">
          <a:blip r:embed="rId5">
            <a:alphaModFix/>
          </a:blip>
          <a:srcRect b="0" l="0" r="0" t="0"/>
          <a:stretch/>
        </p:blipFill>
        <p:spPr>
          <a:xfrm>
            <a:off x="9610090" y="1485900"/>
            <a:ext cx="7759065" cy="800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364" name="Google Shape;364;p11"/>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65" name="Google Shape;365;p11"/>
          <p:cNvSpPr txBox="1"/>
          <p:nvPr/>
        </p:nvSpPr>
        <p:spPr>
          <a:xfrm>
            <a:off x="3886205" y="381646"/>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u="none" strike="noStrike">
                <a:solidFill>
                  <a:srgbClr val="C1FF72"/>
                </a:solidFill>
                <a:latin typeface="Calibri"/>
                <a:ea typeface="Calibri"/>
                <a:cs typeface="Calibri"/>
                <a:sym typeface="Calibri"/>
              </a:rPr>
              <a:t>Basic Shell Commands</a:t>
            </a:r>
            <a:endParaRPr b="1" sz="8000" u="none" strike="noStrike">
              <a:solidFill>
                <a:srgbClr val="C1FF72"/>
              </a:solidFill>
              <a:latin typeface="Calibri"/>
              <a:ea typeface="Calibri"/>
              <a:cs typeface="Calibri"/>
              <a:sym typeface="Calibri"/>
            </a:endParaRPr>
          </a:p>
        </p:txBody>
      </p:sp>
      <p:sp>
        <p:nvSpPr>
          <p:cNvPr id="366" name="Google Shape;366;p11"/>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67" name="Google Shape;367;p11"/>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68" name="Google Shape;368;p11"/>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369" name="Google Shape;369;p11"/>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370" name="Google Shape;370;p11"/>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71" name="Google Shape;371;p11"/>
          <p:cNvSpPr txBox="1"/>
          <p:nvPr/>
        </p:nvSpPr>
        <p:spPr>
          <a:xfrm>
            <a:off x="685800" y="1425575"/>
            <a:ext cx="9408160" cy="7675245"/>
          </a:xfrm>
          <a:prstGeom prst="rect">
            <a:avLst/>
          </a:prstGeom>
          <a:noFill/>
          <a:ln>
            <a:noFill/>
          </a:ln>
        </p:spPr>
        <p:txBody>
          <a:bodyPr anchorCtr="0" anchor="t" bIns="0" lIns="0" spcFirstLastPara="1" rIns="0" wrap="square" tIns="0">
            <a:spAutoFit/>
          </a:bodyPr>
          <a:lstStyle/>
          <a:p>
            <a:pPr indent="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15. head / tail – Shows the first or last lines of a file</a:t>
            </a:r>
            <a:endParaRPr b="1" sz="3000">
              <a:solidFill>
                <a:srgbClr val="FFFFFF"/>
              </a:solidFill>
              <a:latin typeface="Calibri"/>
              <a:ea typeface="Calibri"/>
              <a:cs typeface="Calibri"/>
              <a:sym typeface="Calibri"/>
            </a:endParaRPr>
          </a:p>
          <a:p>
            <a:pPr indent="0" lvl="0" marL="0" marR="0" rtl="0" algn="l">
              <a:lnSpc>
                <a:spcPct val="133000"/>
              </a:lnSpc>
              <a:spcBef>
                <a:spcPts val="0"/>
              </a:spcBef>
              <a:spcAft>
                <a:spcPts val="0"/>
              </a:spcAft>
              <a:buNone/>
            </a:pPr>
            <a:r>
              <a:rPr b="1" lang="en-US" sz="3000">
                <a:solidFill>
                  <a:srgbClr val="FFFFFF"/>
                </a:solidFill>
                <a:latin typeface="Calibri"/>
                <a:ea typeface="Calibri"/>
                <a:cs typeface="Calibri"/>
                <a:sym typeface="Calibri"/>
              </a:rPr>
              <a:t>Example :</a:t>
            </a:r>
            <a:r>
              <a:rPr b="1" lang="en-US" sz="3000">
                <a:solidFill>
                  <a:srgbClr val="E5B8B7"/>
                </a:solidFill>
                <a:latin typeface="Calibri"/>
                <a:ea typeface="Calibri"/>
                <a:cs typeface="Calibri"/>
                <a:sym typeface="Calibri"/>
              </a:rPr>
              <a:t> head -n 5 file.txt</a:t>
            </a:r>
            <a:endParaRPr b="1" sz="3000">
              <a:solidFill>
                <a:srgbClr val="E5B8B7"/>
              </a:solidFill>
              <a:latin typeface="Calibri"/>
              <a:ea typeface="Calibri"/>
              <a:cs typeface="Calibri"/>
              <a:sym typeface="Calibri"/>
            </a:endParaRPr>
          </a:p>
          <a:p>
            <a:pPr indent="457200" lvl="2" marL="914400" marR="0" rtl="0" algn="l">
              <a:lnSpc>
                <a:spcPct val="133000"/>
              </a:lnSpc>
              <a:spcBef>
                <a:spcPts val="0"/>
              </a:spcBef>
              <a:spcAft>
                <a:spcPts val="0"/>
              </a:spcAft>
              <a:buNone/>
            </a:pPr>
            <a:r>
              <a:rPr b="1" i="0" lang="en-US" sz="3000" u="none" cap="none" strike="noStrike">
                <a:solidFill>
                  <a:srgbClr val="E5B8B7"/>
                </a:solidFill>
                <a:latin typeface="Calibri"/>
                <a:ea typeface="Calibri"/>
                <a:cs typeface="Calibri"/>
                <a:sym typeface="Calibri"/>
              </a:rPr>
              <a:t>   tail -n 5 file.txt</a:t>
            </a:r>
            <a:endParaRPr b="1" i="0" sz="3000" u="none" cap="none" strike="noStrike">
              <a:solidFill>
                <a:srgbClr val="E5B8B7"/>
              </a:solidFill>
              <a:latin typeface="Calibri"/>
              <a:ea typeface="Calibri"/>
              <a:cs typeface="Calibri"/>
              <a:sym typeface="Calibri"/>
            </a:endParaRPr>
          </a:p>
          <a:p>
            <a:pPr indent="0" lvl="0" marL="0" marR="0" rtl="0" algn="l">
              <a:lnSpc>
                <a:spcPct val="133000"/>
              </a:lnSpc>
              <a:spcBef>
                <a:spcPts val="0"/>
              </a:spcBef>
              <a:spcAft>
                <a:spcPts val="0"/>
              </a:spcAft>
              <a:buNone/>
            </a:pPr>
            <a:r>
              <a:t/>
            </a:r>
            <a:endParaRPr b="1" sz="3000">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None/>
            </a:pPr>
            <a:r>
              <a:rPr b="1" lang="en-US" sz="3000">
                <a:solidFill>
                  <a:srgbClr val="C1FF72"/>
                </a:solidFill>
                <a:latin typeface="Calibri"/>
                <a:ea typeface="Calibri"/>
                <a:cs typeface="Calibri"/>
                <a:sym typeface="Calibri"/>
              </a:rPr>
              <a:t>16. diff – Compares two file</a:t>
            </a:r>
            <a:endParaRPr b="1" sz="3000">
              <a:solidFill>
                <a:srgbClr val="C1FF72"/>
              </a:solidFill>
              <a:latin typeface="Calibri"/>
              <a:ea typeface="Calibri"/>
              <a:cs typeface="Calibri"/>
              <a:sym typeface="Calibri"/>
            </a:endParaRPr>
          </a:p>
          <a:p>
            <a:pPr indent="16510" lvl="0" marL="0" marR="0" rtl="0" algn="l">
              <a:lnSpc>
                <a:spcPct val="133000"/>
              </a:lnSpc>
              <a:spcBef>
                <a:spcPts val="0"/>
              </a:spcBef>
              <a:spcAft>
                <a:spcPts val="0"/>
              </a:spcAft>
              <a:buNone/>
            </a:pPr>
            <a:r>
              <a:rPr b="1" lang="en-US" sz="3000">
                <a:solidFill>
                  <a:srgbClr val="FFFFFF"/>
                </a:solidFill>
                <a:latin typeface="Calibri"/>
                <a:ea typeface="Calibri"/>
                <a:cs typeface="Calibri"/>
                <a:sym typeface="Calibri"/>
              </a:rPr>
              <a:t>Example : </a:t>
            </a:r>
            <a:r>
              <a:rPr b="1" lang="en-US" sz="3000">
                <a:solidFill>
                  <a:srgbClr val="E5B8B7"/>
                </a:solidFill>
                <a:latin typeface="Calibri"/>
                <a:ea typeface="Calibri"/>
                <a:cs typeface="Calibri"/>
                <a:sym typeface="Calibri"/>
              </a:rPr>
              <a:t>diff file1.txt file2.txt</a:t>
            </a:r>
            <a:endParaRPr b="1" sz="3000">
              <a:solidFill>
                <a:srgbClr val="E5B8B7"/>
              </a:solidFill>
              <a:latin typeface="Calibri"/>
              <a:ea typeface="Calibri"/>
              <a:cs typeface="Calibri"/>
              <a:sym typeface="Calibri"/>
            </a:endParaRPr>
          </a:p>
          <a:p>
            <a:pPr indent="16509" lvl="1" marL="45720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17. uniq – Removes duplicate lines from a file</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sort file.txt | uniq</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18. nohup – Runs a command even after logging out</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nohup ./script.sh &amp;</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t/>
            </a:r>
            <a:endParaRPr b="1" i="0" sz="3000" u="none" cap="none" strike="noStrike">
              <a:solidFill>
                <a:srgbClr val="E5B8B7"/>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C1FF72"/>
                </a:solidFill>
                <a:latin typeface="Calibri"/>
                <a:ea typeface="Calibri"/>
                <a:cs typeface="Calibri"/>
                <a:sym typeface="Calibri"/>
              </a:rPr>
              <a:t>19. bg / fg – Moves jobs to the background or foreground</a:t>
            </a:r>
            <a:endParaRPr b="1" i="0" sz="3000" u="none" cap="none" strike="noStrike">
              <a:solidFill>
                <a:srgbClr val="C1FF72"/>
              </a:solidFill>
              <a:latin typeface="Calibri"/>
              <a:ea typeface="Calibri"/>
              <a:cs typeface="Calibri"/>
              <a:sym typeface="Calibri"/>
            </a:endParaRPr>
          </a:p>
          <a:p>
            <a:pPr indent="0" lvl="1" marL="0" marR="0" rtl="0" algn="l">
              <a:lnSpc>
                <a:spcPct val="133000"/>
              </a:lnSpc>
              <a:spcBef>
                <a:spcPts val="0"/>
              </a:spcBef>
              <a:spcAft>
                <a:spcPts val="0"/>
              </a:spcAft>
              <a:buNone/>
            </a:pPr>
            <a:r>
              <a:rPr b="1" i="0" lang="en-US" sz="3000" u="none" cap="none" strike="noStrike">
                <a:solidFill>
                  <a:srgbClr val="FFFFFF"/>
                </a:solidFill>
                <a:latin typeface="Calibri"/>
                <a:ea typeface="Calibri"/>
                <a:cs typeface="Calibri"/>
                <a:sym typeface="Calibri"/>
              </a:rPr>
              <a:t>Example : </a:t>
            </a:r>
            <a:r>
              <a:rPr b="1" i="0" lang="en-US" sz="3000" u="none" cap="none" strike="noStrike">
                <a:solidFill>
                  <a:srgbClr val="E5B8B7"/>
                </a:solidFill>
                <a:latin typeface="Calibri"/>
                <a:ea typeface="Calibri"/>
                <a:cs typeface="Calibri"/>
                <a:sym typeface="Calibri"/>
              </a:rPr>
              <a:t>bg %1, fg %1</a:t>
            </a:r>
            <a:endParaRPr b="1" i="0" sz="3000" u="none" cap="none" strike="noStrike">
              <a:solidFill>
                <a:srgbClr val="E5B8B7"/>
              </a:solidFill>
              <a:latin typeface="Calibri"/>
              <a:ea typeface="Calibri"/>
              <a:cs typeface="Calibri"/>
              <a:sym typeface="Calibri"/>
            </a:endParaRPr>
          </a:p>
        </p:txBody>
      </p:sp>
      <p:pic>
        <p:nvPicPr>
          <p:cNvPr id="372" name="Google Shape;372;p11"/>
          <p:cNvPicPr preferRelativeResize="0"/>
          <p:nvPr/>
        </p:nvPicPr>
        <p:blipFill rotWithShape="1">
          <a:blip r:embed="rId5">
            <a:alphaModFix/>
          </a:blip>
          <a:srcRect b="0" l="0" r="0" t="0"/>
          <a:stretch/>
        </p:blipFill>
        <p:spPr>
          <a:xfrm>
            <a:off x="10134600" y="1714500"/>
            <a:ext cx="7509510" cy="67348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2"/>
          <p:cNvSpPr/>
          <p:nvPr/>
        </p:nvSpPr>
        <p:spPr>
          <a:xfrm>
            <a:off x="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2"/>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379" name="Google Shape;379;p12"/>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380" name="Google Shape;380;p12"/>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381" name="Google Shape;381;p12"/>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382" name="Google Shape;382;p12"/>
          <p:cNvSpPr/>
          <p:nvPr/>
        </p:nvSpPr>
        <p:spPr>
          <a:xfrm>
            <a:off x="16306912" y="455171"/>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383" name="Google Shape;383;p12"/>
          <p:cNvSpPr/>
          <p:nvPr/>
        </p:nvSpPr>
        <p:spPr>
          <a:xfrm>
            <a:off x="457201" y="883292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384" name="Google Shape;384;p12"/>
          <p:cNvSpPr/>
          <p:nvPr/>
        </p:nvSpPr>
        <p:spPr>
          <a:xfrm>
            <a:off x="9470390" y="2115185"/>
            <a:ext cx="8486140" cy="1308100"/>
          </a:xfrm>
          <a:custGeom>
            <a:rect b="b" l="l" r="r" t="t"/>
            <a:pathLst>
              <a:path extrusionOk="0" h="1743859" w="11314854">
                <a:moveTo>
                  <a:pt x="0" y="0"/>
                </a:moveTo>
                <a:lnTo>
                  <a:pt x="11314854" y="0"/>
                </a:lnTo>
                <a:lnTo>
                  <a:pt x="11314854" y="1743859"/>
                </a:lnTo>
                <a:lnTo>
                  <a:pt x="0" y="1743859"/>
                </a:lnTo>
                <a:close/>
              </a:path>
            </a:pathLst>
          </a:custGeom>
          <a:solidFill>
            <a:srgbClr val="000000">
              <a:alpha val="0"/>
            </a:srgbClr>
          </a:solidFill>
          <a:ln>
            <a:noFill/>
          </a:ln>
        </p:spPr>
      </p:sp>
      <p:sp>
        <p:nvSpPr>
          <p:cNvPr id="385" name="Google Shape;385;p12"/>
          <p:cNvSpPr/>
          <p:nvPr/>
        </p:nvSpPr>
        <p:spPr>
          <a:xfrm>
            <a:off x="9515475" y="6382385"/>
            <a:ext cx="8488680" cy="1308100"/>
          </a:xfrm>
          <a:custGeom>
            <a:rect b="b" l="l" r="r" t="t"/>
            <a:pathLst>
              <a:path extrusionOk="0" h="1743859" w="11317898">
                <a:moveTo>
                  <a:pt x="0" y="0"/>
                </a:moveTo>
                <a:lnTo>
                  <a:pt x="11317898" y="0"/>
                </a:lnTo>
                <a:lnTo>
                  <a:pt x="11317898" y="1743859"/>
                </a:lnTo>
                <a:lnTo>
                  <a:pt x="0" y="1743859"/>
                </a:lnTo>
                <a:close/>
              </a:path>
            </a:pathLst>
          </a:custGeom>
          <a:solidFill>
            <a:srgbClr val="000000">
              <a:alpha val="0"/>
            </a:srgbClr>
          </a:solidFill>
          <a:ln>
            <a:noFill/>
          </a:ln>
        </p:spPr>
      </p:sp>
      <p:sp>
        <p:nvSpPr>
          <p:cNvPr id="386" name="Google Shape;386;p12"/>
          <p:cNvSpPr txBox="1"/>
          <p:nvPr/>
        </p:nvSpPr>
        <p:spPr>
          <a:xfrm>
            <a:off x="568960" y="2019300"/>
            <a:ext cx="4400550" cy="574040"/>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lang="en-US" sz="3000">
                <a:solidFill>
                  <a:srgbClr val="C1FF72"/>
                </a:solidFill>
                <a:latin typeface="Calibri"/>
                <a:ea typeface="Calibri"/>
                <a:cs typeface="Calibri"/>
                <a:sym typeface="Calibri"/>
              </a:rPr>
              <a:t>Script naming conventions</a:t>
            </a:r>
            <a:r>
              <a:rPr lang="en-US" sz="3000">
                <a:solidFill>
                  <a:schemeClr val="accent6"/>
                </a:solidFill>
                <a:latin typeface="Calibri"/>
                <a:ea typeface="Calibri"/>
                <a:cs typeface="Calibri"/>
                <a:sym typeface="Calibri"/>
              </a:rPr>
              <a:t>						    </a:t>
            </a:r>
            <a:endParaRPr b="1" sz="3000">
              <a:solidFill>
                <a:srgbClr val="FFFFFF"/>
              </a:solidFill>
              <a:latin typeface="Calibri"/>
              <a:ea typeface="Calibri"/>
              <a:cs typeface="Calibri"/>
              <a:sym typeface="Calibri"/>
            </a:endParaRPr>
          </a:p>
        </p:txBody>
      </p:sp>
      <p:sp>
        <p:nvSpPr>
          <p:cNvPr id="387" name="Google Shape;387;p12"/>
          <p:cNvSpPr txBox="1"/>
          <p:nvPr/>
        </p:nvSpPr>
        <p:spPr>
          <a:xfrm>
            <a:off x="914400" y="2628900"/>
            <a:ext cx="16988790" cy="855345"/>
          </a:xfrm>
          <a:prstGeom prst="rect">
            <a:avLst/>
          </a:prstGeom>
          <a:noFill/>
          <a:ln>
            <a:noFill/>
          </a:ln>
        </p:spPr>
        <p:txBody>
          <a:bodyPr anchorCtr="0" anchor="t" bIns="0" lIns="0" spcFirstLastPara="1" rIns="0" wrap="square" tIns="0">
            <a:noAutofit/>
          </a:bodyPr>
          <a:lstStyle/>
          <a:p>
            <a:pPr indent="-457200" lvl="0" marL="457200" marR="0" rtl="0" algn="l">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By naming convention, bash scripts end with </a:t>
            </a:r>
            <a:r>
              <a:rPr b="1" lang="en-US" sz="3000">
                <a:solidFill>
                  <a:srgbClr val="E5B8B7"/>
                </a:solidFill>
                <a:latin typeface="Calibri"/>
                <a:ea typeface="Calibri"/>
                <a:cs typeface="Calibri"/>
                <a:sym typeface="Calibri"/>
              </a:rPr>
              <a:t>.sh</a:t>
            </a:r>
            <a:r>
              <a:rPr b="1" lang="en-US" sz="3000">
                <a:solidFill>
                  <a:srgbClr val="FFFFFF"/>
                </a:solidFill>
                <a:latin typeface="Calibri"/>
                <a:ea typeface="Calibri"/>
                <a:cs typeface="Calibri"/>
                <a:sym typeface="Calibri"/>
              </a:rPr>
              <a:t>. However, bash scripts can run perfectly fine without the </a:t>
            </a:r>
            <a:r>
              <a:rPr b="1" lang="en-US" sz="3000">
                <a:solidFill>
                  <a:srgbClr val="E5B8B7"/>
                </a:solidFill>
                <a:latin typeface="Calibri"/>
                <a:ea typeface="Calibri"/>
                <a:cs typeface="Calibri"/>
                <a:sym typeface="Calibri"/>
              </a:rPr>
              <a:t>.sh</a:t>
            </a:r>
            <a:r>
              <a:rPr b="1" lang="en-US" sz="3000">
                <a:solidFill>
                  <a:srgbClr val="FFFFFF"/>
                </a:solidFill>
                <a:latin typeface="Calibri"/>
                <a:ea typeface="Calibri"/>
                <a:cs typeface="Calibri"/>
                <a:sym typeface="Calibri"/>
              </a:rPr>
              <a:t> extension.</a:t>
            </a:r>
            <a:endParaRPr sz="3000">
              <a:solidFill>
                <a:schemeClr val="accent6"/>
              </a:solidFill>
              <a:latin typeface="Calibri"/>
              <a:ea typeface="Calibri"/>
              <a:cs typeface="Calibri"/>
              <a:sym typeface="Calibri"/>
            </a:endParaRPr>
          </a:p>
          <a:p>
            <a:pPr indent="0" lvl="0" marL="0" marR="0" rtl="0" algn="l">
              <a:lnSpc>
                <a:spcPct val="116999"/>
              </a:lnSpc>
              <a:spcBef>
                <a:spcPts val="700"/>
              </a:spcBef>
              <a:spcAft>
                <a:spcPts val="0"/>
              </a:spcAft>
              <a:buNone/>
            </a:pPr>
            <a:r>
              <a:rPr lang="en-US" sz="3000">
                <a:solidFill>
                  <a:schemeClr val="accent6"/>
                </a:solidFill>
                <a:latin typeface="Calibri"/>
                <a:ea typeface="Calibri"/>
                <a:cs typeface="Calibri"/>
                <a:sym typeface="Calibri"/>
              </a:rPr>
              <a:t>						    </a:t>
            </a:r>
            <a:endParaRPr b="1" sz="3000">
              <a:solidFill>
                <a:srgbClr val="FFFFFF"/>
              </a:solidFill>
              <a:latin typeface="Calibri"/>
              <a:ea typeface="Calibri"/>
              <a:cs typeface="Calibri"/>
              <a:sym typeface="Calibri"/>
            </a:endParaRPr>
          </a:p>
        </p:txBody>
      </p:sp>
      <p:sp>
        <p:nvSpPr>
          <p:cNvPr id="388" name="Google Shape;388;p12"/>
          <p:cNvSpPr txBox="1"/>
          <p:nvPr/>
        </p:nvSpPr>
        <p:spPr>
          <a:xfrm>
            <a:off x="609600" y="4000500"/>
            <a:ext cx="3546475" cy="574040"/>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lang="en-US" sz="3000">
                <a:solidFill>
                  <a:srgbClr val="C1FF72"/>
                </a:solidFill>
                <a:latin typeface="Calibri"/>
                <a:ea typeface="Calibri"/>
                <a:cs typeface="Calibri"/>
                <a:sym typeface="Calibri"/>
              </a:rPr>
              <a:t>Adding the Shebang</a:t>
            </a:r>
            <a:endParaRPr sz="3000">
              <a:solidFill>
                <a:srgbClr val="C1FF72"/>
              </a:solidFill>
              <a:latin typeface="Calibri"/>
              <a:ea typeface="Calibri"/>
              <a:cs typeface="Calibri"/>
              <a:sym typeface="Calibri"/>
            </a:endParaRPr>
          </a:p>
          <a:p>
            <a:pPr indent="0" lvl="0" marL="0" marR="0" rtl="0" algn="l">
              <a:lnSpc>
                <a:spcPct val="116999"/>
              </a:lnSpc>
              <a:spcBef>
                <a:spcPts val="700"/>
              </a:spcBef>
              <a:spcAft>
                <a:spcPts val="0"/>
              </a:spcAft>
              <a:buNone/>
            </a:pPr>
            <a:r>
              <a:rPr lang="en-US" sz="3000">
                <a:solidFill>
                  <a:schemeClr val="accent6"/>
                </a:solidFill>
                <a:latin typeface="Calibri"/>
                <a:ea typeface="Calibri"/>
                <a:cs typeface="Calibri"/>
                <a:sym typeface="Calibri"/>
              </a:rPr>
              <a:t>						    </a:t>
            </a:r>
            <a:endParaRPr b="1" sz="3000">
              <a:solidFill>
                <a:srgbClr val="FFFFFF"/>
              </a:solidFill>
              <a:latin typeface="Calibri"/>
              <a:ea typeface="Calibri"/>
              <a:cs typeface="Calibri"/>
              <a:sym typeface="Calibri"/>
            </a:endParaRPr>
          </a:p>
        </p:txBody>
      </p:sp>
      <p:sp>
        <p:nvSpPr>
          <p:cNvPr id="389" name="Google Shape;389;p12"/>
          <p:cNvSpPr txBox="1"/>
          <p:nvPr/>
        </p:nvSpPr>
        <p:spPr>
          <a:xfrm>
            <a:off x="914400" y="4557395"/>
            <a:ext cx="16173450" cy="2110740"/>
          </a:xfrm>
          <a:prstGeom prst="rect">
            <a:avLst/>
          </a:prstGeom>
          <a:noFill/>
          <a:ln>
            <a:noFill/>
          </a:ln>
        </p:spPr>
        <p:txBody>
          <a:bodyPr anchorCtr="0" anchor="t" bIns="0" lIns="0" spcFirstLastPara="1" rIns="0" wrap="square" tIns="0">
            <a:noAutofit/>
          </a:bodyPr>
          <a:lstStyle/>
          <a:p>
            <a:pPr indent="-457200" lvl="0" marL="457200" marR="0" rtl="0" algn="l">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Bash scripts start with a shebang. Shebang is a combination of bash # and bang ! followed by the bash shell path. This is the first line of the script. Shebang tells the shell to execute it via bash shell. Shebang is simply an absolute path to the bash interpreter.</a:t>
            </a:r>
            <a:endParaRPr b="1" sz="3000">
              <a:solidFill>
                <a:srgbClr val="FFFFFF"/>
              </a:solidFill>
              <a:latin typeface="Calibri"/>
              <a:ea typeface="Calibri"/>
              <a:cs typeface="Calibri"/>
              <a:sym typeface="Calibri"/>
            </a:endParaRPr>
          </a:p>
          <a:p>
            <a:pPr indent="-457200" lvl="0" marL="457200" marR="0" rtl="0" algn="l">
              <a:lnSpc>
                <a:spcPct val="116999"/>
              </a:lnSpc>
              <a:spcBef>
                <a:spcPts val="700"/>
              </a:spcBef>
              <a:spcAft>
                <a:spcPts val="0"/>
              </a:spcAft>
              <a:buClr>
                <a:schemeClr val="lt1"/>
              </a:buClr>
              <a:buSzPts val="3000"/>
              <a:buFont typeface="Arial"/>
              <a:buChar char="•"/>
            </a:pPr>
            <a:r>
              <a:rPr lang="en-US" sz="3000">
                <a:solidFill>
                  <a:schemeClr val="lt1"/>
                </a:solidFill>
                <a:latin typeface="Calibri"/>
                <a:ea typeface="Calibri"/>
                <a:cs typeface="Calibri"/>
                <a:sym typeface="Calibri"/>
              </a:rPr>
              <a:t>E</a:t>
            </a:r>
            <a:r>
              <a:rPr b="1" lang="en-US" sz="3000">
                <a:solidFill>
                  <a:srgbClr val="FFFFFF"/>
                </a:solidFill>
                <a:latin typeface="Calibri"/>
                <a:ea typeface="Calibri"/>
                <a:cs typeface="Calibri"/>
                <a:sym typeface="Calibri"/>
              </a:rPr>
              <a:t>xample : </a:t>
            </a:r>
            <a:r>
              <a:rPr b="1" lang="en-US" sz="3000">
                <a:solidFill>
                  <a:srgbClr val="E5B8B7"/>
                </a:solidFill>
                <a:latin typeface="Calibri"/>
                <a:ea typeface="Calibri"/>
                <a:cs typeface="Calibri"/>
                <a:sym typeface="Calibri"/>
              </a:rPr>
              <a:t>#!/bin/bash</a:t>
            </a:r>
            <a:endParaRPr b="1" sz="3000">
              <a:solidFill>
                <a:srgbClr val="FFFFFF"/>
              </a:solidFill>
              <a:latin typeface="Calibri"/>
              <a:ea typeface="Calibri"/>
              <a:cs typeface="Calibri"/>
              <a:sym typeface="Calibri"/>
            </a:endParaRPr>
          </a:p>
          <a:p>
            <a:pPr indent="0" lvl="0" marL="0" marR="0" rtl="0" algn="l">
              <a:lnSpc>
                <a:spcPct val="116999"/>
              </a:lnSpc>
              <a:spcBef>
                <a:spcPts val="700"/>
              </a:spcBef>
              <a:spcAft>
                <a:spcPts val="0"/>
              </a:spcAft>
              <a:buNone/>
            </a:pPr>
            <a:r>
              <a:rPr b="1" lang="en-US" sz="3000">
                <a:solidFill>
                  <a:srgbClr val="FFFFFF"/>
                </a:solidFill>
                <a:latin typeface="Calibri"/>
                <a:ea typeface="Calibri"/>
                <a:cs typeface="Calibri"/>
                <a:sym typeface="Calibri"/>
              </a:rPr>
              <a:t>					</a:t>
            </a:r>
            <a:r>
              <a:rPr lang="en-US" sz="3000">
                <a:solidFill>
                  <a:schemeClr val="accent6"/>
                </a:solidFill>
                <a:latin typeface="Calibri"/>
                <a:ea typeface="Calibri"/>
                <a:cs typeface="Calibri"/>
                <a:sym typeface="Calibri"/>
              </a:rPr>
              <a:t>	    </a:t>
            </a:r>
            <a:endParaRPr b="1" sz="3000">
              <a:solidFill>
                <a:srgbClr val="FFFFFF"/>
              </a:solidFill>
              <a:latin typeface="Calibri"/>
              <a:ea typeface="Calibri"/>
              <a:cs typeface="Calibri"/>
              <a:sym typeface="Calibri"/>
            </a:endParaRPr>
          </a:p>
        </p:txBody>
      </p:sp>
      <p:sp>
        <p:nvSpPr>
          <p:cNvPr id="390" name="Google Shape;390;p12"/>
          <p:cNvSpPr txBox="1"/>
          <p:nvPr/>
        </p:nvSpPr>
        <p:spPr>
          <a:xfrm>
            <a:off x="685800" y="6830060"/>
            <a:ext cx="7059295" cy="574040"/>
          </a:xfrm>
          <a:prstGeom prst="rect">
            <a:avLst/>
          </a:prstGeom>
          <a:noFill/>
          <a:ln>
            <a:noFill/>
          </a:ln>
        </p:spPr>
        <p:txBody>
          <a:bodyPr anchorCtr="0" anchor="t" bIns="0" lIns="0" spcFirstLastPara="1" rIns="0" wrap="square" tIns="0">
            <a:noAutofit/>
          </a:bodyPr>
          <a:lstStyle/>
          <a:p>
            <a:pPr indent="0" lvl="0" marL="88900" marR="0" rtl="0" algn="just">
              <a:lnSpc>
                <a:spcPct val="115000"/>
              </a:lnSpc>
              <a:spcBef>
                <a:spcPts val="0"/>
              </a:spcBef>
              <a:spcAft>
                <a:spcPts val="0"/>
              </a:spcAft>
              <a:buClr>
                <a:schemeClr val="lt1"/>
              </a:buClr>
              <a:buSzPts val="2200"/>
              <a:buFont typeface="Calibri"/>
              <a:buNone/>
            </a:pPr>
            <a:r>
              <a:rPr b="1" lang="en-US" sz="3000">
                <a:solidFill>
                  <a:srgbClr val="C1FF72"/>
                </a:solidFill>
                <a:latin typeface="Calibri"/>
                <a:ea typeface="Calibri"/>
                <a:cs typeface="Calibri"/>
                <a:sym typeface="Calibri"/>
              </a:rPr>
              <a:t>Creating our first bash script						    </a:t>
            </a:r>
            <a:endParaRPr b="1" sz="3000">
              <a:solidFill>
                <a:srgbClr val="C1FF72"/>
              </a:solidFill>
              <a:latin typeface="Calibri"/>
              <a:ea typeface="Calibri"/>
              <a:cs typeface="Calibri"/>
              <a:sym typeface="Calibri"/>
            </a:endParaRPr>
          </a:p>
        </p:txBody>
      </p:sp>
      <p:sp>
        <p:nvSpPr>
          <p:cNvPr id="391" name="Google Shape;391;p12"/>
          <p:cNvSpPr txBox="1"/>
          <p:nvPr/>
        </p:nvSpPr>
        <p:spPr>
          <a:xfrm>
            <a:off x="1143000" y="7566025"/>
            <a:ext cx="16988790" cy="687705"/>
          </a:xfrm>
          <a:prstGeom prst="rect">
            <a:avLst/>
          </a:prstGeom>
          <a:noFill/>
          <a:ln>
            <a:noFill/>
          </a:ln>
        </p:spPr>
        <p:txBody>
          <a:bodyPr anchorCtr="0" anchor="t" bIns="0" lIns="0" spcFirstLastPara="1" rIns="0" wrap="square" tIns="0">
            <a:noAutofit/>
          </a:bodyPr>
          <a:lstStyle/>
          <a:p>
            <a:pPr indent="-457200" lvl="0" marL="457200" marR="0" rtl="0" algn="l">
              <a:lnSpc>
                <a:spcPct val="116999"/>
              </a:lnSpc>
              <a:spcBef>
                <a:spcPts val="0"/>
              </a:spcBef>
              <a:spcAft>
                <a:spcPts val="0"/>
              </a:spcAft>
              <a:buClr>
                <a:srgbClr val="FFFFFF"/>
              </a:buClr>
              <a:buSzPts val="3000"/>
              <a:buFont typeface="Arial"/>
              <a:buChar char="•"/>
            </a:pPr>
            <a:r>
              <a:rPr b="1" lang="en-US" sz="3000">
                <a:solidFill>
                  <a:srgbClr val="FFFFFF"/>
                </a:solidFill>
                <a:latin typeface="Calibri"/>
                <a:ea typeface="Calibri"/>
                <a:cs typeface="Calibri"/>
                <a:sym typeface="Calibri"/>
              </a:rPr>
              <a:t>Create a file named </a:t>
            </a:r>
            <a:r>
              <a:rPr b="1" lang="en-US" sz="3000">
                <a:solidFill>
                  <a:srgbClr val="E5B8B7"/>
                </a:solidFill>
                <a:latin typeface="Calibri"/>
                <a:ea typeface="Calibri"/>
                <a:cs typeface="Calibri"/>
                <a:sym typeface="Calibri"/>
              </a:rPr>
              <a:t>run_all.sh</a:t>
            </a:r>
            <a:r>
              <a:rPr b="1" lang="en-US" sz="3000">
                <a:solidFill>
                  <a:srgbClr val="FFFFFF"/>
                </a:solidFill>
                <a:latin typeface="Calibri"/>
                <a:ea typeface="Calibri"/>
                <a:cs typeface="Calibri"/>
                <a:sym typeface="Calibri"/>
              </a:rPr>
              <a:t> using the vi command  </a:t>
            </a:r>
            <a:r>
              <a:rPr b="1" lang="en-US" sz="3000">
                <a:solidFill>
                  <a:srgbClr val="E5B8B7"/>
                </a:solidFill>
                <a:latin typeface="Calibri"/>
                <a:ea typeface="Calibri"/>
                <a:cs typeface="Calibri"/>
                <a:sym typeface="Calibri"/>
              </a:rPr>
              <a:t>vi run_all.sh	</a:t>
            </a:r>
            <a:r>
              <a:rPr b="1" lang="en-US" sz="3000">
                <a:solidFill>
                  <a:srgbClr val="FFFFFF"/>
                </a:solidFill>
                <a:latin typeface="Calibri"/>
                <a:ea typeface="Calibri"/>
                <a:cs typeface="Calibri"/>
                <a:sym typeface="Calibri"/>
              </a:rPr>
              <a:t>	    </a:t>
            </a:r>
            <a:endParaRPr b="1" sz="3000">
              <a:solidFill>
                <a:srgbClr val="FFFFFF"/>
              </a:solidFill>
              <a:latin typeface="Calibri"/>
              <a:ea typeface="Calibri"/>
              <a:cs typeface="Calibri"/>
              <a:sym typeface="Calibri"/>
            </a:endParaRPr>
          </a:p>
        </p:txBody>
      </p:sp>
      <p:sp>
        <p:nvSpPr>
          <p:cNvPr id="392" name="Google Shape;392;p12"/>
          <p:cNvSpPr txBox="1"/>
          <p:nvPr/>
        </p:nvSpPr>
        <p:spPr>
          <a:xfrm>
            <a:off x="14356080" y="9410700"/>
            <a:ext cx="3546475" cy="467360"/>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lang="en-US" sz="3000">
                <a:solidFill>
                  <a:schemeClr val="lt1"/>
                </a:solidFill>
                <a:latin typeface="Calibri"/>
                <a:ea typeface="Calibri"/>
                <a:cs typeface="Calibri"/>
                <a:sym typeface="Calibri"/>
              </a:rPr>
              <a:t>To be continued...</a:t>
            </a:r>
            <a:endParaRPr sz="3000">
              <a:solidFill>
                <a:schemeClr val="lt1"/>
              </a:solidFill>
              <a:latin typeface="Calibri"/>
              <a:ea typeface="Calibri"/>
              <a:cs typeface="Calibri"/>
              <a:sym typeface="Calibri"/>
            </a:endParaRPr>
          </a:p>
          <a:p>
            <a:pPr indent="0" lvl="0" marL="0" marR="0" rtl="0" algn="l">
              <a:lnSpc>
                <a:spcPct val="116999"/>
              </a:lnSpc>
              <a:spcBef>
                <a:spcPts val="700"/>
              </a:spcBef>
              <a:spcAft>
                <a:spcPts val="0"/>
              </a:spcAft>
              <a:buNone/>
            </a:pPr>
            <a:r>
              <a:rPr lang="en-US" sz="3000">
                <a:solidFill>
                  <a:schemeClr val="accent6"/>
                </a:solidFill>
                <a:latin typeface="Calibri"/>
                <a:ea typeface="Calibri"/>
                <a:cs typeface="Calibri"/>
                <a:sym typeface="Calibri"/>
              </a:rPr>
              <a:t>						    </a:t>
            </a:r>
            <a:endParaRPr b="1" sz="3000">
              <a:solidFill>
                <a:srgbClr val="FFFFFF"/>
              </a:solidFill>
              <a:latin typeface="Calibri"/>
              <a:ea typeface="Calibri"/>
              <a:cs typeface="Calibri"/>
              <a:sym typeface="Calibri"/>
            </a:endParaRPr>
          </a:p>
        </p:txBody>
      </p:sp>
      <p:sp>
        <p:nvSpPr>
          <p:cNvPr id="393" name="Google Shape;393;p12"/>
          <p:cNvSpPr txBox="1"/>
          <p:nvPr/>
        </p:nvSpPr>
        <p:spPr>
          <a:xfrm>
            <a:off x="4652645" y="114300"/>
            <a:ext cx="8982710" cy="13233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990"/>
              <a:buFont typeface="Arial"/>
              <a:buNone/>
            </a:pPr>
            <a:r>
              <a:rPr b="1" lang="en-US" sz="8000">
                <a:solidFill>
                  <a:srgbClr val="C1FF72"/>
                </a:solidFill>
                <a:latin typeface="Calibri"/>
                <a:ea typeface="Calibri"/>
                <a:cs typeface="Calibri"/>
                <a:sym typeface="Calibri"/>
              </a:rPr>
              <a:t>Writing Shell Scripts</a:t>
            </a:r>
            <a:endParaRPr b="1" sz="8000">
              <a:solidFill>
                <a:srgbClr val="C1FF72"/>
              </a:solidFill>
              <a:latin typeface="Calibri"/>
              <a:ea typeface="Calibri"/>
              <a:cs typeface="Calibri"/>
              <a:sym typeface="Calibri"/>
            </a:endParaRPr>
          </a:p>
          <a:p>
            <a:pPr indent="0" lvl="0" marL="0" marR="0" rtl="0" algn="l">
              <a:lnSpc>
                <a:spcPct val="115000"/>
              </a:lnSpc>
              <a:spcBef>
                <a:spcPts val="900"/>
              </a:spcBef>
              <a:spcAft>
                <a:spcPts val="0"/>
              </a:spcAft>
              <a:buClr>
                <a:schemeClr val="dk1"/>
              </a:buClr>
              <a:buSzPts val="990"/>
              <a:buFont typeface="Arial"/>
              <a:buNone/>
            </a:pPr>
            <a:r>
              <a:t/>
            </a:r>
            <a:endParaRPr b="1" sz="5000">
              <a:solidFill>
                <a:schemeClr val="lt1"/>
              </a:solidFill>
              <a:latin typeface="Calibri"/>
              <a:ea typeface="Calibri"/>
              <a:cs typeface="Calibri"/>
              <a:sym typeface="Calibri"/>
            </a:endParaRPr>
          </a:p>
          <a:p>
            <a:pPr indent="0" lvl="0" marL="0" marR="0" rtl="0" algn="l">
              <a:spcBef>
                <a:spcPts val="300"/>
              </a:spcBef>
              <a:spcAft>
                <a:spcPts val="0"/>
              </a:spcAft>
              <a:buClr>
                <a:schemeClr val="dk1"/>
              </a:buClr>
              <a:buSzPts val="5000"/>
              <a:buFont typeface="Calibri"/>
              <a:buNone/>
            </a:pPr>
            <a:r>
              <a:t/>
            </a:r>
            <a:endParaRPr b="1" sz="5000">
              <a:solidFill>
                <a:srgbClr val="C1FF72"/>
              </a:solidFill>
              <a:latin typeface="IBM Plex Sans"/>
              <a:ea typeface="IBM Plex Sans"/>
              <a:cs typeface="IBM Plex Sans"/>
              <a:sym typeface="IBM Plex Sans"/>
            </a:endParaRPr>
          </a:p>
          <a:p>
            <a:pPr indent="0" lvl="0" marL="0" marR="0" rtl="0" algn="ctr">
              <a:lnSpc>
                <a:spcPct val="140000"/>
              </a:lnSpc>
              <a:spcBef>
                <a:spcPts val="0"/>
              </a:spcBef>
              <a:spcAft>
                <a:spcPts val="0"/>
              </a:spcAft>
              <a:buNone/>
            </a:pPr>
            <a:r>
              <a:t/>
            </a:r>
            <a:endParaRPr b="1" sz="5000">
              <a:solidFill>
                <a:srgbClr val="C1FF72"/>
              </a:solidFill>
              <a:latin typeface="IBM Plex Sans"/>
              <a:ea typeface="IBM Plex Sans"/>
              <a:cs typeface="IBM Plex Sans"/>
              <a:sym typeface="IBM Plex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3"/>
          <p:cNvSpPr/>
          <p:nvPr/>
        </p:nvSpPr>
        <p:spPr>
          <a:xfrm>
            <a:off x="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399" name="Google Shape;399;p13"/>
          <p:cNvSpPr/>
          <p:nvPr/>
        </p:nvSpPr>
        <p:spPr>
          <a:xfrm>
            <a:off x="129522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00" name="Google Shape;400;p13"/>
          <p:cNvSpPr/>
          <p:nvPr/>
        </p:nvSpPr>
        <p:spPr>
          <a:xfrm>
            <a:off x="14477882" y="761233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01" name="Google Shape;401;p13"/>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02" name="Google Shape;402;p13"/>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03" name="Google Shape;403;p13"/>
          <p:cNvSpPr/>
          <p:nvPr/>
        </p:nvSpPr>
        <p:spPr>
          <a:xfrm>
            <a:off x="1628024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04" name="Google Shape;404;p13"/>
          <p:cNvSpPr/>
          <p:nvPr/>
        </p:nvSpPr>
        <p:spPr>
          <a:xfrm>
            <a:off x="609601" y="9105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05" name="Google Shape;405;p13"/>
          <p:cNvSpPr txBox="1"/>
          <p:nvPr/>
        </p:nvSpPr>
        <p:spPr>
          <a:xfrm>
            <a:off x="8048625" y="571500"/>
            <a:ext cx="9761220" cy="9398635"/>
          </a:xfrm>
          <a:prstGeom prst="rect">
            <a:avLst/>
          </a:prstGeom>
          <a:noFill/>
          <a:ln>
            <a:noFill/>
          </a:ln>
        </p:spPr>
        <p:txBody>
          <a:bodyPr anchorCtr="0" anchor="t" bIns="0" lIns="0" spcFirstLastPara="1" rIns="0" wrap="square" tIns="0">
            <a:spAutoFit/>
          </a:bodyPr>
          <a:lstStyle/>
          <a:p>
            <a:pPr indent="0" lvl="0" marL="0" marR="0" rtl="0" algn="just">
              <a:lnSpc>
                <a:spcPct val="116999"/>
              </a:lnSpc>
              <a:spcBef>
                <a:spcPts val="0"/>
              </a:spcBef>
              <a:spcAft>
                <a:spcPts val="0"/>
              </a:spcAft>
              <a:buNone/>
            </a:pPr>
            <a:r>
              <a:rPr b="1" lang="en-US" sz="3000">
                <a:solidFill>
                  <a:srgbClr val="C1FF72"/>
                </a:solidFill>
                <a:latin typeface="Calibri"/>
                <a:ea typeface="Calibri"/>
                <a:cs typeface="Calibri"/>
                <a:sym typeface="Calibri"/>
              </a:rPr>
              <a:t>Add the following commands in your file and save it:</a:t>
            </a:r>
            <a:endParaRPr b="1" sz="3000">
              <a:solidFill>
                <a:srgbClr val="C1FF72"/>
              </a:solidFill>
              <a:latin typeface="Calibri"/>
              <a:ea typeface="Calibri"/>
              <a:cs typeface="Calibri"/>
              <a:sym typeface="Calibri"/>
            </a:endParaRPr>
          </a:p>
          <a:p>
            <a:pPr indent="0" lvl="0" marL="0" marR="0" rtl="0" algn="just">
              <a:lnSpc>
                <a:spcPct val="116999"/>
              </a:lnSpc>
              <a:spcBef>
                <a:spcPts val="0"/>
              </a:spcBef>
              <a:spcAft>
                <a:spcPts val="0"/>
              </a:spcAft>
              <a:buNone/>
            </a:pPr>
            <a:r>
              <a:rPr b="1" lang="en-US" sz="3000">
                <a:solidFill>
                  <a:srgbClr val="E5B8B7"/>
                </a:solidFill>
                <a:latin typeface="Calibri"/>
                <a:ea typeface="Calibri"/>
                <a:cs typeface="Calibri"/>
                <a:sym typeface="Calibri"/>
              </a:rPr>
              <a:t>#!/bin/bash</a:t>
            </a:r>
            <a:endParaRPr b="1" sz="3000">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None/>
            </a:pPr>
            <a:r>
              <a:rPr lang="en-US" sz="3000">
                <a:solidFill>
                  <a:schemeClr val="lt1"/>
                </a:solidFill>
                <a:latin typeface="Calibri"/>
                <a:ea typeface="Calibri"/>
                <a:cs typeface="Calibri"/>
                <a:sym typeface="Calibri"/>
              </a:rPr>
              <a:t># Display current date</a:t>
            </a:r>
            <a:endParaRPr sz="3000">
              <a:solidFill>
                <a:schemeClr val="lt1"/>
              </a:solidFill>
              <a:latin typeface="Calibri"/>
              <a:ea typeface="Calibri"/>
              <a:cs typeface="Calibri"/>
              <a:sym typeface="Calibri"/>
            </a:endParaRPr>
          </a:p>
          <a:p>
            <a:pPr indent="0" lvl="0" marL="0" marR="0" rtl="0" algn="just">
              <a:lnSpc>
                <a:spcPct val="116999"/>
              </a:lnSpc>
              <a:spcBef>
                <a:spcPts val="600"/>
              </a:spcBef>
              <a:spcAft>
                <a:spcPts val="0"/>
              </a:spcAft>
              <a:buNone/>
            </a:pPr>
            <a:r>
              <a:rPr b="1" lang="en-US" sz="3000">
                <a:solidFill>
                  <a:srgbClr val="E5B8B7"/>
                </a:solidFill>
                <a:latin typeface="Calibri"/>
                <a:ea typeface="Calibri"/>
                <a:cs typeface="Calibri"/>
                <a:sym typeface="Calibri"/>
              </a:rPr>
              <a:t>echo "Today is $(date)"</a:t>
            </a:r>
            <a:endParaRPr b="1" sz="3000">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None/>
            </a:pPr>
            <a:r>
              <a:rPr lang="en-US" sz="3000">
                <a:solidFill>
                  <a:schemeClr val="lt1"/>
                </a:solidFill>
                <a:latin typeface="Calibri"/>
                <a:ea typeface="Calibri"/>
                <a:cs typeface="Calibri"/>
                <a:sym typeface="Calibri"/>
              </a:rPr>
              <a:t># Prompt the user for a directory path</a:t>
            </a:r>
            <a:endParaRPr sz="3000">
              <a:solidFill>
                <a:schemeClr val="lt1"/>
              </a:solidFill>
              <a:latin typeface="Calibri"/>
              <a:ea typeface="Calibri"/>
              <a:cs typeface="Calibri"/>
              <a:sym typeface="Calibri"/>
            </a:endParaRPr>
          </a:p>
          <a:p>
            <a:pPr indent="0" lvl="0" marL="0" marR="0" rtl="0" algn="just">
              <a:lnSpc>
                <a:spcPct val="116999"/>
              </a:lnSpc>
              <a:spcBef>
                <a:spcPts val="600"/>
              </a:spcBef>
              <a:spcAft>
                <a:spcPts val="0"/>
              </a:spcAft>
              <a:buNone/>
            </a:pPr>
            <a:r>
              <a:rPr b="1" lang="en-US" sz="3000">
                <a:solidFill>
                  <a:srgbClr val="E5B8B7"/>
                </a:solidFill>
                <a:latin typeface="Calibri"/>
                <a:ea typeface="Calibri"/>
                <a:cs typeface="Calibri"/>
                <a:sym typeface="Calibri"/>
              </a:rPr>
              <a:t>echo -e "\nEnter the path to a directory:"</a:t>
            </a:r>
            <a:endParaRPr b="1" sz="3000">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None/>
            </a:pPr>
            <a:r>
              <a:rPr b="1" lang="en-US" sz="3000">
                <a:solidFill>
                  <a:srgbClr val="E5B8B7"/>
                </a:solidFill>
                <a:latin typeface="Calibri"/>
                <a:ea typeface="Calibri"/>
                <a:cs typeface="Calibri"/>
                <a:sym typeface="Calibri"/>
              </a:rPr>
              <a:t>read the_path</a:t>
            </a:r>
            <a:endParaRPr b="1" sz="3000">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None/>
            </a:pPr>
            <a:r>
              <a:rPr lang="en-US" sz="3000">
                <a:solidFill>
                  <a:schemeClr val="lt1"/>
                </a:solidFill>
                <a:latin typeface="Calibri"/>
                <a:ea typeface="Calibri"/>
                <a:cs typeface="Calibri"/>
                <a:sym typeface="Calibri"/>
              </a:rPr>
              <a:t># Check if the provided path is a valid directory</a:t>
            </a:r>
            <a:endParaRPr sz="3000">
              <a:solidFill>
                <a:schemeClr val="lt1"/>
              </a:solidFill>
              <a:latin typeface="Calibri"/>
              <a:ea typeface="Calibri"/>
              <a:cs typeface="Calibri"/>
              <a:sym typeface="Calibri"/>
            </a:endParaRPr>
          </a:p>
          <a:p>
            <a:pPr indent="0" lvl="0" marL="0" marR="0" rtl="0" algn="just">
              <a:lnSpc>
                <a:spcPct val="116999"/>
              </a:lnSpc>
              <a:spcBef>
                <a:spcPts val="600"/>
              </a:spcBef>
              <a:spcAft>
                <a:spcPts val="0"/>
              </a:spcAft>
              <a:buNone/>
            </a:pPr>
            <a:r>
              <a:rPr b="1" lang="en-US" sz="3000">
                <a:solidFill>
                  <a:srgbClr val="E5B8B7"/>
                </a:solidFill>
                <a:latin typeface="Calibri"/>
                <a:ea typeface="Calibri"/>
                <a:cs typeface="Calibri"/>
                <a:sym typeface="Calibri"/>
              </a:rPr>
              <a:t>if [ -d "$the_path" ]; then</a:t>
            </a:r>
            <a:endParaRPr b="1" sz="3000">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None/>
            </a:pPr>
            <a:r>
              <a:rPr b="1" lang="en-US" sz="3000">
                <a:solidFill>
                  <a:srgbClr val="E5B8B7"/>
                </a:solidFill>
                <a:latin typeface="Calibri"/>
                <a:ea typeface="Calibri"/>
                <a:cs typeface="Calibri"/>
                <a:sym typeface="Calibri"/>
              </a:rPr>
              <a:t>    echo -e "\nYour path contains the following files and folders:"</a:t>
            </a:r>
            <a:endParaRPr b="1" sz="3000">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None/>
            </a:pPr>
            <a:r>
              <a:rPr b="1" lang="en-US" sz="3000">
                <a:solidFill>
                  <a:srgbClr val="E5B8B7"/>
                </a:solidFill>
                <a:latin typeface="Calibri"/>
                <a:ea typeface="Calibri"/>
                <a:cs typeface="Calibri"/>
                <a:sym typeface="Calibri"/>
              </a:rPr>
              <a:t>    ls "$the_path"</a:t>
            </a:r>
            <a:endParaRPr b="1" sz="3000">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None/>
            </a:pPr>
            <a:r>
              <a:rPr b="1" lang="en-US" sz="3000">
                <a:solidFill>
                  <a:srgbClr val="E5B8B7"/>
                </a:solidFill>
                <a:latin typeface="Calibri"/>
                <a:ea typeface="Calibri"/>
                <a:cs typeface="Calibri"/>
                <a:sym typeface="Calibri"/>
              </a:rPr>
              <a:t>else</a:t>
            </a:r>
            <a:endParaRPr b="1" sz="3000">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None/>
            </a:pPr>
            <a:r>
              <a:rPr b="1" lang="en-US" sz="3000">
                <a:solidFill>
                  <a:srgbClr val="E5B8B7"/>
                </a:solidFill>
                <a:latin typeface="Calibri"/>
                <a:ea typeface="Calibri"/>
                <a:cs typeface="Calibri"/>
                <a:sym typeface="Calibri"/>
              </a:rPr>
              <a:t>    echo -e "\nInvalid directory path. Please try again."</a:t>
            </a:r>
            <a:endParaRPr b="1" sz="3000">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None/>
            </a:pPr>
            <a:r>
              <a:rPr b="1" lang="en-US" sz="3000">
                <a:solidFill>
                  <a:srgbClr val="E5B8B7"/>
                </a:solidFill>
                <a:latin typeface="Calibri"/>
                <a:ea typeface="Calibri"/>
                <a:cs typeface="Calibri"/>
                <a:sym typeface="Calibri"/>
              </a:rPr>
              <a:t>fi</a:t>
            </a:r>
            <a:endParaRPr b="1" sz="3000">
              <a:solidFill>
                <a:srgbClr val="E5B8B7"/>
              </a:solidFill>
              <a:latin typeface="Calibri"/>
              <a:ea typeface="Calibri"/>
              <a:cs typeface="Calibri"/>
              <a:sym typeface="Calibri"/>
            </a:endParaRPr>
          </a:p>
          <a:p>
            <a:pPr indent="0" lvl="0" marL="0" marR="0" rtl="0" algn="just">
              <a:lnSpc>
                <a:spcPct val="116999"/>
              </a:lnSpc>
              <a:spcBef>
                <a:spcPts val="0"/>
              </a:spcBef>
              <a:spcAft>
                <a:spcPts val="0"/>
              </a:spcAft>
              <a:buNone/>
            </a:pPr>
            <a:r>
              <a:rPr b="1" lang="en-US" sz="3000">
                <a:solidFill>
                  <a:srgbClr val="C1FF72"/>
                </a:solidFill>
                <a:latin typeface="Calibri"/>
                <a:ea typeface="Calibri"/>
                <a:cs typeface="Calibri"/>
                <a:sym typeface="Calibri"/>
              </a:rPr>
              <a:t>Executing the bash script </a:t>
            </a:r>
            <a:endParaRPr b="1" sz="3000">
              <a:solidFill>
                <a:srgbClr val="C1FF72"/>
              </a:solidFill>
              <a:latin typeface="Calibri"/>
              <a:ea typeface="Calibri"/>
              <a:cs typeface="Calibri"/>
              <a:sym typeface="Calibri"/>
            </a:endParaRPr>
          </a:p>
          <a:p>
            <a:pPr indent="0" lvl="0" marL="0" marR="0" rtl="0" algn="just">
              <a:lnSpc>
                <a:spcPct val="116999"/>
              </a:lnSpc>
              <a:spcBef>
                <a:spcPts val="600"/>
              </a:spcBef>
              <a:spcAft>
                <a:spcPts val="0"/>
              </a:spcAft>
              <a:buClr>
                <a:schemeClr val="lt1"/>
              </a:buClr>
              <a:buSzPts val="3000"/>
              <a:buFont typeface="Calibri"/>
              <a:buNone/>
            </a:pPr>
            <a:r>
              <a:rPr lang="en-US" sz="3000">
                <a:solidFill>
                  <a:schemeClr val="lt1"/>
                </a:solidFill>
                <a:latin typeface="Calibri"/>
                <a:ea typeface="Calibri"/>
                <a:cs typeface="Calibri"/>
                <a:sym typeface="Calibri"/>
              </a:rPr>
              <a:t>To make the script executable, assign execution rights to your user using this command:</a:t>
            </a:r>
            <a:r>
              <a:rPr lang="en-US" sz="3000">
                <a:solidFill>
                  <a:srgbClr val="E5B8B7"/>
                </a:solidFill>
                <a:latin typeface="Calibri"/>
                <a:ea typeface="Calibri"/>
                <a:cs typeface="Calibri"/>
                <a:sym typeface="Calibri"/>
              </a:rPr>
              <a:t>  </a:t>
            </a:r>
            <a:r>
              <a:rPr b="1" lang="en-US" sz="3000">
                <a:solidFill>
                  <a:srgbClr val="E5B8B7"/>
                </a:solidFill>
                <a:latin typeface="Calibri"/>
                <a:ea typeface="Calibri"/>
                <a:cs typeface="Calibri"/>
                <a:sym typeface="Calibri"/>
              </a:rPr>
              <a:t>chmod u+x run_all.sh</a:t>
            </a:r>
            <a:endParaRPr sz="3000">
              <a:solidFill>
                <a:srgbClr val="E5B8B7"/>
              </a:solidFill>
              <a:latin typeface="Calibri"/>
              <a:ea typeface="Calibri"/>
              <a:cs typeface="Calibri"/>
              <a:sym typeface="Calibri"/>
            </a:endParaRPr>
          </a:p>
          <a:p>
            <a:pPr indent="0" lvl="0" marL="0" marR="0" rtl="0" algn="just">
              <a:lnSpc>
                <a:spcPct val="116999"/>
              </a:lnSpc>
              <a:spcBef>
                <a:spcPts val="600"/>
              </a:spcBef>
              <a:spcAft>
                <a:spcPts val="0"/>
              </a:spcAft>
              <a:buClr>
                <a:schemeClr val="lt1"/>
              </a:buClr>
              <a:buSzPts val="3000"/>
              <a:buFont typeface="Calibri"/>
              <a:buNone/>
            </a:pPr>
            <a:r>
              <a:rPr lang="en-US" sz="3000">
                <a:solidFill>
                  <a:schemeClr val="lt1"/>
                </a:solidFill>
                <a:latin typeface="Calibri"/>
                <a:ea typeface="Calibri"/>
                <a:cs typeface="Calibri"/>
                <a:sym typeface="Calibri"/>
              </a:rPr>
              <a:t>Execute the script : </a:t>
            </a:r>
            <a:r>
              <a:rPr b="1" lang="en-US" sz="3000">
                <a:solidFill>
                  <a:srgbClr val="E5B8B7"/>
                </a:solidFill>
                <a:latin typeface="Calibri"/>
                <a:ea typeface="Calibri"/>
                <a:cs typeface="Calibri"/>
                <a:sym typeface="Calibri"/>
              </a:rPr>
              <a:t>sh run_all.sh</a:t>
            </a:r>
            <a:endParaRPr sz="3000">
              <a:solidFill>
                <a:srgbClr val="E5B8B7"/>
              </a:solidFill>
              <a:latin typeface="Calibri"/>
              <a:ea typeface="Calibri"/>
              <a:cs typeface="Calibri"/>
              <a:sym typeface="Calibri"/>
            </a:endParaRPr>
          </a:p>
        </p:txBody>
      </p:sp>
      <p:pic>
        <p:nvPicPr>
          <p:cNvPr id="406" name="Google Shape;406;p13"/>
          <p:cNvPicPr preferRelativeResize="0"/>
          <p:nvPr/>
        </p:nvPicPr>
        <p:blipFill rotWithShape="1">
          <a:blip r:embed="rId5">
            <a:alphaModFix/>
          </a:blip>
          <a:srcRect b="0" l="0" r="0" t="0"/>
          <a:stretch/>
        </p:blipFill>
        <p:spPr>
          <a:xfrm>
            <a:off x="457200" y="571500"/>
            <a:ext cx="7237095" cy="5055870"/>
          </a:xfrm>
          <a:prstGeom prst="rect">
            <a:avLst/>
          </a:prstGeom>
          <a:noFill/>
          <a:ln>
            <a:noFill/>
          </a:ln>
        </p:spPr>
      </p:pic>
      <p:pic>
        <p:nvPicPr>
          <p:cNvPr id="407" name="Google Shape;407;p13"/>
          <p:cNvPicPr preferRelativeResize="0"/>
          <p:nvPr/>
        </p:nvPicPr>
        <p:blipFill rotWithShape="1">
          <a:blip r:embed="rId6">
            <a:alphaModFix/>
          </a:blip>
          <a:srcRect b="0" l="0" r="0" t="0"/>
          <a:stretch/>
        </p:blipFill>
        <p:spPr>
          <a:xfrm>
            <a:off x="457200" y="5905500"/>
            <a:ext cx="7237095" cy="4029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4"/>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413" name="Google Shape;413;p14"/>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14" name="Google Shape;414;p14"/>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15" name="Google Shape;415;p14"/>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16" name="Google Shape;416;p14"/>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17" name="Google Shape;417;p14"/>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18" name="Google Shape;418;p14"/>
          <p:cNvSpPr/>
          <p:nvPr/>
        </p:nvSpPr>
        <p:spPr>
          <a:xfrm>
            <a:off x="878206" y="9725103"/>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19" name="Google Shape;419;p14"/>
          <p:cNvSpPr txBox="1"/>
          <p:nvPr/>
        </p:nvSpPr>
        <p:spPr>
          <a:xfrm>
            <a:off x="533400" y="1638300"/>
            <a:ext cx="16982440" cy="853948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Conditional programming plays a crucial role in shell scripting, allowing the execution of commands based on specific conditions rather than running all instructions sequentially. The </a:t>
            </a:r>
            <a:r>
              <a:rPr b="1" lang="en-US" sz="3000">
                <a:solidFill>
                  <a:srgbClr val="E5B8B7"/>
                </a:solidFill>
                <a:latin typeface="Calibri"/>
                <a:ea typeface="Calibri"/>
                <a:cs typeface="Calibri"/>
                <a:sym typeface="Calibri"/>
              </a:rPr>
              <a:t>if-else</a:t>
            </a:r>
            <a:r>
              <a:rPr b="1" lang="en-US" sz="3000">
                <a:solidFill>
                  <a:schemeClr val="lt1"/>
                </a:solidFill>
                <a:latin typeface="Calibri"/>
                <a:ea typeface="Calibri"/>
                <a:cs typeface="Calibri"/>
                <a:sym typeface="Calibri"/>
              </a:rPr>
              <a:t> statement in shell scripts enables decision-making by evaluating conditions and executing different blocks of code accordingly. When using</a:t>
            </a:r>
            <a:r>
              <a:rPr b="1" lang="en-US" sz="3000">
                <a:solidFill>
                  <a:srgbClr val="E5B8B7"/>
                </a:solidFill>
                <a:latin typeface="Calibri"/>
                <a:ea typeface="Calibri"/>
                <a:cs typeface="Calibri"/>
                <a:sym typeface="Calibri"/>
              </a:rPr>
              <a:t> if-else</a:t>
            </a:r>
            <a:r>
              <a:rPr b="1" lang="en-US" sz="3000">
                <a:solidFill>
                  <a:schemeClr val="lt1"/>
                </a:solidFill>
                <a:latin typeface="Calibri"/>
                <a:ea typeface="Calibri"/>
                <a:cs typeface="Calibri"/>
                <a:sym typeface="Calibri"/>
              </a:rPr>
              <a:t>, a condition is checked, and based on whether it evaluates to true or false, the corresponding set of statements is executed. This control structure helps in automating tasks that require logic-based execution, making scripts more dynamic and responsive to user input or system status. Additionally, </a:t>
            </a:r>
            <a:r>
              <a:rPr b="1" lang="en-US" sz="3000">
                <a:solidFill>
                  <a:srgbClr val="E5B8B7"/>
                </a:solidFill>
                <a:latin typeface="Calibri"/>
                <a:ea typeface="Calibri"/>
                <a:cs typeface="Calibri"/>
                <a:sym typeface="Calibri"/>
              </a:rPr>
              <a:t>elif </a:t>
            </a:r>
            <a:r>
              <a:rPr b="1" lang="en-US" sz="3000">
                <a:solidFill>
                  <a:schemeClr val="lt1"/>
                </a:solidFill>
                <a:latin typeface="Calibri"/>
                <a:ea typeface="Calibri"/>
                <a:cs typeface="Calibri"/>
                <a:sym typeface="Calibri"/>
              </a:rPr>
              <a:t>statements allow multiple conditions to be checked sequentially, ensuring efficient processing without unnecessary repetitions. Logical operators such as </a:t>
            </a:r>
            <a:r>
              <a:rPr b="1" lang="en-US" sz="3000">
                <a:solidFill>
                  <a:srgbClr val="E5B8B7"/>
                </a:solidFill>
                <a:latin typeface="Calibri"/>
                <a:ea typeface="Calibri"/>
                <a:cs typeface="Calibri"/>
                <a:sym typeface="Calibri"/>
              </a:rPr>
              <a:t>&amp;&amp; (AND)</a:t>
            </a:r>
            <a:r>
              <a:rPr b="1" lang="en-US" sz="3000">
                <a:solidFill>
                  <a:schemeClr val="lt1"/>
                </a:solidFill>
                <a:latin typeface="Calibri"/>
                <a:ea typeface="Calibri"/>
                <a:cs typeface="Calibri"/>
                <a:sym typeface="Calibri"/>
              </a:rPr>
              <a:t> and </a:t>
            </a:r>
            <a:r>
              <a:rPr b="1" lang="en-US" sz="3000">
                <a:solidFill>
                  <a:srgbClr val="E5B8B7"/>
                </a:solidFill>
                <a:latin typeface="Calibri"/>
                <a:ea typeface="Calibri"/>
                <a:cs typeface="Calibri"/>
                <a:sym typeface="Calibri"/>
              </a:rPr>
              <a:t>|| (OR)</a:t>
            </a:r>
            <a:r>
              <a:rPr b="1" lang="en-US" sz="3000">
                <a:solidFill>
                  <a:schemeClr val="lt1"/>
                </a:solidFill>
                <a:latin typeface="Calibri"/>
                <a:ea typeface="Calibri"/>
                <a:cs typeface="Calibri"/>
                <a:sym typeface="Calibri"/>
              </a:rPr>
              <a:t> extend the flexibility of conditional statements by combining multiple conditions. An alternative approach to conditional execution is the </a:t>
            </a:r>
            <a:r>
              <a:rPr b="1" lang="en-US" sz="3000">
                <a:solidFill>
                  <a:srgbClr val="E5B8B7"/>
                </a:solidFill>
                <a:latin typeface="Calibri"/>
                <a:ea typeface="Calibri"/>
                <a:cs typeface="Calibri"/>
                <a:sym typeface="Calibri"/>
              </a:rPr>
              <a:t>case </a:t>
            </a:r>
            <a:r>
              <a:rPr b="1" lang="en-US" sz="3000">
                <a:solidFill>
                  <a:schemeClr val="lt1"/>
                </a:solidFill>
                <a:latin typeface="Calibri"/>
                <a:ea typeface="Calibri"/>
                <a:cs typeface="Calibri"/>
                <a:sym typeface="Calibri"/>
              </a:rPr>
              <a:t>statement, which simplifies multiple-choice decision-making and is particularly useful for handling user input. By using conditional statements, shell scripts can intelligently process data, handle errors, and optimize automation, making them an essential component of programming for system administration and task automation.</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p:txBody>
      </p:sp>
      <p:grpSp>
        <p:nvGrpSpPr>
          <p:cNvPr id="420" name="Google Shape;420;p14"/>
          <p:cNvGrpSpPr/>
          <p:nvPr/>
        </p:nvGrpSpPr>
        <p:grpSpPr>
          <a:xfrm>
            <a:off x="1676716" y="266390"/>
            <a:ext cx="15228573" cy="1100455"/>
            <a:chOff x="-1738207" y="-94827"/>
            <a:chExt cx="20304764" cy="1467273"/>
          </a:xfrm>
        </p:grpSpPr>
        <p:sp>
          <p:nvSpPr>
            <p:cNvPr id="421" name="Google Shape;421;p14"/>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422" name="Google Shape;422;p14"/>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None/>
              </a:pPr>
              <a:r>
                <a:rPr b="1" lang="en-US" sz="5000">
                  <a:solidFill>
                    <a:srgbClr val="C1FF72"/>
                  </a:solidFill>
                  <a:latin typeface="IBM Plex Sans"/>
                  <a:ea typeface="IBM Plex Sans"/>
                  <a:cs typeface="IBM Plex Sans"/>
                  <a:sym typeface="IBM Plex Sans"/>
                </a:rPr>
                <a:t>Conditional Statements</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15"/>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428" name="Google Shape;428;p15"/>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29" name="Google Shape;429;p15"/>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30" name="Google Shape;430;p15"/>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31" name="Google Shape;431;p15"/>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32" name="Google Shape;432;p15"/>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33" name="Google Shape;433;p15"/>
          <p:cNvSpPr/>
          <p:nvPr/>
        </p:nvSpPr>
        <p:spPr>
          <a:xfrm>
            <a:off x="4572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34" name="Google Shape;434;p15"/>
          <p:cNvSpPr txBox="1"/>
          <p:nvPr/>
        </p:nvSpPr>
        <p:spPr>
          <a:xfrm>
            <a:off x="606425" y="1028700"/>
            <a:ext cx="16982440" cy="85394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Conditional statements (if/else)</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Expressions that produce a boolean result, either true or false, are called conditions. There are several ways to evaluate conditions, including </a:t>
            </a:r>
            <a:r>
              <a:rPr b="1" lang="en-US" sz="3000">
                <a:solidFill>
                  <a:srgbClr val="E5B8B7"/>
                </a:solidFill>
                <a:latin typeface="Calibri"/>
                <a:ea typeface="Calibri"/>
                <a:cs typeface="Calibri"/>
                <a:sym typeface="Calibri"/>
              </a:rPr>
              <a:t>if</a:t>
            </a: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if-else</a:t>
            </a: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if-elif-else</a:t>
            </a:r>
            <a:r>
              <a:rPr b="1" lang="en-US" sz="3000">
                <a:solidFill>
                  <a:schemeClr val="lt1"/>
                </a:solidFill>
                <a:latin typeface="Calibri"/>
                <a:ea typeface="Calibri"/>
                <a:cs typeface="Calibri"/>
                <a:sym typeface="Calibri"/>
              </a:rPr>
              <a:t> conditionals.</a:t>
            </a:r>
            <a:endParaRPr b="1" sz="3000">
              <a:solidFill>
                <a:schemeClr val="lt1"/>
              </a:solidFill>
              <a:latin typeface="Calibri"/>
              <a:ea typeface="Calibri"/>
              <a:cs typeface="Calibri"/>
              <a:sym typeface="Calibri"/>
            </a:endParaRPr>
          </a:p>
          <a:p>
            <a:pPr indent="0" lvl="0" marL="0" marR="0" rtl="0" algn="l">
              <a:spcBef>
                <a:spcPts val="10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l">
              <a:spcBef>
                <a:spcPts val="10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Syntax:</a:t>
            </a:r>
            <a:endParaRPr b="1" sz="3000">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condition ]];</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then</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statement</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elif </a:t>
            </a:r>
            <a:r>
              <a:rPr b="1" i="0" lang="en-US" sz="3000" u="none" cap="none" strike="noStrike">
                <a:solidFill>
                  <a:schemeClr val="lt1"/>
                </a:solidFill>
                <a:latin typeface="Calibri"/>
                <a:ea typeface="Calibri"/>
                <a:cs typeface="Calibri"/>
                <a:sym typeface="Calibri"/>
              </a:rPr>
              <a:t>[[ condition ]]; </a:t>
            </a:r>
            <a:r>
              <a:rPr b="1" i="0" lang="en-US" sz="3000" u="none" cap="none" strike="noStrike">
                <a:solidFill>
                  <a:srgbClr val="E5B8B7"/>
                </a:solidFill>
                <a:latin typeface="Calibri"/>
                <a:ea typeface="Calibri"/>
                <a:cs typeface="Calibri"/>
                <a:sym typeface="Calibri"/>
              </a:rPr>
              <a:t>then</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statement </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do this by default</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fi</a:t>
            </a:r>
            <a:endParaRPr b="1" i="0" sz="3000" u="none" cap="none" strike="noStrike">
              <a:solidFill>
                <a:schemeClr val="lt1"/>
              </a:solidFill>
              <a:latin typeface="Calibri"/>
              <a:ea typeface="Calibri"/>
              <a:cs typeface="Calibri"/>
              <a:sym typeface="Calibri"/>
            </a:endParaRPr>
          </a:p>
          <a:p>
            <a:pPr indent="0" lvl="0" marL="0" marR="0" rtl="0" algn="l">
              <a:lnSpc>
                <a:spcPct val="115000"/>
              </a:lnSpc>
              <a:spcBef>
                <a:spcPts val="700"/>
              </a:spcBef>
              <a:spcAft>
                <a:spcPts val="0"/>
              </a:spcAft>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6"/>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440" name="Google Shape;440;p16"/>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41" name="Google Shape;441;p16"/>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42" name="Google Shape;442;p16"/>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43" name="Google Shape;443;p1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44" name="Google Shape;444;p16"/>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45" name="Google Shape;445;p16"/>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46" name="Google Shape;446;p16"/>
          <p:cNvSpPr txBox="1"/>
          <p:nvPr/>
        </p:nvSpPr>
        <p:spPr>
          <a:xfrm>
            <a:off x="606425" y="1028700"/>
            <a:ext cx="16982440" cy="897953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Conditional statements (nested)</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A </a:t>
            </a:r>
            <a:r>
              <a:rPr b="1" lang="en-US" sz="3000">
                <a:solidFill>
                  <a:srgbClr val="E5B8B7"/>
                </a:solidFill>
                <a:latin typeface="Calibri"/>
                <a:ea typeface="Calibri"/>
                <a:cs typeface="Calibri"/>
                <a:sym typeface="Calibri"/>
              </a:rPr>
              <a:t>nested </a:t>
            </a:r>
            <a:r>
              <a:rPr b="1" lang="en-US" sz="3000">
                <a:solidFill>
                  <a:schemeClr val="lt1"/>
                </a:solidFill>
                <a:latin typeface="Calibri"/>
                <a:ea typeface="Calibri"/>
                <a:cs typeface="Calibri"/>
                <a:sym typeface="Calibri"/>
              </a:rPr>
              <a:t>statement refers to a conditional or control statement placed inside another statement. This allows for more complex decision-making where one condition depends on another. In shell scripting, nested statements are commonly used when multiple conditions must be evaluated sequentially.</a:t>
            </a:r>
            <a:endParaRPr b="1" sz="3000">
              <a:solidFill>
                <a:schemeClr val="lt1"/>
              </a:solidFill>
              <a:latin typeface="Calibri"/>
              <a:ea typeface="Calibri"/>
              <a:cs typeface="Calibri"/>
              <a:sym typeface="Calibri"/>
            </a:endParaRPr>
          </a:p>
          <a:p>
            <a:pPr indent="0" lvl="0" marL="0" marR="0" rtl="0" algn="l">
              <a:spcBef>
                <a:spcPts val="10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l">
              <a:spcBef>
                <a:spcPts val="10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Syntax:</a:t>
            </a:r>
            <a:endParaRPr b="1" sz="3000">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condition1 ]; </a:t>
            </a:r>
            <a:r>
              <a:rPr b="1" i="0" lang="en-US" sz="3000" u="none" cap="none" strike="noStrike">
                <a:solidFill>
                  <a:srgbClr val="E5B8B7"/>
                </a:solidFill>
                <a:latin typeface="Calibri"/>
                <a:ea typeface="Calibri"/>
                <a:cs typeface="Calibri"/>
                <a:sym typeface="Calibri"/>
              </a:rPr>
              <a:t>then</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condition2 ]; </a:t>
            </a:r>
            <a:r>
              <a:rPr b="1" i="0" lang="en-US" sz="3000" u="none" cap="none" strike="noStrike">
                <a:solidFill>
                  <a:srgbClr val="E5B8B7"/>
                </a:solidFill>
                <a:latin typeface="Calibri"/>
                <a:ea typeface="Calibri"/>
                <a:cs typeface="Calibri"/>
                <a:sym typeface="Calibri"/>
              </a:rPr>
              <a:t>then</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 Commands if both condition1 and condition2 are true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else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 Commands if condition1 is true but condition2 is false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a:t>
            </a:r>
            <a:r>
              <a:rPr b="1" i="0" lang="en-US" sz="3000" u="none" cap="none" strike="noStrike">
                <a:solidFill>
                  <a:srgbClr val="E5B8B7"/>
                </a:solidFill>
                <a:latin typeface="Calibri"/>
                <a:ea typeface="Calibri"/>
                <a:cs typeface="Calibri"/>
                <a:sym typeface="Calibri"/>
              </a:rPr>
              <a:t>fi</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    # Commands if condition1 is false</a:t>
            </a:r>
            <a:endParaRPr b="1" i="0" sz="3000" u="none" cap="none" strike="noStrike">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fi</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7"/>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452" name="Google Shape;452;p17"/>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53" name="Google Shape;453;p17"/>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54" name="Google Shape;454;p17"/>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55" name="Google Shape;455;p1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56" name="Google Shape;456;p17"/>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57" name="Google Shape;457;p17"/>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58" name="Google Shape;458;p17"/>
          <p:cNvSpPr txBox="1"/>
          <p:nvPr/>
        </p:nvSpPr>
        <p:spPr>
          <a:xfrm>
            <a:off x="606425" y="1028700"/>
            <a:ext cx="16982440" cy="897953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Conditional statements (Logical operators)</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Logical operators </a:t>
            </a:r>
            <a:r>
              <a:rPr b="1" lang="en-US" sz="3000">
                <a:solidFill>
                  <a:srgbClr val="E5B8B7"/>
                </a:solidFill>
                <a:latin typeface="Calibri"/>
                <a:ea typeface="Calibri"/>
                <a:cs typeface="Calibri"/>
                <a:sym typeface="Calibri"/>
              </a:rPr>
              <a:t>&amp;&amp; (AND)</a:t>
            </a:r>
            <a:r>
              <a:rPr b="1" lang="en-US" sz="3000">
                <a:solidFill>
                  <a:schemeClr val="lt1"/>
                </a:solidFill>
                <a:latin typeface="Calibri"/>
                <a:ea typeface="Calibri"/>
                <a:cs typeface="Calibri"/>
                <a:sym typeface="Calibri"/>
              </a:rPr>
              <a:t> and </a:t>
            </a:r>
            <a:r>
              <a:rPr b="1" lang="en-US" sz="3000">
                <a:solidFill>
                  <a:srgbClr val="E5B8B7"/>
                </a:solidFill>
                <a:latin typeface="Calibri"/>
                <a:ea typeface="Calibri"/>
                <a:cs typeface="Calibri"/>
                <a:sym typeface="Calibri"/>
              </a:rPr>
              <a:t>|| (OR)</a:t>
            </a:r>
            <a:r>
              <a:rPr b="1" lang="en-US" sz="3000">
                <a:solidFill>
                  <a:schemeClr val="lt1"/>
                </a:solidFill>
                <a:latin typeface="Calibri"/>
                <a:ea typeface="Calibri"/>
                <a:cs typeface="Calibri"/>
                <a:sym typeface="Calibri"/>
              </a:rPr>
              <a:t> are used in shell scripting to combine multiple conditions within an if statement. They help determine whether certain conditions should be evaluated together or separately.</a:t>
            </a:r>
            <a:endParaRPr b="1" sz="3000">
              <a:solidFill>
                <a:schemeClr val="lt1"/>
              </a:solidFill>
              <a:latin typeface="Calibri"/>
              <a:ea typeface="Calibri"/>
              <a:cs typeface="Calibri"/>
              <a:sym typeface="Calibri"/>
            </a:endParaRPr>
          </a:p>
          <a:p>
            <a:pPr indent="0" lvl="0" marL="0" marR="0" rtl="0" algn="l">
              <a:spcBef>
                <a:spcPts val="10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l">
              <a:spcBef>
                <a:spcPts val="10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Syntax:</a:t>
            </a:r>
            <a:endParaRPr b="1" sz="3000">
              <a:solidFill>
                <a:schemeClr val="lt1"/>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if </a:t>
            </a:r>
            <a:r>
              <a:rPr b="1" i="0" lang="en-US" sz="3000" u="none" cap="none" strike="noStrike">
                <a:solidFill>
                  <a:schemeClr val="lt1"/>
                </a:solidFill>
                <a:latin typeface="Calibri"/>
                <a:ea typeface="Calibri"/>
                <a:cs typeface="Calibri"/>
                <a:sym typeface="Calibri"/>
              </a:rPr>
              <a:t>[ condition1 ]</a:t>
            </a:r>
            <a:r>
              <a:rPr b="1" i="0" lang="en-US" sz="3000" u="none" cap="none" strike="noStrike">
                <a:solidFill>
                  <a:srgbClr val="E5B8B7"/>
                </a:solidFill>
                <a:latin typeface="Calibri"/>
                <a:ea typeface="Calibri"/>
                <a:cs typeface="Calibri"/>
                <a:sym typeface="Calibri"/>
              </a:rPr>
              <a:t> &amp;&amp; </a:t>
            </a:r>
            <a:r>
              <a:rPr b="1" i="0" lang="en-US" sz="3000" u="none" cap="none" strike="noStrike">
                <a:solidFill>
                  <a:schemeClr val="lt1"/>
                </a:solidFill>
                <a:latin typeface="Calibri"/>
                <a:ea typeface="Calibri"/>
                <a:cs typeface="Calibri"/>
                <a:sym typeface="Calibri"/>
              </a:rPr>
              <a:t>[ condition2 ];</a:t>
            </a:r>
            <a:r>
              <a:rPr b="1" i="0" lang="en-US" sz="3000" u="none" cap="none" strike="noStrike">
                <a:solidFill>
                  <a:srgbClr val="E5B8B7"/>
                </a:solidFill>
                <a:latin typeface="Calibri"/>
                <a:ea typeface="Calibri"/>
                <a:cs typeface="Calibri"/>
                <a:sym typeface="Calibri"/>
              </a:rPr>
              <a:t> then</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Commands if both condition1 and condition2 are true</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elif </a:t>
            </a:r>
            <a:r>
              <a:rPr b="1" i="0" lang="en-US" sz="3000" u="none" cap="none" strike="noStrike">
                <a:solidFill>
                  <a:schemeClr val="lt1"/>
                </a:solidFill>
                <a:latin typeface="Calibri"/>
                <a:ea typeface="Calibri"/>
                <a:cs typeface="Calibri"/>
                <a:sym typeface="Calibri"/>
              </a:rPr>
              <a:t>[ condition1 </a:t>
            </a:r>
            <a:r>
              <a:rPr b="1" i="0" lang="en-US" sz="3000" u="none" cap="none" strike="noStrike">
                <a:solidFill>
                  <a:srgbClr val="E5B8B7"/>
                </a:solidFill>
                <a:latin typeface="Calibri"/>
                <a:ea typeface="Calibri"/>
                <a:cs typeface="Calibri"/>
                <a:sym typeface="Calibri"/>
              </a:rPr>
              <a:t>] || </a:t>
            </a:r>
            <a:r>
              <a:rPr b="1" i="0" lang="en-US" sz="3000" u="none" cap="none" strike="noStrike">
                <a:solidFill>
                  <a:schemeClr val="lt1"/>
                </a:solidFill>
                <a:latin typeface="Calibri"/>
                <a:ea typeface="Calibri"/>
                <a:cs typeface="Calibri"/>
                <a:sym typeface="Calibri"/>
              </a:rPr>
              <a:t>[ condition2 ];</a:t>
            </a:r>
            <a:r>
              <a:rPr b="1" i="0" lang="en-US" sz="3000" u="none" cap="none" strike="noStrike">
                <a:solidFill>
                  <a:srgbClr val="E5B8B7"/>
                </a:solidFill>
                <a:latin typeface="Calibri"/>
                <a:ea typeface="Calibri"/>
                <a:cs typeface="Calibri"/>
                <a:sym typeface="Calibri"/>
              </a:rPr>
              <a:t> then</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Commands if at least one condition is true</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else</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 Commands if neither condition is true</a:t>
            </a:r>
            <a:endParaRPr b="1" i="0" sz="3000" u="none" cap="none" strike="noStrike">
              <a:solidFill>
                <a:srgbClr val="E5B8B7"/>
              </a:solidFill>
              <a:latin typeface="Calibri"/>
              <a:ea typeface="Calibri"/>
              <a:cs typeface="Calibri"/>
              <a:sym typeface="Calibri"/>
            </a:endParaRPr>
          </a:p>
          <a:p>
            <a:pPr indent="457200" lvl="2" marL="914400" marR="0" rtl="0" algn="l">
              <a:lnSpc>
                <a:spcPct val="115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fi</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8"/>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464" name="Google Shape;464;p18"/>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65" name="Google Shape;465;p18"/>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66" name="Google Shape;466;p18"/>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67" name="Google Shape;467;p18"/>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68" name="Google Shape;468;p18"/>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69" name="Google Shape;469;p18"/>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70" name="Google Shape;470;p18"/>
          <p:cNvSpPr txBox="1"/>
          <p:nvPr/>
        </p:nvSpPr>
        <p:spPr>
          <a:xfrm>
            <a:off x="606425" y="1028700"/>
            <a:ext cx="16982440" cy="897953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Conditional statements (case)</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The </a:t>
            </a:r>
            <a:r>
              <a:rPr b="1" lang="en-US" sz="3000">
                <a:solidFill>
                  <a:srgbClr val="E5B8B7"/>
                </a:solidFill>
                <a:latin typeface="Calibri"/>
                <a:ea typeface="Calibri"/>
                <a:cs typeface="Calibri"/>
                <a:sym typeface="Calibri"/>
              </a:rPr>
              <a:t>case </a:t>
            </a:r>
            <a:r>
              <a:rPr b="1" lang="en-US" sz="3000">
                <a:solidFill>
                  <a:schemeClr val="lt1"/>
                </a:solidFill>
                <a:latin typeface="Calibri"/>
                <a:ea typeface="Calibri"/>
                <a:cs typeface="Calibri"/>
                <a:sym typeface="Calibri"/>
              </a:rPr>
              <a:t>statement is an alternative to</a:t>
            </a:r>
            <a:r>
              <a:rPr b="1" lang="en-US" sz="3000">
                <a:solidFill>
                  <a:srgbClr val="E5B8B7"/>
                </a:solidFill>
                <a:latin typeface="Calibri"/>
                <a:ea typeface="Calibri"/>
                <a:cs typeface="Calibri"/>
                <a:sym typeface="Calibri"/>
              </a:rPr>
              <a:t> if-elif-else</a:t>
            </a:r>
            <a:r>
              <a:rPr b="1" lang="en-US" sz="3000">
                <a:solidFill>
                  <a:schemeClr val="lt1"/>
                </a:solidFill>
                <a:latin typeface="Calibri"/>
                <a:ea typeface="Calibri"/>
                <a:cs typeface="Calibri"/>
                <a:sym typeface="Calibri"/>
              </a:rPr>
              <a:t> in shell scripting, used for handling multiple choices efficiently. It is particularly useful when checking a single variable against multiple possible values.</a:t>
            </a:r>
            <a:endParaRPr b="1" sz="3000">
              <a:solidFill>
                <a:schemeClr val="lt1"/>
              </a:solidFill>
              <a:latin typeface="Calibri"/>
              <a:ea typeface="Calibri"/>
              <a:cs typeface="Calibri"/>
              <a:sym typeface="Calibri"/>
            </a:endParaRPr>
          </a:p>
          <a:p>
            <a:pPr indent="0" lvl="0" marL="0" marR="0" rtl="0" algn="l">
              <a:spcBef>
                <a:spcPts val="10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l">
              <a:spcBef>
                <a:spcPts val="10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Syntax:</a:t>
            </a:r>
            <a:endParaRPr b="1" sz="3000">
              <a:solidFill>
                <a:schemeClr val="lt1"/>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case </a:t>
            </a:r>
            <a:r>
              <a:rPr b="1" i="0" lang="en-US" sz="3000" u="none" cap="none" strike="noStrike">
                <a:solidFill>
                  <a:schemeClr val="lt1"/>
                </a:solidFill>
                <a:latin typeface="Calibri"/>
                <a:ea typeface="Calibri"/>
                <a:cs typeface="Calibri"/>
                <a:sym typeface="Calibri"/>
              </a:rPr>
              <a:t>variable </a:t>
            </a:r>
            <a:r>
              <a:rPr b="1" i="0" lang="en-US" sz="3000" u="none" cap="none" strike="noStrike">
                <a:solidFill>
                  <a:srgbClr val="E5B8B7"/>
                </a:solidFill>
                <a:latin typeface="Calibri"/>
                <a:ea typeface="Calibri"/>
                <a:cs typeface="Calibri"/>
                <a:sym typeface="Calibri"/>
              </a:rPr>
              <a:t>in</a:t>
            </a:r>
            <a:endParaRPr b="1" i="0" sz="3000" u="none" cap="none" strike="noStrike">
              <a:solidFill>
                <a:srgbClr val="E5B8B7"/>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option1) </a:t>
            </a:r>
            <a:endParaRPr b="1" i="0" sz="3000" u="none" cap="none" strike="noStrike">
              <a:solidFill>
                <a:srgbClr val="E5B8B7"/>
              </a:solidFill>
              <a:latin typeface="Calibri"/>
              <a:ea typeface="Calibri"/>
              <a:cs typeface="Calibri"/>
              <a:sym typeface="Calibri"/>
            </a:endParaRPr>
          </a:p>
          <a:p>
            <a:pPr indent="0" lvl="0" marL="0" marR="0" rtl="0" algn="l">
              <a:lnSpc>
                <a:spcPct val="100000"/>
              </a:lnSpc>
              <a:spcBef>
                <a:spcPts val="10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a:t>
            </a:r>
            <a:r>
              <a:rPr b="1" lang="en-US" sz="3000">
                <a:solidFill>
                  <a:schemeClr val="lt1"/>
                </a:solidFill>
                <a:latin typeface="Calibri"/>
                <a:ea typeface="Calibri"/>
                <a:cs typeface="Calibri"/>
                <a:sym typeface="Calibri"/>
              </a:rPr>
              <a:t># Commands for option1</a:t>
            </a:r>
            <a:endParaRPr b="1" sz="3000">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option2)</a:t>
            </a:r>
            <a:endParaRPr b="1" sz="3000">
              <a:solidFill>
                <a:srgbClr val="E5B8B7"/>
              </a:solidFill>
              <a:latin typeface="Calibri"/>
              <a:ea typeface="Calibri"/>
              <a:cs typeface="Calibri"/>
              <a:sym typeface="Calibri"/>
            </a:endParaRPr>
          </a:p>
          <a:p>
            <a:pPr indent="0" lvl="0" marL="0" marR="0" rtl="0" algn="l">
              <a:lnSpc>
                <a:spcPct val="100000"/>
              </a:lnSpc>
              <a:spcBef>
                <a:spcPts val="10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a:t>
            </a:r>
            <a:r>
              <a:rPr b="1" lang="en-US" sz="3000">
                <a:solidFill>
                  <a:schemeClr val="lt1"/>
                </a:solidFill>
                <a:latin typeface="Calibri"/>
                <a:ea typeface="Calibri"/>
                <a:cs typeface="Calibri"/>
                <a:sym typeface="Calibri"/>
              </a:rPr>
              <a:t> 			# Commands for option2</a:t>
            </a:r>
            <a:endParaRPr b="1" sz="3000">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endParaRPr b="1" sz="3000">
              <a:solidFill>
                <a:schemeClr val="lt1"/>
              </a:solidFill>
              <a:latin typeface="Calibri"/>
              <a:ea typeface="Calibri"/>
              <a:cs typeface="Calibri"/>
              <a:sym typeface="Calibri"/>
            </a:endParaRPr>
          </a:p>
          <a:p>
            <a:pPr indent="0" lvl="0" marL="0" marR="0" rtl="0" algn="l">
              <a:lnSpc>
                <a:spcPct val="100000"/>
              </a:lnSpc>
              <a:spcBef>
                <a:spcPts val="10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 Commands for all other cases</a:t>
            </a:r>
            <a:endParaRPr b="1" i="0" sz="3000" u="none" cap="none" strike="noStrike">
              <a:solidFill>
                <a:srgbClr val="E5B8B7"/>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a:t>
            </a:r>
            <a:r>
              <a:rPr b="1" i="0" lang="en-US" sz="3000" u="none" cap="none" strike="noStrike">
                <a:solidFill>
                  <a:schemeClr val="lt1"/>
                </a:solidFill>
                <a:latin typeface="Calibri"/>
                <a:ea typeface="Calibri"/>
                <a:cs typeface="Calibri"/>
                <a:sym typeface="Calibri"/>
              </a:rPr>
              <a:t>   	;;</a:t>
            </a:r>
            <a:endParaRPr b="1" i="0" sz="3000" u="none" cap="none" strike="noStrike">
              <a:solidFill>
                <a:srgbClr val="E5B8B7"/>
              </a:solidFill>
              <a:latin typeface="Calibri"/>
              <a:ea typeface="Calibri"/>
              <a:cs typeface="Calibri"/>
              <a:sym typeface="Calibri"/>
            </a:endParaRPr>
          </a:p>
          <a:p>
            <a:pPr indent="457200" lvl="2" marL="914400" marR="0" rtl="0" algn="l">
              <a:lnSpc>
                <a:spcPct val="100000"/>
              </a:lnSpc>
              <a:spcBef>
                <a:spcPts val="70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esac</a:t>
            </a:r>
            <a:endParaRPr b="1" i="0" sz="3000" u="none" cap="none" strike="noStrike">
              <a:solidFill>
                <a:srgbClr val="E5B8B7"/>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19"/>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476" name="Google Shape;476;p19"/>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77" name="Google Shape;477;p19"/>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78" name="Google Shape;478;p19"/>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79" name="Google Shape;479;p19"/>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80" name="Google Shape;480;p19"/>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81" name="Google Shape;481;p19"/>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82" name="Google Shape;482;p19"/>
          <p:cNvSpPr txBox="1"/>
          <p:nvPr/>
        </p:nvSpPr>
        <p:spPr>
          <a:xfrm>
            <a:off x="533400" y="1524635"/>
            <a:ext cx="7719060" cy="838390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Sample Program : </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#!/bin/bash</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"Enter a number:"</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read num</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Using if, else, if-else statements</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if [ $num -gt 0 ]; then</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"$num is positive."</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elif [ $num -lt 0 ]; then</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"$num is negative."</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else</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"$num is zero."</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fi</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a:t>
            </a:r>
            <a:endParaRPr b="1" sz="3000">
              <a:solidFill>
                <a:srgbClr val="E5B8B7"/>
              </a:solidFill>
              <a:latin typeface="Calibri"/>
              <a:ea typeface="Calibri"/>
              <a:cs typeface="Calibri"/>
              <a:sym typeface="Calibri"/>
            </a:endParaRPr>
          </a:p>
        </p:txBody>
      </p:sp>
      <p:sp>
        <p:nvSpPr>
          <p:cNvPr id="483" name="Google Shape;483;p19"/>
          <p:cNvSpPr txBox="1"/>
          <p:nvPr/>
        </p:nvSpPr>
        <p:spPr>
          <a:xfrm>
            <a:off x="9829800" y="1524635"/>
            <a:ext cx="7719060" cy="78771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Explanation:</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1. Reading User Input</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script starts by asking the user to enter a number using read num, storing the value in the variable num.</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2. Checking If a Number is Positive, Negative, or Zero (</a:t>
            </a:r>
            <a:r>
              <a:rPr b="1" lang="en-US" sz="3000">
                <a:solidFill>
                  <a:srgbClr val="E5B8B7"/>
                </a:solidFill>
                <a:latin typeface="Calibri"/>
                <a:ea typeface="Calibri"/>
                <a:cs typeface="Calibri"/>
                <a:sym typeface="Calibri"/>
              </a:rPr>
              <a:t>if-elif-else</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lang="en-US" sz="3000">
                <a:solidFill>
                  <a:srgbClr val="E5B8B7"/>
                </a:solidFill>
                <a:latin typeface="Calibri"/>
                <a:ea typeface="Calibri"/>
                <a:cs typeface="Calibri"/>
                <a:sym typeface="Calibri"/>
              </a:rPr>
              <a:t>if [ $num -gt 0 ]; then</a:t>
            </a:r>
            <a:r>
              <a:rPr b="1" lang="en-US" sz="3000">
                <a:solidFill>
                  <a:schemeClr val="lt1"/>
                </a:solidFill>
                <a:latin typeface="Calibri"/>
                <a:ea typeface="Calibri"/>
                <a:cs typeface="Calibri"/>
                <a:sym typeface="Calibri"/>
              </a:rPr>
              <a:t> → If num is greater than 0, it's positive.</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lang="en-US" sz="3000">
                <a:solidFill>
                  <a:srgbClr val="E5B8B7"/>
                </a:solidFill>
                <a:latin typeface="Calibri"/>
                <a:ea typeface="Calibri"/>
                <a:cs typeface="Calibri"/>
                <a:sym typeface="Calibri"/>
              </a:rPr>
              <a:t>elif [ $num -lt 0 ]; then</a:t>
            </a:r>
            <a:r>
              <a:rPr b="1" lang="en-US" sz="3000">
                <a:solidFill>
                  <a:schemeClr val="lt1"/>
                </a:solidFill>
                <a:latin typeface="Calibri"/>
                <a:ea typeface="Calibri"/>
                <a:cs typeface="Calibri"/>
                <a:sym typeface="Calibri"/>
              </a:rPr>
              <a:t> → If num is less than 0, it's negative.</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lang="en-US" sz="3000">
                <a:solidFill>
                  <a:srgbClr val="E5B8B7"/>
                </a:solidFill>
                <a:latin typeface="Calibri"/>
                <a:ea typeface="Calibri"/>
                <a:cs typeface="Calibri"/>
                <a:sym typeface="Calibri"/>
              </a:rPr>
              <a:t>else</a:t>
            </a:r>
            <a:r>
              <a:rPr b="1" lang="en-US" sz="3000">
                <a:solidFill>
                  <a:schemeClr val="lt1"/>
                </a:solidFill>
                <a:latin typeface="Calibri"/>
                <a:ea typeface="Calibri"/>
                <a:cs typeface="Calibri"/>
                <a:sym typeface="Calibri"/>
              </a:rPr>
              <a:t> → If neither condition matches, the number is zero.</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p:txBody>
      </p:sp>
      <p:cxnSp>
        <p:nvCxnSpPr>
          <p:cNvPr id="484" name="Google Shape;484;p19"/>
          <p:cNvCxnSpPr/>
          <p:nvPr/>
        </p:nvCxnSpPr>
        <p:spPr>
          <a:xfrm flipH="1">
            <a:off x="8915400" y="1714500"/>
            <a:ext cx="76200" cy="8077200"/>
          </a:xfrm>
          <a:prstGeom prst="straightConnector1">
            <a:avLst/>
          </a:prstGeom>
          <a:noFill/>
          <a:ln cap="flat" cmpd="dbl" w="28575">
            <a:solidFill>
              <a:srgbClr val="F4F8FB"/>
            </a:solidFill>
            <a:prstDash val="solid"/>
            <a:round/>
            <a:headEnd len="sm" w="sm" type="none"/>
            <a:tailEnd len="sm" w="sm" type="none"/>
          </a:ln>
        </p:spPr>
      </p:cxnSp>
      <p:sp>
        <p:nvSpPr>
          <p:cNvPr id="485" name="Google Shape;485;p19"/>
          <p:cNvSpPr txBox="1"/>
          <p:nvPr/>
        </p:nvSpPr>
        <p:spPr>
          <a:xfrm>
            <a:off x="533400" y="266700"/>
            <a:ext cx="16982440" cy="11404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This shell script demonstrates different types of conditional statements (</a:t>
            </a:r>
            <a:r>
              <a:rPr b="1" lang="en-US" sz="3000">
                <a:solidFill>
                  <a:srgbClr val="E5B8B7"/>
                </a:solidFill>
                <a:latin typeface="Calibri"/>
                <a:ea typeface="Calibri"/>
                <a:cs typeface="Calibri"/>
                <a:sym typeface="Calibri"/>
              </a:rPr>
              <a:t>if-else</a:t>
            </a:r>
            <a:r>
              <a:rPr b="1" lang="en-US" sz="3000">
                <a:solidFill>
                  <a:schemeClr val="lt1"/>
                </a:solidFill>
                <a:latin typeface="Calibri"/>
                <a:ea typeface="Calibri"/>
                <a:cs typeface="Calibri"/>
                <a:sym typeface="Calibri"/>
              </a:rPr>
              <a:t>,</a:t>
            </a:r>
            <a:r>
              <a:rPr b="1" lang="en-US" sz="3000">
                <a:solidFill>
                  <a:srgbClr val="E5B8B7"/>
                </a:solidFill>
                <a:latin typeface="Calibri"/>
                <a:ea typeface="Calibri"/>
                <a:cs typeface="Calibri"/>
                <a:sym typeface="Calibri"/>
              </a:rPr>
              <a:t> logical operators</a:t>
            </a:r>
            <a:r>
              <a:rPr b="1" lang="en-US" sz="3000">
                <a:solidFill>
                  <a:schemeClr val="lt1"/>
                </a:solidFill>
                <a:latin typeface="Calibri"/>
                <a:ea typeface="Calibri"/>
                <a:cs typeface="Calibri"/>
                <a:sym typeface="Calibri"/>
              </a:rPr>
              <a:t>, and </a:t>
            </a:r>
            <a:r>
              <a:rPr b="1" lang="en-US" sz="3000">
                <a:solidFill>
                  <a:srgbClr val="E5B8B7"/>
                </a:solidFill>
                <a:latin typeface="Calibri"/>
                <a:ea typeface="Calibri"/>
                <a:cs typeface="Calibri"/>
                <a:sym typeface="Calibri"/>
              </a:rPr>
              <a:t>case</a:t>
            </a:r>
            <a:r>
              <a:rPr b="1" lang="en-US" sz="3000">
                <a:solidFill>
                  <a:schemeClr val="lt1"/>
                </a:solidFill>
                <a:latin typeface="Calibri"/>
                <a:ea typeface="Calibri"/>
                <a:cs typeface="Calibri"/>
                <a:sym typeface="Calibri"/>
              </a:rPr>
              <a:t>) to evaluate user input.</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20"/>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491" name="Google Shape;491;p20"/>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492" name="Google Shape;492;p20"/>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493" name="Google Shape;493;p20"/>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494" name="Google Shape;494;p20"/>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495" name="Google Shape;495;p20"/>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496" name="Google Shape;496;p20"/>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497" name="Google Shape;497;p20"/>
          <p:cNvSpPr txBox="1"/>
          <p:nvPr/>
        </p:nvSpPr>
        <p:spPr>
          <a:xfrm>
            <a:off x="533400" y="2552700"/>
            <a:ext cx="7719060" cy="47269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Sample Program : </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Using logical operators (&amp;&amp;, ||)</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if [ $((num % 2)) -eq 0 ] &amp;&amp; [ $num -ne 0 ]; then</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"$num is an even number."</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elif [ $num -ne 0 ]; then  </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"$num is an odd number."</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fi</a:t>
            </a:r>
            <a:endParaRPr b="1" sz="3000">
              <a:solidFill>
                <a:srgbClr val="E5B8B7"/>
              </a:solidFill>
              <a:latin typeface="Calibri"/>
              <a:ea typeface="Calibri"/>
              <a:cs typeface="Calibri"/>
              <a:sym typeface="Calibri"/>
            </a:endParaRPr>
          </a:p>
          <a:p>
            <a:pPr indent="457200" lvl="0" marL="0" marR="0" rtl="0" algn="l">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p:txBody>
      </p:sp>
      <p:sp>
        <p:nvSpPr>
          <p:cNvPr id="498" name="Google Shape;498;p20"/>
          <p:cNvSpPr txBox="1"/>
          <p:nvPr/>
        </p:nvSpPr>
        <p:spPr>
          <a:xfrm>
            <a:off x="10134600" y="2675890"/>
            <a:ext cx="7719060" cy="493458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Explanation:</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3. Checking Even or Odd Using Logical Operators (</a:t>
            </a:r>
            <a:r>
              <a:rPr b="1" lang="en-US" sz="3000">
                <a:solidFill>
                  <a:srgbClr val="E5B8B7"/>
                </a:solidFill>
                <a:latin typeface="Calibri"/>
                <a:ea typeface="Calibri"/>
                <a:cs typeface="Calibri"/>
                <a:sym typeface="Calibri"/>
              </a:rPr>
              <a:t>&amp;&amp; and ||</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lang="en-US" sz="3000">
                <a:solidFill>
                  <a:srgbClr val="E5B8B7"/>
                </a:solidFill>
                <a:latin typeface="Calibri"/>
                <a:ea typeface="Calibri"/>
                <a:cs typeface="Calibri"/>
                <a:sym typeface="Calibri"/>
              </a:rPr>
              <a:t>if [ $((num % 2)) -eq 0 ] &amp;&amp; [ $num -ne 0 ]; then</a:t>
            </a:r>
            <a:r>
              <a:rPr b="1" lang="en-US" sz="3000">
                <a:solidFill>
                  <a:schemeClr val="lt1"/>
                </a:solidFill>
                <a:latin typeface="Calibri"/>
                <a:ea typeface="Calibri"/>
                <a:cs typeface="Calibri"/>
                <a:sym typeface="Calibri"/>
              </a:rPr>
              <a:t> → Checks if num is divisible by 2 (even) and not zero.</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rgbClr val="E5B8B7"/>
              </a:buClr>
              <a:buSzPts val="3000"/>
              <a:buFont typeface="Arial"/>
              <a:buChar char="•"/>
            </a:pPr>
            <a:r>
              <a:rPr b="1" lang="en-US" sz="3000">
                <a:solidFill>
                  <a:srgbClr val="E5B8B7"/>
                </a:solidFill>
                <a:latin typeface="Calibri"/>
                <a:ea typeface="Calibri"/>
                <a:cs typeface="Calibri"/>
                <a:sym typeface="Calibri"/>
              </a:rPr>
              <a:t>elif [ $num -ne 0 ]; then</a:t>
            </a:r>
            <a:r>
              <a:rPr b="1" lang="en-US" sz="3000">
                <a:solidFill>
                  <a:schemeClr val="lt1"/>
                </a:solidFill>
                <a:latin typeface="Calibri"/>
                <a:ea typeface="Calibri"/>
                <a:cs typeface="Calibri"/>
                <a:sym typeface="Calibri"/>
              </a:rPr>
              <a:t> → If num is not zero, it's odd.</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p:txBody>
      </p:sp>
      <p:cxnSp>
        <p:nvCxnSpPr>
          <p:cNvPr id="499" name="Google Shape;499;p20"/>
          <p:cNvCxnSpPr/>
          <p:nvPr/>
        </p:nvCxnSpPr>
        <p:spPr>
          <a:xfrm flipH="1">
            <a:off x="8915400" y="502285"/>
            <a:ext cx="45085" cy="9289415"/>
          </a:xfrm>
          <a:prstGeom prst="straightConnector1">
            <a:avLst/>
          </a:prstGeom>
          <a:noFill/>
          <a:ln cap="flat" cmpd="dbl" w="28575">
            <a:solidFill>
              <a:srgbClr val="F4F8FB"/>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21"/>
          <p:cNvSpPr/>
          <p:nvPr/>
        </p:nvSpPr>
        <p:spPr>
          <a:xfrm>
            <a:off x="-76200" y="11430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05" name="Google Shape;505;p21"/>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06" name="Google Shape;506;p21"/>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07" name="Google Shape;507;p21"/>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08" name="Google Shape;508;p21"/>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09" name="Google Shape;509;p21"/>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10" name="Google Shape;510;p21"/>
          <p:cNvSpPr/>
          <p:nvPr/>
        </p:nvSpPr>
        <p:spPr>
          <a:xfrm>
            <a:off x="533401" y="8343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11" name="Google Shape;511;p21"/>
          <p:cNvSpPr txBox="1"/>
          <p:nvPr/>
        </p:nvSpPr>
        <p:spPr>
          <a:xfrm>
            <a:off x="533400" y="571500"/>
            <a:ext cx="7719060" cy="9337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Sample Program : </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Using case statement</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"Choose a category: (1) Fruit (2) Animal (3) Color"</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read choice</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case $choice in</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1) echo "You chose Fruit." ;;</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2) echo "You chose Animal." ;;</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3) echo "You chose Color." ;;</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 echo "Invalid choice." ;;</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esac</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a:t>
            </a:r>
            <a:endParaRPr b="1" sz="3000">
              <a:solidFill>
                <a:srgbClr val="E5B8B7"/>
              </a:solidFill>
              <a:latin typeface="Calibri"/>
              <a:ea typeface="Calibri"/>
              <a:cs typeface="Calibri"/>
              <a:sym typeface="Calibri"/>
            </a:endParaRPr>
          </a:p>
        </p:txBody>
      </p:sp>
      <p:sp>
        <p:nvSpPr>
          <p:cNvPr id="512" name="Google Shape;512;p21"/>
          <p:cNvSpPr txBox="1"/>
          <p:nvPr/>
        </p:nvSpPr>
        <p:spPr>
          <a:xfrm>
            <a:off x="9829800" y="571500"/>
            <a:ext cx="7719060" cy="897953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Explanation:</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4. Using case Statement for Multiple Choices</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script prompts the user to select a category (Fruit, Animal, or Color).</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It reads the user's choice and evaluates it using case:</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If the user selects 1, it prints "You chose Fruit."</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If the user selects 2, it prints "You chose Animal."</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If the user selects 3, it prints "You chose Color."</a:t>
            </a:r>
            <a:endParaRPr b="1" sz="3000">
              <a:solidFill>
                <a:schemeClr val="lt1"/>
              </a:solidFill>
              <a:latin typeface="Calibri"/>
              <a:ea typeface="Calibri"/>
              <a:cs typeface="Calibri"/>
              <a:sym typeface="Calibri"/>
            </a:endParaRPr>
          </a:p>
          <a:p>
            <a:pPr indent="-457200" lvl="0" marL="457200" marR="0" rtl="0" algn="l">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Any other input results in "Invalid choice."</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p:txBody>
      </p:sp>
      <p:cxnSp>
        <p:nvCxnSpPr>
          <p:cNvPr id="513" name="Google Shape;513;p21"/>
          <p:cNvCxnSpPr/>
          <p:nvPr/>
        </p:nvCxnSpPr>
        <p:spPr>
          <a:xfrm flipH="1">
            <a:off x="8915400" y="502285"/>
            <a:ext cx="45085" cy="9289415"/>
          </a:xfrm>
          <a:prstGeom prst="straightConnector1">
            <a:avLst/>
          </a:prstGeom>
          <a:noFill/>
          <a:ln cap="flat" cmpd="dbl" w="28575">
            <a:solidFill>
              <a:srgbClr val="F4F8FB"/>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22"/>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19" name="Google Shape;519;p22"/>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20" name="Google Shape;520;p22"/>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21" name="Google Shape;521;p22"/>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22" name="Google Shape;522;p22"/>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23" name="Google Shape;523;p22"/>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24" name="Google Shape;524;p22"/>
          <p:cNvSpPr/>
          <p:nvPr/>
        </p:nvSpPr>
        <p:spPr>
          <a:xfrm>
            <a:off x="609601" y="85725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25" name="Google Shape;525;p22"/>
          <p:cNvSpPr txBox="1"/>
          <p:nvPr/>
        </p:nvSpPr>
        <p:spPr>
          <a:xfrm>
            <a:off x="533400" y="1366520"/>
            <a:ext cx="16982440" cy="853948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Loops in shell scripting are powerful constructs used to automate repetitive tasks, process data efficiently, and manage system operations. They allow a block of code to be executed multiple times based on certain conditions. There are three main types of loops in shell scripting: </a:t>
            </a:r>
            <a:r>
              <a:rPr b="1" lang="en-US" sz="3000">
                <a:solidFill>
                  <a:srgbClr val="E5B8B7"/>
                </a:solidFill>
                <a:latin typeface="Calibri"/>
                <a:ea typeface="Calibri"/>
                <a:cs typeface="Calibri"/>
                <a:sym typeface="Calibri"/>
              </a:rPr>
              <a:t>for, while, and until</a:t>
            </a:r>
            <a:r>
              <a:rPr b="1" lang="en-US" sz="3000">
                <a:solidFill>
                  <a:schemeClr val="lt1"/>
                </a:solidFill>
                <a:latin typeface="Calibri"/>
                <a:ea typeface="Calibri"/>
                <a:cs typeface="Calibri"/>
                <a:sym typeface="Calibri"/>
              </a:rPr>
              <a:t>.</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The for loop is ideal for iterating over a predefined list or a range of values. It cycles through each item in a sequence, executing the enclosed commands for every iteration. For example, a </a:t>
            </a:r>
            <a:r>
              <a:rPr b="1" lang="en-US" sz="3000">
                <a:solidFill>
                  <a:srgbClr val="E5B8B7"/>
                </a:solidFill>
                <a:latin typeface="Calibri"/>
                <a:ea typeface="Calibri"/>
                <a:cs typeface="Calibri"/>
                <a:sym typeface="Calibri"/>
              </a:rPr>
              <a:t>for </a:t>
            </a:r>
            <a:r>
              <a:rPr b="1" lang="en-US" sz="3000">
                <a:solidFill>
                  <a:schemeClr val="lt1"/>
                </a:solidFill>
                <a:latin typeface="Calibri"/>
                <a:ea typeface="Calibri"/>
                <a:cs typeface="Calibri"/>
                <a:sym typeface="Calibri"/>
              </a:rPr>
              <a:t>loop can process each file in a directory or iterate through numeric ranges systematically. The </a:t>
            </a:r>
            <a:r>
              <a:rPr b="1" lang="en-US" sz="3000">
                <a:solidFill>
                  <a:srgbClr val="E5B8B7"/>
                </a:solidFill>
                <a:latin typeface="Calibri"/>
                <a:ea typeface="Calibri"/>
                <a:cs typeface="Calibri"/>
                <a:sym typeface="Calibri"/>
              </a:rPr>
              <a:t>while </a:t>
            </a:r>
            <a:r>
              <a:rPr b="1" lang="en-US" sz="3000">
                <a:solidFill>
                  <a:schemeClr val="lt1"/>
                </a:solidFill>
                <a:latin typeface="Calibri"/>
                <a:ea typeface="Calibri"/>
                <a:cs typeface="Calibri"/>
                <a:sym typeface="Calibri"/>
              </a:rPr>
              <a:t>loop runs as long as a given condition remains true, making it suitable for situations where the number of iterations isn’t known beforehand. It is frequently used for checking system resources, monitoring file existence, or handling continuous user input until a stopping condition is met. On the other hand, the </a:t>
            </a:r>
            <a:r>
              <a:rPr b="1" lang="en-US" sz="3000">
                <a:solidFill>
                  <a:srgbClr val="E5B8B7"/>
                </a:solidFill>
                <a:latin typeface="Calibri"/>
                <a:ea typeface="Calibri"/>
                <a:cs typeface="Calibri"/>
                <a:sym typeface="Calibri"/>
              </a:rPr>
              <a:t>until </a:t>
            </a:r>
            <a:r>
              <a:rPr b="1" lang="en-US" sz="3000">
                <a:solidFill>
                  <a:schemeClr val="lt1"/>
                </a:solidFill>
                <a:latin typeface="Calibri"/>
                <a:ea typeface="Calibri"/>
                <a:cs typeface="Calibri"/>
                <a:sym typeface="Calibri"/>
              </a:rPr>
              <a:t>loop executes repeatedly until a specific condition becomes true. It is essentially the opposite of a </a:t>
            </a:r>
            <a:r>
              <a:rPr b="1" lang="en-US" sz="3000">
                <a:solidFill>
                  <a:srgbClr val="E5B8B7"/>
                </a:solidFill>
                <a:latin typeface="Calibri"/>
                <a:ea typeface="Calibri"/>
                <a:cs typeface="Calibri"/>
                <a:sym typeface="Calibri"/>
              </a:rPr>
              <a:t>while </a:t>
            </a:r>
            <a:r>
              <a:rPr b="1" lang="en-US" sz="3000">
                <a:solidFill>
                  <a:schemeClr val="lt1"/>
                </a:solidFill>
                <a:latin typeface="Calibri"/>
                <a:ea typeface="Calibri"/>
                <a:cs typeface="Calibri"/>
                <a:sym typeface="Calibri"/>
              </a:rPr>
              <a:t>loop, running as long as the condition remains false. This loop structure is useful in cases where you need to wait for a state to change before proceeding.</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Loops are enhanced by control statements such as </a:t>
            </a:r>
            <a:r>
              <a:rPr b="1" lang="en-US" sz="3000">
                <a:solidFill>
                  <a:srgbClr val="E5B8B7"/>
                </a:solidFill>
                <a:latin typeface="Calibri"/>
                <a:ea typeface="Calibri"/>
                <a:cs typeface="Calibri"/>
                <a:sym typeface="Calibri"/>
              </a:rPr>
              <a:t>break </a:t>
            </a:r>
            <a:r>
              <a:rPr b="1" lang="en-US" sz="3000">
                <a:solidFill>
                  <a:schemeClr val="lt1"/>
                </a:solidFill>
                <a:latin typeface="Calibri"/>
                <a:ea typeface="Calibri"/>
                <a:cs typeface="Calibri"/>
                <a:sym typeface="Calibri"/>
              </a:rPr>
              <a:t>(to exit a loop prematurely) and </a:t>
            </a:r>
            <a:r>
              <a:rPr b="1" lang="en-US" sz="3000">
                <a:solidFill>
                  <a:srgbClr val="E5B8B7"/>
                </a:solidFill>
                <a:latin typeface="Calibri"/>
                <a:ea typeface="Calibri"/>
                <a:cs typeface="Calibri"/>
                <a:sym typeface="Calibri"/>
              </a:rPr>
              <a:t>continue </a:t>
            </a:r>
            <a:r>
              <a:rPr b="1" lang="en-US" sz="3000">
                <a:solidFill>
                  <a:schemeClr val="lt1"/>
                </a:solidFill>
                <a:latin typeface="Calibri"/>
                <a:ea typeface="Calibri"/>
                <a:cs typeface="Calibri"/>
                <a:sym typeface="Calibri"/>
              </a:rPr>
              <a:t>(to skip an iteration and proceed to the next). Additionally, loops can be combined with conditional statements like </a:t>
            </a:r>
            <a:r>
              <a:rPr b="1" lang="en-US" sz="3000">
                <a:solidFill>
                  <a:srgbClr val="E5B8B7"/>
                </a:solidFill>
                <a:latin typeface="Calibri"/>
                <a:ea typeface="Calibri"/>
                <a:cs typeface="Calibri"/>
                <a:sym typeface="Calibri"/>
              </a:rPr>
              <a:t>if-else </a:t>
            </a:r>
            <a:r>
              <a:rPr b="1" lang="en-US" sz="3000">
                <a:solidFill>
                  <a:schemeClr val="lt1"/>
                </a:solidFill>
                <a:latin typeface="Calibri"/>
                <a:ea typeface="Calibri"/>
                <a:cs typeface="Calibri"/>
                <a:sym typeface="Calibri"/>
              </a:rPr>
              <a:t>to perform dynamic operations based on different conditions. Nested loops, where one loop exists within another, provide additional flexibility and are commonly used in complex automation scripts.</a:t>
            </a:r>
            <a:endParaRPr b="1" sz="3000">
              <a:solidFill>
                <a:schemeClr val="lt1"/>
              </a:solidFill>
              <a:latin typeface="Calibri"/>
              <a:ea typeface="Calibri"/>
              <a:cs typeface="Calibri"/>
              <a:sym typeface="Calibri"/>
            </a:endParaRPr>
          </a:p>
        </p:txBody>
      </p:sp>
      <p:grpSp>
        <p:nvGrpSpPr>
          <p:cNvPr id="526" name="Google Shape;526;p22"/>
          <p:cNvGrpSpPr/>
          <p:nvPr/>
        </p:nvGrpSpPr>
        <p:grpSpPr>
          <a:xfrm>
            <a:off x="1676716" y="266390"/>
            <a:ext cx="15228573" cy="1100455"/>
            <a:chOff x="-1738207" y="-94827"/>
            <a:chExt cx="20304764" cy="1467273"/>
          </a:xfrm>
        </p:grpSpPr>
        <p:sp>
          <p:nvSpPr>
            <p:cNvPr id="527" name="Google Shape;527;p22"/>
            <p:cNvSpPr/>
            <p:nvPr/>
          </p:nvSpPr>
          <p:spPr>
            <a:xfrm>
              <a:off x="0" y="0"/>
              <a:ext cx="18566557" cy="1371600"/>
            </a:xfrm>
            <a:custGeom>
              <a:rect b="b" l="l" r="r" t="t"/>
              <a:pathLst>
                <a:path extrusionOk="0" h="1371600" w="18566557">
                  <a:moveTo>
                    <a:pt x="0" y="0"/>
                  </a:moveTo>
                  <a:lnTo>
                    <a:pt x="18566557" y="0"/>
                  </a:lnTo>
                  <a:lnTo>
                    <a:pt x="18566557" y="1371600"/>
                  </a:lnTo>
                  <a:lnTo>
                    <a:pt x="0" y="1371600"/>
                  </a:lnTo>
                  <a:close/>
                </a:path>
              </a:pathLst>
            </a:custGeom>
            <a:solidFill>
              <a:srgbClr val="000000">
                <a:alpha val="0"/>
              </a:srgbClr>
            </a:solidFill>
            <a:ln>
              <a:noFill/>
            </a:ln>
          </p:spPr>
        </p:sp>
        <p:sp>
          <p:nvSpPr>
            <p:cNvPr id="528" name="Google Shape;528;p22"/>
            <p:cNvSpPr txBox="1"/>
            <p:nvPr/>
          </p:nvSpPr>
          <p:spPr>
            <a:xfrm>
              <a:off x="-1738207" y="-94827"/>
              <a:ext cx="20304760" cy="1467273"/>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None/>
              </a:pPr>
              <a:r>
                <a:rPr b="1" lang="en-US" sz="5000">
                  <a:solidFill>
                    <a:srgbClr val="C1FF72"/>
                  </a:solidFill>
                  <a:latin typeface="IBM Plex Sans"/>
                  <a:ea typeface="IBM Plex Sans"/>
                  <a:cs typeface="IBM Plex Sans"/>
                  <a:sym typeface="IBM Plex Sans"/>
                </a:rPr>
                <a:t>Loops: for, while, until</a:t>
              </a:r>
              <a:endParaRPr b="1" sz="5000">
                <a:solidFill>
                  <a:srgbClr val="C1FF72"/>
                </a:solidFill>
                <a:latin typeface="IBM Plex Sans"/>
                <a:ea typeface="IBM Plex Sans"/>
                <a:cs typeface="IBM Plex Sans"/>
                <a:sym typeface="IBM Plex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23"/>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34" name="Google Shape;534;p23"/>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35" name="Google Shape;535;p23"/>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36" name="Google Shape;536;p23"/>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37" name="Google Shape;537;p23"/>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38" name="Google Shape;538;p23"/>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39" name="Google Shape;539;p23"/>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40" name="Google Shape;540;p23"/>
          <p:cNvSpPr txBox="1"/>
          <p:nvPr/>
        </p:nvSpPr>
        <p:spPr>
          <a:xfrm>
            <a:off x="457200" y="723900"/>
            <a:ext cx="16982440" cy="9163685"/>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Loops in shell scripting play a crucial role in automating tasks and improving efficiency by executing a block of commands multiple times. They help reduce manual effort, making scripts more dynamic and adaptable to different situations.</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Types of Loops in Shell Scripting</a:t>
            </a:r>
            <a:endParaRPr b="1" sz="3000">
              <a:solidFill>
                <a:srgbClr val="C1FF72"/>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1. </a:t>
            </a:r>
            <a:r>
              <a:rPr b="1" lang="en-US" sz="3000">
                <a:solidFill>
                  <a:srgbClr val="E5B8B7"/>
                </a:solidFill>
                <a:latin typeface="Calibri"/>
                <a:ea typeface="Calibri"/>
                <a:cs typeface="Calibri"/>
                <a:sym typeface="Calibri"/>
              </a:rPr>
              <a:t>for </a:t>
            </a:r>
            <a:r>
              <a:rPr b="1" lang="en-US" sz="3000">
                <a:solidFill>
                  <a:schemeClr val="lt1"/>
                </a:solidFill>
                <a:latin typeface="Calibri"/>
                <a:ea typeface="Calibri"/>
                <a:cs typeface="Calibri"/>
                <a:sym typeface="Calibri"/>
              </a:rPr>
              <a:t>Loop – Iterates over a list or range</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The </a:t>
            </a:r>
            <a:r>
              <a:rPr b="1" lang="en-US" sz="3000">
                <a:solidFill>
                  <a:srgbClr val="E5B8B7"/>
                </a:solidFill>
                <a:latin typeface="Calibri"/>
                <a:ea typeface="Calibri"/>
                <a:cs typeface="Calibri"/>
                <a:sym typeface="Calibri"/>
              </a:rPr>
              <a:t>for </a:t>
            </a:r>
            <a:r>
              <a:rPr b="1" lang="en-US" sz="3000">
                <a:solidFill>
                  <a:schemeClr val="lt1"/>
                </a:solidFill>
                <a:latin typeface="Calibri"/>
                <a:ea typeface="Calibri"/>
                <a:cs typeface="Calibri"/>
                <a:sym typeface="Calibri"/>
              </a:rPr>
              <a:t>loop is useful when the number of iterations is known in advance. It allows the execution of commands for each element in a list or numeric sequence.</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Example: Iterating over a list of number</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for</a:t>
            </a:r>
            <a:r>
              <a:rPr b="1" lang="en-US" sz="3000">
                <a:solidFill>
                  <a:schemeClr val="lt1"/>
                </a:solidFill>
                <a:latin typeface="Calibri"/>
                <a:ea typeface="Calibri"/>
                <a:cs typeface="Calibri"/>
                <a:sym typeface="Calibri"/>
              </a:rPr>
              <a:t> i in {1..5}; do</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"Iteration $i"</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2. </a:t>
            </a:r>
            <a:r>
              <a:rPr b="1" lang="en-US" sz="3000">
                <a:solidFill>
                  <a:srgbClr val="E5B8B7"/>
                </a:solidFill>
                <a:latin typeface="Calibri"/>
                <a:ea typeface="Calibri"/>
                <a:cs typeface="Calibri"/>
                <a:sym typeface="Calibri"/>
              </a:rPr>
              <a:t>while </a:t>
            </a:r>
            <a:r>
              <a:rPr b="1" lang="en-US" sz="3000">
                <a:solidFill>
                  <a:schemeClr val="lt1"/>
                </a:solidFill>
                <a:latin typeface="Calibri"/>
                <a:ea typeface="Calibri"/>
                <a:cs typeface="Calibri"/>
                <a:sym typeface="Calibri"/>
              </a:rPr>
              <a:t>Loop – Executes as long as a condition is true</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The while loop runs indefinitely until the specified condition becomes false, making it ideal for scenarios where iterations depend on dynamic changes.</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24"/>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46" name="Google Shape;546;p24"/>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47" name="Google Shape;547;p24"/>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48" name="Google Shape;548;p24"/>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49" name="Google Shape;549;p24"/>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50" name="Google Shape;550;p24"/>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51" name="Google Shape;551;p24"/>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52" name="Google Shape;552;p24"/>
          <p:cNvSpPr txBox="1"/>
          <p:nvPr/>
        </p:nvSpPr>
        <p:spPr>
          <a:xfrm>
            <a:off x="457200" y="723900"/>
            <a:ext cx="16982440" cy="9163685"/>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Example: Counting from 1 to 5</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count=1</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while </a:t>
            </a:r>
            <a:r>
              <a:rPr b="1" lang="en-US" sz="3000">
                <a:solidFill>
                  <a:schemeClr val="lt1"/>
                </a:solidFill>
                <a:latin typeface="Calibri"/>
                <a:ea typeface="Calibri"/>
                <a:cs typeface="Calibri"/>
                <a:sym typeface="Calibri"/>
              </a:rPr>
              <a:t>[ $count -le 5 ]; </a:t>
            </a:r>
            <a:r>
              <a:rPr b="1" lang="en-US" sz="3000">
                <a:solidFill>
                  <a:srgbClr val="E5B8B7"/>
                </a:solidFill>
                <a:latin typeface="Calibri"/>
                <a:ea typeface="Calibri"/>
                <a:cs typeface="Calibri"/>
                <a:sym typeface="Calibri"/>
              </a:rPr>
              <a:t>do</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"Count: $count"</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((count++))</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endParaRPr b="1" sz="3000">
              <a:solidFill>
                <a:srgbClr val="E5B8B7"/>
              </a:solidFill>
              <a:latin typeface="Calibri"/>
              <a:ea typeface="Calibri"/>
              <a:cs typeface="Calibri"/>
              <a:sym typeface="Calibri"/>
            </a:endParaRPr>
          </a:p>
          <a:p>
            <a:pPr indent="457200" lvl="0" marL="0" marR="0" rtl="0" algn="just">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3. </a:t>
            </a:r>
            <a:r>
              <a:rPr b="1" lang="en-US" sz="3000">
                <a:solidFill>
                  <a:srgbClr val="E5B8B7"/>
                </a:solidFill>
                <a:latin typeface="Calibri"/>
                <a:ea typeface="Calibri"/>
                <a:cs typeface="Calibri"/>
                <a:sym typeface="Calibri"/>
              </a:rPr>
              <a:t>until </a:t>
            </a:r>
            <a:r>
              <a:rPr b="1" lang="en-US" sz="3000">
                <a:solidFill>
                  <a:schemeClr val="lt1"/>
                </a:solidFill>
                <a:latin typeface="Calibri"/>
                <a:ea typeface="Calibri"/>
                <a:cs typeface="Calibri"/>
                <a:sym typeface="Calibri"/>
              </a:rPr>
              <a:t>Loop – Executes until a condition is true</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Unlike </a:t>
            </a:r>
            <a:r>
              <a:rPr b="1" lang="en-US" sz="3000">
                <a:solidFill>
                  <a:srgbClr val="E5B8B7"/>
                </a:solidFill>
                <a:latin typeface="Calibri"/>
                <a:ea typeface="Calibri"/>
                <a:cs typeface="Calibri"/>
                <a:sym typeface="Calibri"/>
              </a:rPr>
              <a:t>while</a:t>
            </a:r>
            <a:r>
              <a:rPr b="1" lang="en-US" sz="3000">
                <a:solidFill>
                  <a:schemeClr val="lt1"/>
                </a:solidFill>
                <a:latin typeface="Calibri"/>
                <a:ea typeface="Calibri"/>
                <a:cs typeface="Calibri"/>
                <a:sym typeface="Calibri"/>
              </a:rPr>
              <a:t>, the </a:t>
            </a:r>
            <a:r>
              <a:rPr b="1" lang="en-US" sz="3000">
                <a:solidFill>
                  <a:srgbClr val="E5B8B7"/>
                </a:solidFill>
                <a:latin typeface="Calibri"/>
                <a:ea typeface="Calibri"/>
                <a:cs typeface="Calibri"/>
                <a:sym typeface="Calibri"/>
              </a:rPr>
              <a:t>until </a:t>
            </a:r>
            <a:r>
              <a:rPr b="1" lang="en-US" sz="3000">
                <a:solidFill>
                  <a:schemeClr val="lt1"/>
                </a:solidFill>
                <a:latin typeface="Calibri"/>
                <a:ea typeface="Calibri"/>
                <a:cs typeface="Calibri"/>
                <a:sym typeface="Calibri"/>
              </a:rPr>
              <a:t>loop runs as long as the condition is false and stops once the condition evaluates to true.</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num=1</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until </a:t>
            </a:r>
            <a:r>
              <a:rPr b="1" lang="en-US" sz="3000">
                <a:solidFill>
                  <a:schemeClr val="lt1"/>
                </a:solidFill>
                <a:latin typeface="Calibri"/>
                <a:ea typeface="Calibri"/>
                <a:cs typeface="Calibri"/>
                <a:sym typeface="Calibri"/>
              </a:rPr>
              <a:t>[ $num -gt 5 ]; </a:t>
            </a:r>
            <a:r>
              <a:rPr b="1" lang="en-US" sz="3000">
                <a:solidFill>
                  <a:srgbClr val="E5B8B7"/>
                </a:solidFill>
                <a:latin typeface="Calibri"/>
                <a:ea typeface="Calibri"/>
                <a:cs typeface="Calibri"/>
                <a:sym typeface="Calibri"/>
              </a:rPr>
              <a:t>do</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"Number: $num"</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((num++))</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457200"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25"/>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58" name="Google Shape;558;p25"/>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59" name="Google Shape;559;p25"/>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60" name="Google Shape;560;p25"/>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61" name="Google Shape;561;p25"/>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62" name="Google Shape;562;p25"/>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63" name="Google Shape;563;p25"/>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64" name="Google Shape;564;p25"/>
          <p:cNvSpPr txBox="1"/>
          <p:nvPr/>
        </p:nvSpPr>
        <p:spPr>
          <a:xfrm>
            <a:off x="457200" y="723900"/>
            <a:ext cx="16982440" cy="91636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C1FF72"/>
              </a:buClr>
              <a:buSzPts val="3000"/>
              <a:buFont typeface="Calibri"/>
              <a:buNone/>
            </a:pPr>
            <a:r>
              <a:rPr b="1" lang="en-US" sz="3000">
                <a:solidFill>
                  <a:srgbClr val="C1FF72"/>
                </a:solidFill>
                <a:latin typeface="Calibri"/>
                <a:ea typeface="Calibri"/>
                <a:cs typeface="Calibri"/>
                <a:sym typeface="Calibri"/>
              </a:rPr>
              <a:t>Loop Control Statements</a:t>
            </a:r>
            <a:endParaRPr b="1" sz="3000">
              <a:solidFill>
                <a:srgbClr val="C1FF72"/>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These statements modify loop behavior by controlling execution flow:</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break – Terminates the loop prematurely.</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continue – Skips the current iteration and moves to the next one.</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Example: Using break to exit a loop				Example: Using continue to skip an iteration</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for </a:t>
            </a:r>
            <a:r>
              <a:rPr b="1" lang="en-US" sz="3000">
                <a:solidFill>
                  <a:schemeClr val="lt1"/>
                </a:solidFill>
                <a:latin typeface="Calibri"/>
                <a:ea typeface="Calibri"/>
                <a:cs typeface="Calibri"/>
                <a:sym typeface="Calibri"/>
              </a:rPr>
              <a:t>i in {1..10}; </a:t>
            </a:r>
            <a:r>
              <a:rPr b="1" lang="en-US" sz="3000">
                <a:solidFill>
                  <a:srgbClr val="E5B8B7"/>
                </a:solidFill>
                <a:latin typeface="Calibri"/>
                <a:ea typeface="Calibri"/>
                <a:cs typeface="Calibri"/>
                <a:sym typeface="Calibri"/>
              </a:rPr>
              <a:t>do</a:t>
            </a: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for </a:t>
            </a:r>
            <a:r>
              <a:rPr b="1" lang="en-US" sz="3000">
                <a:solidFill>
                  <a:schemeClr val="lt1"/>
                </a:solidFill>
                <a:latin typeface="Calibri"/>
                <a:ea typeface="Calibri"/>
                <a:cs typeface="Calibri"/>
                <a:sym typeface="Calibri"/>
              </a:rPr>
              <a:t>i in {1..5}; </a:t>
            </a:r>
            <a:r>
              <a:rPr b="1" lang="en-US" sz="3000">
                <a:solidFill>
                  <a:srgbClr val="E5B8B7"/>
                </a:solidFill>
                <a:latin typeface="Calibri"/>
                <a:ea typeface="Calibri"/>
                <a:cs typeface="Calibri"/>
                <a:sym typeface="Calibri"/>
              </a:rPr>
              <a:t>do</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if </a:t>
            </a:r>
            <a:r>
              <a:rPr b="1" lang="en-US" sz="3000">
                <a:solidFill>
                  <a:schemeClr val="lt1"/>
                </a:solidFill>
                <a:latin typeface="Calibri"/>
                <a:ea typeface="Calibri"/>
                <a:cs typeface="Calibri"/>
                <a:sym typeface="Calibri"/>
              </a:rPr>
              <a:t>[ $i -eq 5 ]; </a:t>
            </a:r>
            <a:r>
              <a:rPr b="1" lang="en-US" sz="3000">
                <a:solidFill>
                  <a:srgbClr val="E5B8B7"/>
                </a:solidFill>
                <a:latin typeface="Calibri"/>
                <a:ea typeface="Calibri"/>
                <a:cs typeface="Calibri"/>
                <a:sym typeface="Calibri"/>
              </a:rPr>
              <a:t>then</a:t>
            </a: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if </a:t>
            </a:r>
            <a:r>
              <a:rPr b="1" lang="en-US" sz="3000">
                <a:solidFill>
                  <a:schemeClr val="lt1"/>
                </a:solidFill>
                <a:latin typeface="Calibri"/>
                <a:ea typeface="Calibri"/>
                <a:cs typeface="Calibri"/>
                <a:sym typeface="Calibri"/>
              </a:rPr>
              <a:t>[ $i -eq 3 ]; </a:t>
            </a:r>
            <a:r>
              <a:rPr b="1" lang="en-US" sz="3000">
                <a:solidFill>
                  <a:srgbClr val="E5B8B7"/>
                </a:solidFill>
                <a:latin typeface="Calibri"/>
                <a:ea typeface="Calibri"/>
                <a:cs typeface="Calibri"/>
                <a:sym typeface="Calibri"/>
              </a:rPr>
              <a:t>then</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break</a:t>
            </a: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continue</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fi</a:t>
            </a: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fi</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"Iteration $i"							</a:t>
            </a: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"Iteration $i"</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done</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26"/>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70" name="Google Shape;570;p26"/>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71" name="Google Shape;571;p26"/>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72" name="Google Shape;572;p26"/>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73" name="Google Shape;573;p26"/>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74" name="Google Shape;574;p26"/>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75" name="Google Shape;575;p26"/>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76" name="Google Shape;576;p26"/>
          <p:cNvSpPr txBox="1"/>
          <p:nvPr/>
        </p:nvSpPr>
        <p:spPr>
          <a:xfrm>
            <a:off x="457200" y="723900"/>
            <a:ext cx="16982440" cy="91636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Nested Loops</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Loops can be placed inside other loops to perform complex operations.</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Example: Nested for loop</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for </a:t>
            </a:r>
            <a:r>
              <a:rPr b="1" lang="en-US" sz="3000">
                <a:solidFill>
                  <a:schemeClr val="lt1"/>
                </a:solidFill>
                <a:latin typeface="Calibri"/>
                <a:ea typeface="Calibri"/>
                <a:cs typeface="Calibri"/>
                <a:sym typeface="Calibri"/>
              </a:rPr>
              <a:t>i in {1..3}; </a:t>
            </a:r>
            <a:r>
              <a:rPr b="1" lang="en-US" sz="3000">
                <a:solidFill>
                  <a:srgbClr val="E5B8B7"/>
                </a:solidFill>
                <a:latin typeface="Calibri"/>
                <a:ea typeface="Calibri"/>
                <a:cs typeface="Calibri"/>
                <a:sym typeface="Calibri"/>
              </a:rPr>
              <a:t>do</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for </a:t>
            </a:r>
            <a:r>
              <a:rPr b="1" lang="en-US" sz="3000">
                <a:solidFill>
                  <a:schemeClr val="lt1"/>
                </a:solidFill>
                <a:latin typeface="Calibri"/>
                <a:ea typeface="Calibri"/>
                <a:cs typeface="Calibri"/>
                <a:sym typeface="Calibri"/>
              </a:rPr>
              <a:t>j in {1..2}; </a:t>
            </a:r>
            <a:r>
              <a:rPr b="1" lang="en-US" sz="3000">
                <a:solidFill>
                  <a:srgbClr val="E5B8B7"/>
                </a:solidFill>
                <a:latin typeface="Calibri"/>
                <a:ea typeface="Calibri"/>
                <a:cs typeface="Calibri"/>
                <a:sym typeface="Calibri"/>
              </a:rPr>
              <a:t>do</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"Outer loop $i, Inner loop $j"</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a:t>
            </a:r>
            <a:r>
              <a:rPr b="1" lang="en-US" sz="3000">
                <a:solidFill>
                  <a:srgbClr val="E5B8B7"/>
                </a:solidFill>
                <a:latin typeface="Calibri"/>
                <a:ea typeface="Calibri"/>
                <a:cs typeface="Calibri"/>
                <a:sym typeface="Calibri"/>
              </a:rPr>
              <a:t>done</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endParaRPr b="1" sz="3000">
              <a:solidFill>
                <a:srgbClr val="E5B8B7"/>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27"/>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82" name="Google Shape;582;p27"/>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83" name="Google Shape;583;p27"/>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84" name="Google Shape;584;p27"/>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85" name="Google Shape;585;p27"/>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586" name="Google Shape;586;p27"/>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587" name="Google Shape;587;p27"/>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588" name="Google Shape;588;p27"/>
          <p:cNvSpPr txBox="1"/>
          <p:nvPr/>
        </p:nvSpPr>
        <p:spPr>
          <a:xfrm>
            <a:off x="457200" y="15836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#!/bin/bash</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FOR Loop: Iterates over numbers 1 to 5</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"For Loop Example:"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for </a:t>
            </a:r>
            <a:r>
              <a:rPr b="1" lang="en-US" sz="3000">
                <a:solidFill>
                  <a:schemeClr val="lt1"/>
                </a:solidFill>
                <a:latin typeface="Calibri"/>
                <a:ea typeface="Calibri"/>
                <a:cs typeface="Calibri"/>
                <a:sym typeface="Calibri"/>
              </a:rPr>
              <a:t>i in {1..5}; </a:t>
            </a:r>
            <a:r>
              <a:rPr b="1" lang="en-US" sz="3000">
                <a:solidFill>
                  <a:srgbClr val="E5B8B7"/>
                </a:solidFill>
                <a:latin typeface="Calibri"/>
                <a:ea typeface="Calibri"/>
                <a:cs typeface="Calibri"/>
                <a:sym typeface="Calibri"/>
              </a:rPr>
              <a:t>do</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"Iteration $i"</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WHILE Loop: Runs as long as count is &lt;= 5</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"While Loop Example:"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count=1</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while </a:t>
            </a:r>
            <a:r>
              <a:rPr b="1" lang="en-US" sz="3000">
                <a:solidFill>
                  <a:schemeClr val="lt1"/>
                </a:solidFill>
                <a:latin typeface="Calibri"/>
                <a:ea typeface="Calibri"/>
                <a:cs typeface="Calibri"/>
                <a:sym typeface="Calibri"/>
              </a:rPr>
              <a:t>[ $count -le 5 ];</a:t>
            </a:r>
            <a:r>
              <a:rPr b="1" lang="en-US" sz="3000">
                <a:solidFill>
                  <a:srgbClr val="E5B8B7"/>
                </a:solidFill>
                <a:latin typeface="Calibri"/>
                <a:ea typeface="Calibri"/>
                <a:cs typeface="Calibri"/>
                <a:sym typeface="Calibri"/>
              </a:rPr>
              <a:t> do</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"Count: $count"</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((count++))  </a:t>
            </a:r>
            <a:r>
              <a:rPr b="1" lang="en-US" sz="3000">
                <a:solidFill>
                  <a:schemeClr val="lt1"/>
                </a:solidFill>
                <a:latin typeface="Calibri"/>
                <a:ea typeface="Calibri"/>
                <a:cs typeface="Calibri"/>
                <a:sym typeface="Calibri"/>
              </a:rPr>
              <a:t># Increment count</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endParaRPr b="1" sz="3000">
              <a:solidFill>
                <a:srgbClr val="E5B8B7"/>
              </a:solidFill>
              <a:latin typeface="Calibri"/>
              <a:ea typeface="Calibri"/>
              <a:cs typeface="Calibri"/>
              <a:sym typeface="Calibri"/>
            </a:endParaRPr>
          </a:p>
        </p:txBody>
      </p:sp>
      <p:sp>
        <p:nvSpPr>
          <p:cNvPr id="589" name="Google Shape;589;p27"/>
          <p:cNvSpPr txBox="1"/>
          <p:nvPr/>
        </p:nvSpPr>
        <p:spPr>
          <a:xfrm>
            <a:off x="533400" y="266700"/>
            <a:ext cx="16982440" cy="1140460"/>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This shell script that demonstrates various types of loops, including for, while, until, loop control statements (break, continue), and nested loops.</a:t>
            </a:r>
            <a:endParaRPr b="1" sz="3000">
              <a:solidFill>
                <a:schemeClr val="lt1"/>
              </a:solidFill>
              <a:latin typeface="Calibri"/>
              <a:ea typeface="Calibri"/>
              <a:cs typeface="Calibri"/>
              <a:sym typeface="Calibri"/>
            </a:endParaRPr>
          </a:p>
          <a:p>
            <a:pPr indent="0" lvl="0" marL="0" marR="0" rtl="0" algn="l">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p:txBody>
      </p:sp>
      <p:sp>
        <p:nvSpPr>
          <p:cNvPr id="590" name="Google Shape;590;p27"/>
          <p:cNvSpPr txBox="1"/>
          <p:nvPr/>
        </p:nvSpPr>
        <p:spPr>
          <a:xfrm>
            <a:off x="10058400" y="15836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Explanation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1. for Loop:</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Iterates over a sequence {1..5}, printing each number.</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Used for structured, predefined iterations.</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2. while Loop:</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Runs as long as count is less than or equal to 5.</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Useful when the number of iterations isn't known beforehand.</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28"/>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596" name="Google Shape;596;p28"/>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597" name="Google Shape;597;p28"/>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598" name="Google Shape;598;p28"/>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599" name="Google Shape;599;p28"/>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00" name="Google Shape;600;p28"/>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01" name="Google Shape;601;p28"/>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02" name="Google Shape;602;p28"/>
          <p:cNvSpPr txBox="1"/>
          <p:nvPr/>
        </p:nvSpPr>
        <p:spPr>
          <a:xfrm>
            <a:off x="457200" y="5168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UNTIL Loop: Executes until num &gt; 5</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a:t>
            </a:r>
            <a:r>
              <a:rPr b="1" lang="en-US" sz="3000">
                <a:solidFill>
                  <a:schemeClr val="lt1"/>
                </a:solidFill>
                <a:latin typeface="Calibri"/>
                <a:ea typeface="Calibri"/>
                <a:cs typeface="Calibri"/>
                <a:sym typeface="Calibri"/>
              </a:rPr>
              <a:t> "Until Loop Example:"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num=1</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until</a:t>
            </a:r>
            <a:r>
              <a:rPr b="1" lang="en-US" sz="3000">
                <a:solidFill>
                  <a:schemeClr val="lt1"/>
                </a:solidFill>
                <a:latin typeface="Calibri"/>
                <a:ea typeface="Calibri"/>
                <a:cs typeface="Calibri"/>
                <a:sym typeface="Calibri"/>
              </a:rPr>
              <a:t> [ $num -gt 5 ];</a:t>
            </a:r>
            <a:r>
              <a:rPr b="1" lang="en-US" sz="3000">
                <a:solidFill>
                  <a:srgbClr val="E5B8B7"/>
                </a:solidFill>
                <a:latin typeface="Calibri"/>
                <a:ea typeface="Calibri"/>
                <a:cs typeface="Calibri"/>
                <a:sym typeface="Calibri"/>
              </a:rPr>
              <a:t> do</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"Number: $num"</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((num++))</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LOOP CONTROL STATEMENTS: Using Break and</a:t>
            </a:r>
            <a:r>
              <a:rPr b="1" lang="en-US" sz="3000">
                <a:solidFill>
                  <a:srgbClr val="E5B8B7"/>
                </a:solidFill>
                <a:latin typeface="Calibri"/>
                <a:ea typeface="Calibri"/>
                <a:cs typeface="Calibri"/>
                <a:sym typeface="Calibri"/>
              </a:rPr>
              <a:t> </a:t>
            </a:r>
            <a:r>
              <a:rPr b="1" lang="en-US" sz="3000">
                <a:solidFill>
                  <a:schemeClr val="lt1"/>
                </a:solidFill>
                <a:latin typeface="Calibri"/>
                <a:ea typeface="Calibri"/>
                <a:cs typeface="Calibri"/>
                <a:sym typeface="Calibri"/>
              </a:rPr>
              <a:t>Continue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"Loop Control Statements (Break &amp; Continue):"</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for</a:t>
            </a:r>
            <a:r>
              <a:rPr b="1" lang="en-US" sz="3000">
                <a:solidFill>
                  <a:schemeClr val="lt1"/>
                </a:solidFill>
                <a:latin typeface="Calibri"/>
                <a:ea typeface="Calibri"/>
                <a:cs typeface="Calibri"/>
                <a:sym typeface="Calibri"/>
              </a:rPr>
              <a:t> i in {1..10}; </a:t>
            </a:r>
            <a:r>
              <a:rPr b="1" lang="en-US" sz="3000">
                <a:solidFill>
                  <a:srgbClr val="E5B8B7"/>
                </a:solidFill>
                <a:latin typeface="Calibri"/>
                <a:ea typeface="Calibri"/>
                <a:cs typeface="Calibri"/>
                <a:sym typeface="Calibri"/>
              </a:rPr>
              <a:t>do</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if</a:t>
            </a:r>
            <a:r>
              <a:rPr b="1" lang="en-US" sz="3000">
                <a:solidFill>
                  <a:schemeClr val="lt1"/>
                </a:solidFill>
                <a:latin typeface="Calibri"/>
                <a:ea typeface="Calibri"/>
                <a:cs typeface="Calibri"/>
                <a:sym typeface="Calibri"/>
              </a:rPr>
              <a:t> [ $i -eq 5 ]; </a:t>
            </a:r>
            <a:r>
              <a:rPr b="1" lang="en-US" sz="3000">
                <a:solidFill>
                  <a:srgbClr val="E5B8B7"/>
                </a:solidFill>
                <a:latin typeface="Calibri"/>
                <a:ea typeface="Calibri"/>
                <a:cs typeface="Calibri"/>
                <a:sym typeface="Calibri"/>
              </a:rPr>
              <a:t>then</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"Breaking the loop at $i"</a:t>
            </a:r>
            <a:endParaRPr b="1" sz="3000">
              <a:solidFill>
                <a:schemeClr val="lt1"/>
              </a:solidFill>
              <a:latin typeface="Calibri"/>
              <a:ea typeface="Calibri"/>
              <a:cs typeface="Calibri"/>
              <a:sym typeface="Calibri"/>
            </a:endParaRPr>
          </a:p>
        </p:txBody>
      </p:sp>
      <p:sp>
        <p:nvSpPr>
          <p:cNvPr id="603" name="Google Shape;603;p28"/>
          <p:cNvSpPr txBox="1"/>
          <p:nvPr/>
        </p:nvSpPr>
        <p:spPr>
          <a:xfrm>
            <a:off x="10058400" y="5168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3. until Loop:</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Runs until num is greater than 5.</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Opposite of while, continues until the condition becomes true.</a:t>
            </a:r>
            <a:endParaRPr b="1" sz="3000">
              <a:solidFill>
                <a:schemeClr val="lt1"/>
              </a:solidFill>
              <a:latin typeface="Calibri"/>
              <a:ea typeface="Calibri"/>
              <a:cs typeface="Calibri"/>
              <a:sym typeface="Calibri"/>
            </a:endParaRPr>
          </a:p>
          <a:p>
            <a:pPr indent="0" lvl="0" marL="0" marR="0" rtl="0" algn="just">
              <a:lnSpc>
                <a:spcPct val="115000"/>
              </a:lnSpc>
              <a:spcBef>
                <a:spcPts val="700"/>
              </a:spcBef>
              <a:spcAft>
                <a:spcPts val="0"/>
              </a:spcAft>
              <a:buClr>
                <a:schemeClr val="dk1"/>
              </a:buClr>
              <a:buSzPts val="3000"/>
              <a:buFont typeface="Arial"/>
              <a:buNone/>
            </a:pPr>
            <a:r>
              <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4. Loop Control Statements (break, continue):</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break: Exits the loop entirely when i reaches 5.</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continue: Skips printing when i is 3, moving to the next iteration.</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29"/>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609" name="Google Shape;609;p29"/>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10" name="Google Shape;610;p29"/>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11" name="Google Shape;611;p29"/>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12" name="Google Shape;612;p29"/>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13" name="Google Shape;613;p29"/>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14" name="Google Shape;614;p29"/>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15" name="Google Shape;615;p29"/>
          <p:cNvSpPr txBox="1"/>
          <p:nvPr/>
        </p:nvSpPr>
        <p:spPr>
          <a:xfrm>
            <a:off x="457200" y="5168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break  </a:t>
            </a:r>
            <a:r>
              <a:rPr b="1" lang="en-US" sz="3000">
                <a:solidFill>
                  <a:schemeClr val="lt1"/>
                </a:solidFill>
                <a:latin typeface="Calibri"/>
                <a:ea typeface="Calibri"/>
                <a:cs typeface="Calibri"/>
                <a:sym typeface="Calibri"/>
              </a:rPr>
              <a:t># Exit loop when i equals 5</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fi</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if</a:t>
            </a:r>
            <a:r>
              <a:rPr b="1" lang="en-US" sz="3000">
                <a:solidFill>
                  <a:schemeClr val="lt1"/>
                </a:solidFill>
                <a:latin typeface="Calibri"/>
                <a:ea typeface="Calibri"/>
                <a:cs typeface="Calibri"/>
                <a:sym typeface="Calibri"/>
              </a:rPr>
              <a:t> [ $i -eq 3 ]; </a:t>
            </a:r>
            <a:r>
              <a:rPr b="1" lang="en-US" sz="3000">
                <a:solidFill>
                  <a:srgbClr val="E5B8B7"/>
                </a:solidFill>
                <a:latin typeface="Calibri"/>
                <a:ea typeface="Calibri"/>
                <a:cs typeface="Calibri"/>
                <a:sym typeface="Calibri"/>
              </a:rPr>
              <a:t>then</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"Skipping iteration $i"</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continue  </a:t>
            </a:r>
            <a:r>
              <a:rPr b="1" lang="en-US" sz="3000">
                <a:solidFill>
                  <a:schemeClr val="lt1"/>
                </a:solidFill>
                <a:latin typeface="Calibri"/>
                <a:ea typeface="Calibri"/>
                <a:cs typeface="Calibri"/>
                <a:sym typeface="Calibri"/>
              </a:rPr>
              <a:t># Skip iteration when i equals 3</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fi</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 </a:t>
            </a:r>
            <a:r>
              <a:rPr b="1" lang="en-US" sz="3000">
                <a:solidFill>
                  <a:schemeClr val="lt1"/>
                </a:solidFill>
                <a:latin typeface="Calibri"/>
                <a:ea typeface="Calibri"/>
                <a:cs typeface="Calibri"/>
                <a:sym typeface="Calibri"/>
              </a:rPr>
              <a:t>"Iteration $i"</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 NESTED LOOPS: Outer loop iterates 3 times,</a:t>
            </a:r>
            <a:r>
              <a:rPr b="1" lang="en-US" sz="3000">
                <a:solidFill>
                  <a:srgbClr val="E5B8B7"/>
                </a:solidFill>
                <a:latin typeface="Calibri"/>
                <a:ea typeface="Calibri"/>
                <a:cs typeface="Calibri"/>
                <a:sym typeface="Calibri"/>
              </a:rPr>
              <a:t> </a:t>
            </a:r>
            <a:r>
              <a:rPr b="1" lang="en-US" sz="3000">
                <a:solidFill>
                  <a:schemeClr val="lt1"/>
                </a:solidFill>
                <a:latin typeface="Calibri"/>
                <a:ea typeface="Calibri"/>
                <a:cs typeface="Calibri"/>
                <a:sym typeface="Calibri"/>
              </a:rPr>
              <a:t>Inner loop iterates 2 times</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a:t>
            </a:r>
            <a:r>
              <a:rPr b="1" lang="en-US" sz="3000">
                <a:solidFill>
                  <a:schemeClr val="lt1"/>
                </a:solidFill>
                <a:latin typeface="Calibri"/>
                <a:ea typeface="Calibri"/>
                <a:cs typeface="Calibri"/>
                <a:sym typeface="Calibri"/>
              </a:rPr>
              <a:t> "Nested Loop Example:"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for </a:t>
            </a:r>
            <a:r>
              <a:rPr b="1" lang="en-US" sz="3000">
                <a:solidFill>
                  <a:schemeClr val="lt1"/>
                </a:solidFill>
                <a:latin typeface="Calibri"/>
                <a:ea typeface="Calibri"/>
                <a:cs typeface="Calibri"/>
                <a:sym typeface="Calibri"/>
              </a:rPr>
              <a:t>outer in {1..3};</a:t>
            </a:r>
            <a:r>
              <a:rPr b="1" lang="en-US" sz="3000">
                <a:solidFill>
                  <a:srgbClr val="E5B8B7"/>
                </a:solidFill>
                <a:latin typeface="Calibri"/>
                <a:ea typeface="Calibri"/>
                <a:cs typeface="Calibri"/>
                <a:sym typeface="Calibri"/>
              </a:rPr>
              <a:t> do</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for</a:t>
            </a:r>
            <a:r>
              <a:rPr b="1" lang="en-US" sz="3000">
                <a:solidFill>
                  <a:schemeClr val="lt1"/>
                </a:solidFill>
                <a:latin typeface="Calibri"/>
                <a:ea typeface="Calibri"/>
                <a:cs typeface="Calibri"/>
                <a:sym typeface="Calibri"/>
              </a:rPr>
              <a:t> inner in {1..2}; </a:t>
            </a:r>
            <a:r>
              <a:rPr b="1" lang="en-US" sz="3000">
                <a:solidFill>
                  <a:srgbClr val="E5B8B7"/>
                </a:solidFill>
                <a:latin typeface="Calibri"/>
                <a:ea typeface="Calibri"/>
                <a:cs typeface="Calibri"/>
                <a:sym typeface="Calibri"/>
              </a:rPr>
              <a:t>do</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echo</a:t>
            </a:r>
            <a:r>
              <a:rPr b="1" lang="en-US" sz="3000">
                <a:solidFill>
                  <a:schemeClr val="lt1"/>
                </a:solidFill>
                <a:latin typeface="Calibri"/>
                <a:ea typeface="Calibri"/>
                <a:cs typeface="Calibri"/>
                <a:sym typeface="Calibri"/>
              </a:rPr>
              <a:t> "Outer Loop: $outer, Inner Loop: </a:t>
            </a:r>
            <a:endParaRPr b="1" sz="3000">
              <a:solidFill>
                <a:srgbClr val="E5B8B7"/>
              </a:solidFill>
              <a:latin typeface="Calibri"/>
              <a:ea typeface="Calibri"/>
              <a:cs typeface="Calibri"/>
              <a:sym typeface="Calibri"/>
            </a:endParaRPr>
          </a:p>
        </p:txBody>
      </p:sp>
      <p:sp>
        <p:nvSpPr>
          <p:cNvPr id="616" name="Google Shape;616;p29"/>
          <p:cNvSpPr txBox="1"/>
          <p:nvPr/>
        </p:nvSpPr>
        <p:spPr>
          <a:xfrm>
            <a:off x="10058400" y="516890"/>
            <a:ext cx="7978140" cy="8554085"/>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3000"/>
              <a:buFont typeface="Calibri"/>
              <a:buNone/>
            </a:pPr>
            <a:r>
              <a:rPr b="1" lang="en-US" sz="3000">
                <a:solidFill>
                  <a:schemeClr val="lt1"/>
                </a:solidFill>
                <a:latin typeface="Calibri"/>
                <a:ea typeface="Calibri"/>
                <a:cs typeface="Calibri"/>
                <a:sym typeface="Calibri"/>
              </a:rPr>
              <a:t>4. Nested Loops:</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outer loop runs 3 times.</a:t>
            </a:r>
            <a:endParaRPr b="1" sz="3000">
              <a:solidFill>
                <a:schemeClr val="lt1"/>
              </a:solidFill>
              <a:latin typeface="Calibri"/>
              <a:ea typeface="Calibri"/>
              <a:cs typeface="Calibri"/>
              <a:sym typeface="Calibri"/>
            </a:endParaRPr>
          </a:p>
          <a:p>
            <a:pPr indent="-457200" lvl="0" marL="457200" marR="0" rtl="0" algn="just">
              <a:lnSpc>
                <a:spcPct val="115000"/>
              </a:lnSpc>
              <a:spcBef>
                <a:spcPts val="700"/>
              </a:spcBef>
              <a:spcAft>
                <a:spcPts val="0"/>
              </a:spcAft>
              <a:buClr>
                <a:schemeClr val="lt1"/>
              </a:buClr>
              <a:buSzPts val="3000"/>
              <a:buFont typeface="Arial"/>
              <a:buChar char="•"/>
            </a:pPr>
            <a:r>
              <a:rPr b="1" lang="en-US" sz="3000">
                <a:solidFill>
                  <a:schemeClr val="lt1"/>
                </a:solidFill>
                <a:latin typeface="Calibri"/>
                <a:ea typeface="Calibri"/>
                <a:cs typeface="Calibri"/>
                <a:sym typeface="Calibri"/>
              </a:rPr>
              <a:t>The inner loop runs 2 times for each outer iteration, generating a grid-like pattern of execution.</a:t>
            </a:r>
            <a:endParaRPr b="1" sz="3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0"/>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9257" l="0" r="0" t="-9258"/>
            </a:stretch>
          </a:blipFill>
          <a:ln>
            <a:noFill/>
          </a:ln>
        </p:spPr>
      </p:sp>
      <p:sp>
        <p:nvSpPr>
          <p:cNvPr id="622" name="Google Shape;622;p30"/>
          <p:cNvSpPr/>
          <p:nvPr/>
        </p:nvSpPr>
        <p:spPr>
          <a:xfrm>
            <a:off x="1178385" y="1143961"/>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23" name="Google Shape;623;p30"/>
          <p:cNvSpPr/>
          <p:nvPr/>
        </p:nvSpPr>
        <p:spPr>
          <a:xfrm>
            <a:off x="13759697" y="7404052"/>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24" name="Google Shape;624;p30"/>
          <p:cNvSpPr/>
          <p:nvPr/>
        </p:nvSpPr>
        <p:spPr>
          <a:xfrm>
            <a:off x="3905257" y="7752002"/>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25" name="Google Shape;625;p30"/>
          <p:cNvSpPr/>
          <p:nvPr/>
        </p:nvSpPr>
        <p:spPr>
          <a:xfrm>
            <a:off x="13342850" y="1068395"/>
            <a:ext cx="2287216" cy="2287216"/>
          </a:xfrm>
          <a:custGeom>
            <a:rect b="b" l="l" r="r" t="t"/>
            <a:pathLst>
              <a:path extrusionOk="0" h="2287216" w="2287216">
                <a:moveTo>
                  <a:pt x="0" y="0"/>
                </a:moveTo>
                <a:lnTo>
                  <a:pt x="2287216" y="0"/>
                </a:lnTo>
                <a:lnTo>
                  <a:pt x="2287216" y="2287216"/>
                </a:lnTo>
                <a:lnTo>
                  <a:pt x="0" y="2287216"/>
                </a:lnTo>
                <a:lnTo>
                  <a:pt x="0" y="0"/>
                </a:lnTo>
                <a:close/>
              </a:path>
            </a:pathLst>
          </a:custGeom>
          <a:blipFill rotWithShape="1">
            <a:blip r:embed="rId4">
              <a:alphaModFix amt="44999"/>
            </a:blip>
            <a:stretch>
              <a:fillRect b="0" l="0" r="0" t="0"/>
            </a:stretch>
          </a:blipFill>
          <a:ln>
            <a:noFill/>
          </a:ln>
        </p:spPr>
      </p:sp>
      <p:sp>
        <p:nvSpPr>
          <p:cNvPr id="626" name="Google Shape;626;p30"/>
          <p:cNvSpPr/>
          <p:nvPr/>
        </p:nvSpPr>
        <p:spPr>
          <a:xfrm>
            <a:off x="16078312" y="495176"/>
            <a:ext cx="1595650" cy="1595650"/>
          </a:xfrm>
          <a:custGeom>
            <a:rect b="b" l="l" r="r" t="t"/>
            <a:pathLst>
              <a:path extrusionOk="0" h="1595650" w="1595650">
                <a:moveTo>
                  <a:pt x="0" y="0"/>
                </a:moveTo>
                <a:lnTo>
                  <a:pt x="1595650" y="0"/>
                </a:lnTo>
                <a:lnTo>
                  <a:pt x="1595650" y="1595650"/>
                </a:lnTo>
                <a:lnTo>
                  <a:pt x="0" y="1595650"/>
                </a:lnTo>
                <a:lnTo>
                  <a:pt x="0" y="0"/>
                </a:lnTo>
                <a:close/>
              </a:path>
            </a:pathLst>
          </a:custGeom>
          <a:blipFill rotWithShape="1">
            <a:blip r:embed="rId4">
              <a:alphaModFix amt="44999"/>
            </a:blip>
            <a:stretch>
              <a:fillRect b="0" l="0" r="0" t="0"/>
            </a:stretch>
          </a:blipFill>
          <a:ln>
            <a:noFill/>
          </a:ln>
        </p:spPr>
      </p:sp>
      <p:sp>
        <p:nvSpPr>
          <p:cNvPr id="627" name="Google Shape;627;p30"/>
          <p:cNvSpPr/>
          <p:nvPr/>
        </p:nvSpPr>
        <p:spPr>
          <a:xfrm>
            <a:off x="762001" y="8724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28" name="Google Shape;628;p30"/>
          <p:cNvSpPr txBox="1"/>
          <p:nvPr/>
        </p:nvSpPr>
        <p:spPr>
          <a:xfrm>
            <a:off x="457200" y="516890"/>
            <a:ext cx="7978140" cy="8554085"/>
          </a:xfrm>
          <a:prstGeom prst="rect">
            <a:avLst/>
          </a:prstGeom>
          <a:noFill/>
          <a:ln>
            <a:noFill/>
          </a:ln>
        </p:spPr>
        <p:txBody>
          <a:bodyPr anchorCtr="0" anchor="t" bIns="0" lIns="0" spcFirstLastPara="1" rIns="0" wrap="square" tIns="0">
            <a:noAutofit/>
          </a:bodyPr>
          <a:lstStyle/>
          <a:p>
            <a:pPr indent="15875" lvl="1" marL="457200" marR="0" rtl="0" algn="just">
              <a:lnSpc>
                <a:spcPct val="115000"/>
              </a:lnSpc>
              <a:spcBef>
                <a:spcPts val="0"/>
              </a:spcBef>
              <a:spcAft>
                <a:spcPts val="0"/>
              </a:spcAft>
              <a:buClr>
                <a:srgbClr val="E5B8B7"/>
              </a:buClr>
              <a:buSzPts val="3000"/>
              <a:buFont typeface="Calibri"/>
              <a:buNone/>
            </a:pPr>
            <a:r>
              <a:rPr b="1" i="0" lang="en-US" sz="3000" u="none" cap="none" strike="noStrike">
                <a:solidFill>
                  <a:srgbClr val="E5B8B7"/>
                </a:solidFill>
                <a:latin typeface="Calibri"/>
                <a:ea typeface="Calibri"/>
                <a:cs typeface="Calibri"/>
                <a:sym typeface="Calibri"/>
              </a:rPr>
              <a:t> $inner"</a:t>
            </a:r>
            <a:endParaRPr b="1" i="0" sz="3000" u="none" cap="none" strike="noStrike">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    done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done</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chemeClr val="dk1"/>
              </a:buClr>
              <a:buSzPts val="3000"/>
              <a:buFont typeface="Calibri"/>
              <a:buNone/>
            </a:pPr>
            <a:r>
              <a:t/>
            </a:r>
            <a:endParaRPr b="1" sz="3000">
              <a:solidFill>
                <a:srgbClr val="E5B8B7"/>
              </a:solidFill>
              <a:latin typeface="Calibri"/>
              <a:ea typeface="Calibri"/>
              <a:cs typeface="Calibri"/>
              <a:sym typeface="Calibri"/>
            </a:endParaRPr>
          </a:p>
          <a:p>
            <a:pPr indent="15875" lvl="0" marL="0" marR="0" rtl="0" algn="just">
              <a:lnSpc>
                <a:spcPct val="115000"/>
              </a:lnSpc>
              <a:spcBef>
                <a:spcPts val="700"/>
              </a:spcBef>
              <a:spcAft>
                <a:spcPts val="0"/>
              </a:spcAft>
              <a:buClr>
                <a:srgbClr val="E5B8B7"/>
              </a:buClr>
              <a:buSzPts val="3000"/>
              <a:buFont typeface="Calibri"/>
              <a:buNone/>
            </a:pPr>
            <a:r>
              <a:rPr b="1" lang="en-US" sz="3000">
                <a:solidFill>
                  <a:srgbClr val="E5B8B7"/>
                </a:solidFill>
                <a:latin typeface="Calibri"/>
                <a:ea typeface="Calibri"/>
                <a:cs typeface="Calibri"/>
                <a:sym typeface="Calibri"/>
              </a:rPr>
              <a:t>echo </a:t>
            </a:r>
            <a:r>
              <a:rPr b="1" lang="en-US" sz="3000">
                <a:solidFill>
                  <a:schemeClr val="lt1"/>
                </a:solidFill>
                <a:latin typeface="Calibri"/>
                <a:ea typeface="Calibri"/>
                <a:cs typeface="Calibri"/>
                <a:sym typeface="Calibri"/>
              </a:rPr>
              <a:t>"Script Execution Complete!"</a:t>
            </a:r>
            <a:endParaRPr b="1" sz="3000">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19" l="0" r="0" t="-9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31"/>
          <p:cNvSpPr/>
          <p:nvPr/>
        </p:nvSpPr>
        <p:spPr>
          <a:xfrm>
            <a:off x="438973" y="359817"/>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mt="44999"/>
            </a:blip>
            <a:stretch>
              <a:fillRect b="0" l="0" r="0" t="0"/>
            </a:stretch>
          </a:blipFill>
          <a:ln>
            <a:noFill/>
          </a:ln>
        </p:spPr>
      </p:sp>
      <p:sp>
        <p:nvSpPr>
          <p:cNvPr id="635" name="Google Shape;635;p31"/>
          <p:cNvSpPr txBox="1"/>
          <p:nvPr/>
        </p:nvSpPr>
        <p:spPr>
          <a:xfrm>
            <a:off x="4191005" y="647711"/>
            <a:ext cx="10364459" cy="897255"/>
          </a:xfrm>
          <a:prstGeom prst="rect">
            <a:avLst/>
          </a:prstGeom>
          <a:noFill/>
          <a:ln>
            <a:noFill/>
          </a:ln>
        </p:spPr>
        <p:txBody>
          <a:bodyPr anchorCtr="0" anchor="t" bIns="0" lIns="0" spcFirstLastPara="1" rIns="0" wrap="square" tIns="0">
            <a:spAutoFit/>
          </a:bodyPr>
          <a:lstStyle/>
          <a:p>
            <a:pPr indent="0" lvl="0" marL="0" marR="0" rtl="0" algn="ctr">
              <a:lnSpc>
                <a:spcPct val="87500"/>
              </a:lnSpc>
              <a:spcBef>
                <a:spcPts val="0"/>
              </a:spcBef>
              <a:spcAft>
                <a:spcPts val="0"/>
              </a:spcAft>
              <a:buNone/>
            </a:pPr>
            <a:r>
              <a:rPr b="1" lang="en-US" sz="8000">
                <a:solidFill>
                  <a:srgbClr val="C1FF72"/>
                </a:solidFill>
                <a:latin typeface="Calibri"/>
                <a:ea typeface="Calibri"/>
                <a:cs typeface="Calibri"/>
                <a:sym typeface="Calibri"/>
              </a:rPr>
              <a:t>Practice Lab</a:t>
            </a:r>
            <a:endParaRPr b="1" sz="5000" u="none" strike="noStrike">
              <a:solidFill>
                <a:srgbClr val="C1FF72"/>
              </a:solidFill>
              <a:latin typeface="IBM Plex Sans"/>
              <a:ea typeface="IBM Plex Sans"/>
              <a:cs typeface="IBM Plex Sans"/>
              <a:sym typeface="IBM Plex Sans"/>
            </a:endParaRPr>
          </a:p>
        </p:txBody>
      </p:sp>
      <p:sp>
        <p:nvSpPr>
          <p:cNvPr id="636" name="Google Shape;636;p31"/>
          <p:cNvSpPr/>
          <p:nvPr/>
        </p:nvSpPr>
        <p:spPr>
          <a:xfrm>
            <a:off x="15163526" y="7658401"/>
            <a:ext cx="2321051" cy="2321051"/>
          </a:xfrm>
          <a:custGeom>
            <a:rect b="b" l="l" r="r" t="t"/>
            <a:pathLst>
              <a:path extrusionOk="0" h="2321051" w="2321051">
                <a:moveTo>
                  <a:pt x="0" y="0"/>
                </a:moveTo>
                <a:lnTo>
                  <a:pt x="2321051" y="0"/>
                </a:lnTo>
                <a:lnTo>
                  <a:pt x="2321051" y="2321051"/>
                </a:lnTo>
                <a:lnTo>
                  <a:pt x="0" y="2321051"/>
                </a:lnTo>
                <a:lnTo>
                  <a:pt x="0" y="0"/>
                </a:lnTo>
                <a:close/>
              </a:path>
            </a:pathLst>
          </a:custGeom>
          <a:blipFill rotWithShape="1">
            <a:blip r:embed="rId4">
              <a:alphaModFix amt="44999"/>
            </a:blip>
            <a:stretch>
              <a:fillRect b="0" l="0" r="0" t="0"/>
            </a:stretch>
          </a:blipFill>
          <a:ln>
            <a:noFill/>
          </a:ln>
        </p:spPr>
      </p:sp>
      <p:sp>
        <p:nvSpPr>
          <p:cNvPr id="637" name="Google Shape;637;p31"/>
          <p:cNvSpPr/>
          <p:nvPr/>
        </p:nvSpPr>
        <p:spPr>
          <a:xfrm>
            <a:off x="5410227" y="8496229"/>
            <a:ext cx="1442186" cy="1442186"/>
          </a:xfrm>
          <a:custGeom>
            <a:rect b="b" l="l" r="r" t="t"/>
            <a:pathLst>
              <a:path extrusionOk="0" h="1442186" w="1442186">
                <a:moveTo>
                  <a:pt x="0" y="0"/>
                </a:moveTo>
                <a:lnTo>
                  <a:pt x="1442186" y="0"/>
                </a:lnTo>
                <a:lnTo>
                  <a:pt x="1442186" y="1442186"/>
                </a:lnTo>
                <a:lnTo>
                  <a:pt x="0" y="1442186"/>
                </a:lnTo>
                <a:lnTo>
                  <a:pt x="0" y="0"/>
                </a:lnTo>
                <a:close/>
              </a:path>
            </a:pathLst>
          </a:custGeom>
          <a:blipFill rotWithShape="1">
            <a:blip r:embed="rId4">
              <a:alphaModFix amt="44999"/>
            </a:blip>
            <a:stretch>
              <a:fillRect b="0" l="0" r="0" t="0"/>
            </a:stretch>
          </a:blipFill>
          <a:ln>
            <a:noFill/>
          </a:ln>
        </p:spPr>
      </p:sp>
      <p:sp>
        <p:nvSpPr>
          <p:cNvPr id="638" name="Google Shape;638;p31"/>
          <p:cNvSpPr/>
          <p:nvPr/>
        </p:nvSpPr>
        <p:spPr>
          <a:xfrm>
            <a:off x="12603787" y="1219582"/>
            <a:ext cx="2287216" cy="2287216"/>
          </a:xfrm>
          <a:custGeom>
            <a:rect b="b" l="l" r="r" t="t"/>
            <a:pathLst>
              <a:path extrusionOk="0" h="2287216" w="2287216">
                <a:moveTo>
                  <a:pt x="0" y="0"/>
                </a:moveTo>
                <a:lnTo>
                  <a:pt x="2287216" y="0"/>
                </a:lnTo>
                <a:lnTo>
                  <a:pt x="2287216" y="2287217"/>
                </a:lnTo>
                <a:lnTo>
                  <a:pt x="0" y="2287217"/>
                </a:lnTo>
                <a:lnTo>
                  <a:pt x="0" y="0"/>
                </a:lnTo>
                <a:close/>
              </a:path>
            </a:pathLst>
          </a:custGeom>
          <a:blipFill rotWithShape="1">
            <a:blip r:embed="rId4">
              <a:alphaModFix amt="44999"/>
            </a:blip>
            <a:stretch>
              <a:fillRect b="0" l="0" r="0" t="0"/>
            </a:stretch>
          </a:blipFill>
          <a:ln>
            <a:noFill/>
          </a:ln>
        </p:spPr>
      </p:sp>
      <p:sp>
        <p:nvSpPr>
          <p:cNvPr id="639" name="Google Shape;639;p31"/>
          <p:cNvSpPr/>
          <p:nvPr/>
        </p:nvSpPr>
        <p:spPr>
          <a:xfrm>
            <a:off x="15773512" y="921896"/>
            <a:ext cx="1595650" cy="1595650"/>
          </a:xfrm>
          <a:custGeom>
            <a:rect b="b" l="l" r="r" t="t"/>
            <a:pathLst>
              <a:path extrusionOk="0" h="1595650" w="1595650">
                <a:moveTo>
                  <a:pt x="0" y="0"/>
                </a:moveTo>
                <a:lnTo>
                  <a:pt x="1595650" y="0"/>
                </a:lnTo>
                <a:lnTo>
                  <a:pt x="1595650" y="1595651"/>
                </a:lnTo>
                <a:lnTo>
                  <a:pt x="0" y="1595651"/>
                </a:lnTo>
                <a:lnTo>
                  <a:pt x="0" y="0"/>
                </a:lnTo>
                <a:close/>
              </a:path>
            </a:pathLst>
          </a:custGeom>
          <a:blipFill rotWithShape="1">
            <a:blip r:embed="rId4">
              <a:alphaModFix amt="44999"/>
            </a:blip>
            <a:stretch>
              <a:fillRect b="0" l="0" r="0" t="0"/>
            </a:stretch>
          </a:blipFill>
          <a:ln>
            <a:noFill/>
          </a:ln>
        </p:spPr>
      </p:sp>
      <p:sp>
        <p:nvSpPr>
          <p:cNvPr id="640" name="Google Shape;640;p31"/>
          <p:cNvSpPr/>
          <p:nvPr/>
        </p:nvSpPr>
        <p:spPr>
          <a:xfrm>
            <a:off x="838201" y="7962978"/>
            <a:ext cx="1314702" cy="1314702"/>
          </a:xfrm>
          <a:custGeom>
            <a:rect b="b" l="l" r="r" t="t"/>
            <a:pathLst>
              <a:path extrusionOk="0" h="1314702" w="1314702">
                <a:moveTo>
                  <a:pt x="0" y="0"/>
                </a:moveTo>
                <a:lnTo>
                  <a:pt x="1314702" y="0"/>
                </a:lnTo>
                <a:lnTo>
                  <a:pt x="1314702" y="1314702"/>
                </a:lnTo>
                <a:lnTo>
                  <a:pt x="0" y="1314702"/>
                </a:lnTo>
                <a:lnTo>
                  <a:pt x="0" y="0"/>
                </a:lnTo>
                <a:close/>
              </a:path>
            </a:pathLst>
          </a:custGeom>
          <a:blipFill rotWithShape="1">
            <a:blip r:embed="rId4">
              <a:alphaModFix amt="44999"/>
            </a:blip>
            <a:stretch>
              <a:fillRect b="0" l="0" r="0" t="0"/>
            </a:stretch>
          </a:blipFill>
          <a:ln>
            <a:noFill/>
          </a:ln>
        </p:spPr>
      </p:sp>
      <p:sp>
        <p:nvSpPr>
          <p:cNvPr id="641" name="Google Shape;641;p31"/>
          <p:cNvSpPr txBox="1"/>
          <p:nvPr/>
        </p:nvSpPr>
        <p:spPr>
          <a:xfrm>
            <a:off x="914400" y="1866900"/>
            <a:ext cx="15971520" cy="4906010"/>
          </a:xfrm>
          <a:prstGeom prst="rect">
            <a:avLst/>
          </a:prstGeom>
          <a:noFill/>
          <a:ln>
            <a:noFill/>
          </a:ln>
        </p:spPr>
        <p:txBody>
          <a:bodyPr anchorCtr="0" anchor="t" bIns="0" lIns="0" spcFirstLastPara="1" rIns="0" wrap="square" tIns="0">
            <a:noAutofit/>
          </a:bodyPr>
          <a:lstStyle/>
          <a:p>
            <a:pPr indent="15875" lvl="0" marL="0" marR="0" rtl="0" algn="just">
              <a:lnSpc>
                <a:spcPct val="115000"/>
              </a:lnSpc>
              <a:spcBef>
                <a:spcPts val="0"/>
              </a:spcBef>
              <a:spcAft>
                <a:spcPts val="0"/>
              </a:spcAft>
              <a:buClr>
                <a:schemeClr val="lt1"/>
              </a:buClr>
              <a:buSzPts val="6000"/>
              <a:buFont typeface="Calibri"/>
              <a:buNone/>
            </a:pPr>
            <a:r>
              <a:rPr b="1" lang="en-US" sz="6000">
                <a:solidFill>
                  <a:schemeClr val="lt1"/>
                </a:solidFill>
                <a:latin typeface="Calibri"/>
                <a:ea typeface="Calibri"/>
                <a:cs typeface="Calibri"/>
                <a:sym typeface="Calibri"/>
              </a:rPr>
              <a:t>• Create a basic shell script.</a:t>
            </a:r>
            <a:endParaRPr b="1" sz="6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6000"/>
              <a:buFont typeface="Calibri"/>
              <a:buNone/>
            </a:pPr>
            <a:r>
              <a:rPr b="1" lang="en-US" sz="6000">
                <a:solidFill>
                  <a:schemeClr val="lt1"/>
                </a:solidFill>
                <a:latin typeface="Calibri"/>
                <a:ea typeface="Calibri"/>
                <a:cs typeface="Calibri"/>
                <a:sym typeface="Calibri"/>
              </a:rPr>
              <a:t>• Basic Shell Commands</a:t>
            </a:r>
            <a:endParaRPr b="1" sz="6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6000"/>
              <a:buFont typeface="Calibri"/>
              <a:buNone/>
            </a:pPr>
            <a:r>
              <a:rPr b="1" lang="en-US" sz="6000">
                <a:solidFill>
                  <a:schemeClr val="lt1"/>
                </a:solidFill>
                <a:latin typeface="Calibri"/>
                <a:ea typeface="Calibri"/>
                <a:cs typeface="Calibri"/>
                <a:sym typeface="Calibri"/>
              </a:rPr>
              <a:t>• Write scripts using </a:t>
            </a:r>
            <a:r>
              <a:rPr b="1" lang="en-US" sz="6000">
                <a:solidFill>
                  <a:srgbClr val="E5B8B7"/>
                </a:solidFill>
                <a:latin typeface="Calibri"/>
                <a:ea typeface="Calibri"/>
                <a:cs typeface="Calibri"/>
                <a:sym typeface="Calibri"/>
              </a:rPr>
              <a:t>if</a:t>
            </a:r>
            <a:r>
              <a:rPr b="1" lang="en-US" sz="6000">
                <a:solidFill>
                  <a:schemeClr val="lt1"/>
                </a:solidFill>
                <a:latin typeface="Calibri"/>
                <a:ea typeface="Calibri"/>
                <a:cs typeface="Calibri"/>
                <a:sym typeface="Calibri"/>
              </a:rPr>
              <a:t>, </a:t>
            </a:r>
            <a:r>
              <a:rPr b="1" lang="en-US" sz="6000">
                <a:solidFill>
                  <a:srgbClr val="E5B8B7"/>
                </a:solidFill>
                <a:latin typeface="Calibri"/>
                <a:ea typeface="Calibri"/>
                <a:cs typeface="Calibri"/>
                <a:sym typeface="Calibri"/>
              </a:rPr>
              <a:t>if-else</a:t>
            </a:r>
            <a:r>
              <a:rPr b="1" lang="en-US" sz="6000">
                <a:solidFill>
                  <a:schemeClr val="lt1"/>
                </a:solidFill>
                <a:latin typeface="Calibri"/>
                <a:ea typeface="Calibri"/>
                <a:cs typeface="Calibri"/>
                <a:sym typeface="Calibri"/>
              </a:rPr>
              <a:t>, and </a:t>
            </a:r>
            <a:r>
              <a:rPr b="1" lang="en-US" sz="6000">
                <a:solidFill>
                  <a:srgbClr val="E5B8B7"/>
                </a:solidFill>
                <a:latin typeface="Calibri"/>
                <a:ea typeface="Calibri"/>
                <a:cs typeface="Calibri"/>
                <a:sym typeface="Calibri"/>
              </a:rPr>
              <a:t>if-elif-else</a:t>
            </a:r>
            <a:r>
              <a:rPr b="1" lang="en-US" sz="6000">
                <a:solidFill>
                  <a:schemeClr val="lt1"/>
                </a:solidFill>
                <a:latin typeface="Calibri"/>
                <a:ea typeface="Calibri"/>
                <a:cs typeface="Calibri"/>
                <a:sym typeface="Calibri"/>
              </a:rPr>
              <a:t>.</a:t>
            </a:r>
            <a:endParaRPr b="1" sz="6000">
              <a:solidFill>
                <a:schemeClr val="lt1"/>
              </a:solidFill>
              <a:latin typeface="Calibri"/>
              <a:ea typeface="Calibri"/>
              <a:cs typeface="Calibri"/>
              <a:sym typeface="Calibri"/>
            </a:endParaRPr>
          </a:p>
          <a:p>
            <a:pPr indent="15875" lvl="0" marL="0" marR="0" rtl="0" algn="just">
              <a:lnSpc>
                <a:spcPct val="115000"/>
              </a:lnSpc>
              <a:spcBef>
                <a:spcPts val="700"/>
              </a:spcBef>
              <a:spcAft>
                <a:spcPts val="0"/>
              </a:spcAft>
              <a:buClr>
                <a:schemeClr val="lt1"/>
              </a:buClr>
              <a:buSzPts val="6000"/>
              <a:buFont typeface="Calibri"/>
              <a:buNone/>
            </a:pPr>
            <a:r>
              <a:rPr b="1" lang="en-US" sz="6000">
                <a:solidFill>
                  <a:schemeClr val="lt1"/>
                </a:solidFill>
                <a:latin typeface="Calibri"/>
                <a:ea typeface="Calibri"/>
                <a:cs typeface="Calibri"/>
                <a:sym typeface="Calibri"/>
              </a:rPr>
              <a:t>• Loops</a:t>
            </a:r>
            <a:endParaRPr b="1" sz="60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F3F4A63587F640D8938535A21F5BAD5D_12</vt:lpwstr>
  </property>
  <property fmtid="{D5CDD505-2E9C-101B-9397-08002B2CF9AE}" pid="3" name="KSOProductBuildVer">
    <vt:lpwstr>1033-12.2.0.21179</vt:lpwstr>
  </property>
</Properties>
</file>