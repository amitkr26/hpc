
<file path=[Content_Types].xml><?xml version="1.0" encoding="utf-8"?>
<Types xmlns="http://schemas.openxmlformats.org/package/2006/content-types">
  <Default ContentType="image/jpeg" Extension="jpg"/>
  <Default ContentType="application/vnd.openxmlformats-officedocument.vmlDrawing" Extension="vml"/>
  <Default ContentType="application/x-fontdata" Extension="fntdata"/>
  <Default ContentType="application/vnd.openxmlformats-officedocument.oleObject" Extension="bin"/>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oleObject" PartName="/ppt/embeddings/oleObject2.bin"/>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y="6858000" cx="9144000"/>
  <p:notesSz cx="6858000" cy="9144000"/>
  <p:embeddedFontLst>
    <p:embeddedFont>
      <p:font typeface="Roboto Mono"/>
      <p:regular r:id="rId49"/>
      <p:bold r:id="rId50"/>
      <p:italic r:id="rId51"/>
      <p:boldItalic r:id="rId52"/>
    </p:embeddedFont>
    <p:embeddedFont>
      <p:font typeface="Gill Sans"/>
      <p:regular r:id="rId53"/>
      <p:bold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guide id="3" orient="horz" pos="2260">
          <p15:clr>
            <a:srgbClr val="A4A3A4"/>
          </p15:clr>
        </p15:guide>
      </p15:sldGuideLst>
    </p:ext>
    <p:ext uri="GoogleSlidesCustomDataVersion2">
      <go:slidesCustomData xmlns:go="http://customooxmlschemas.google.com/" r:id="rId55" roundtripDataSignature="AMtx7mglC3tLsIN9PjKSjNZ0v34Nn81dS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F81C10D-9ED4-49E1-B937-6731399BFBC4}">
  <a:tblStyle styleId="{3F81C10D-9ED4-49E1-B937-6731399BFBC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 pos="2260"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font" Target="fonts/RobotoMono-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RobotoMono-italic.fntdata"/><Relationship Id="rId50" Type="http://schemas.openxmlformats.org/officeDocument/2006/relationships/font" Target="fonts/RobotoMono-bold.fntdata"/><Relationship Id="rId53" Type="http://schemas.openxmlformats.org/officeDocument/2006/relationships/font" Target="fonts/GillSans-regular.fntdata"/><Relationship Id="rId52" Type="http://schemas.openxmlformats.org/officeDocument/2006/relationships/font" Target="fonts/RobotoMono-boldItalic.fntdata"/><Relationship Id="rId11" Type="http://schemas.openxmlformats.org/officeDocument/2006/relationships/slide" Target="slides/slide4.xml"/><Relationship Id="rId55" Type="http://customschemas.google.com/relationships/presentationmetadata" Target="metadata"/><Relationship Id="rId10" Type="http://schemas.openxmlformats.org/officeDocument/2006/relationships/slide" Target="slides/slide3.xml"/><Relationship Id="rId54" Type="http://schemas.openxmlformats.org/officeDocument/2006/relationships/font" Target="fonts/GillSans-bold.fntdata"/><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3.png"/><Relationship Id="rId2" Type="http://schemas.openxmlformats.org/officeDocument/2006/relationships/image" Target="../media/image25.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73" name="Google Shape;173;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36513" marR="0" rtl="0" algn="l">
              <a:lnSpc>
                <a:spcPct val="84000"/>
              </a:lnSpc>
              <a:spcBef>
                <a:spcPts val="0"/>
              </a:spcBef>
              <a:spcAft>
                <a:spcPts val="0"/>
              </a:spcAft>
              <a:buClr>
                <a:srgbClr val="000000"/>
              </a:buClr>
              <a:buSzPts val="630"/>
              <a:buFont typeface="Arial"/>
              <a:buNone/>
            </a:pPr>
            <a:r>
              <a:t/>
            </a:r>
            <a:endParaRPr b="0" sz="630">
              <a:solidFill>
                <a:schemeClr val="dk1"/>
              </a:solidFill>
              <a:latin typeface="Calibri"/>
              <a:ea typeface="Calibri"/>
              <a:cs typeface="Calibri"/>
              <a:sym typeface="Calibri"/>
            </a:endParaRPr>
          </a:p>
          <a:p>
            <a:pPr indent="-171450" lvl="1" marL="207963" marR="0" rtl="0" algn="l">
              <a:lnSpc>
                <a:spcPct val="84000"/>
              </a:lnSpc>
              <a:spcBef>
                <a:spcPts val="863"/>
              </a:spcBef>
              <a:spcAft>
                <a:spcPts val="0"/>
              </a:spcAft>
              <a:buClr>
                <a:srgbClr val="000000"/>
              </a:buClr>
              <a:buSzPts val="630"/>
              <a:buFont typeface="Arial"/>
              <a:buChar char="•"/>
            </a:pPr>
            <a:r>
              <a:rPr b="1" lang="en-US" sz="630">
                <a:solidFill>
                  <a:schemeClr val="dk1"/>
                </a:solidFill>
                <a:latin typeface="Calibri"/>
                <a:ea typeface="Calibri"/>
                <a:cs typeface="Calibri"/>
                <a:sym typeface="Calibri"/>
              </a:rPr>
              <a:t>Concise audio:</a:t>
            </a:r>
            <a:endParaRPr/>
          </a:p>
          <a:p>
            <a:pPr indent="0" lvl="1" marL="36513" marR="0" rtl="0" algn="l">
              <a:lnSpc>
                <a:spcPct val="84000"/>
              </a:lnSpc>
              <a:spcBef>
                <a:spcPts val="863"/>
              </a:spcBef>
              <a:spcAft>
                <a:spcPts val="0"/>
              </a:spcAft>
              <a:buClr>
                <a:srgbClr val="000000"/>
              </a:buClr>
              <a:buSzPts val="630"/>
              <a:buFont typeface="Arial"/>
              <a:buNone/>
            </a:pPr>
            <a:r>
              <a:t/>
            </a:r>
            <a:endParaRPr b="0" sz="630">
              <a:solidFill>
                <a:schemeClr val="dk1"/>
              </a:solidFill>
              <a:latin typeface="Calibri"/>
              <a:ea typeface="Calibri"/>
              <a:cs typeface="Calibri"/>
              <a:sym typeface="Calibri"/>
            </a:endParaRPr>
          </a:p>
          <a:p>
            <a:pPr indent="0" lvl="0" marL="0" rtl="0" algn="l">
              <a:lnSpc>
                <a:spcPct val="80000"/>
              </a:lnSpc>
              <a:spcBef>
                <a:spcPts val="863"/>
              </a:spcBef>
              <a:spcAft>
                <a:spcPts val="0"/>
              </a:spcAft>
              <a:buNone/>
            </a:pPr>
            <a:r>
              <a:rPr lang="en-US" sz="840">
                <a:solidFill>
                  <a:schemeClr val="dk1"/>
                </a:solidFill>
                <a:latin typeface="Calibri"/>
                <a:ea typeface="Calibri"/>
                <a:cs typeface="Calibri"/>
                <a:sym typeface="Calibri"/>
              </a:rPr>
              <a:t>In this chapter, we will discuss and learn about Linux file system management. By the end of this chapter, you will be able to understand:</a:t>
            </a:r>
            <a:endParaRPr/>
          </a:p>
          <a:p>
            <a:pPr indent="0" lvl="0" marL="0" rtl="0" algn="l">
              <a:lnSpc>
                <a:spcPct val="80000"/>
              </a:lnSpc>
              <a:spcBef>
                <a:spcPts val="0"/>
              </a:spcBef>
              <a:spcAft>
                <a:spcPts val="0"/>
              </a:spcAft>
              <a:buNone/>
            </a:pPr>
            <a:r>
              <a:rPr lang="en-US" sz="840"/>
              <a:t>The structure of Linux file system</a:t>
            </a:r>
            <a:endParaRPr/>
          </a:p>
          <a:p>
            <a:pPr indent="0" lvl="0" marL="0" rtl="0" algn="l">
              <a:lnSpc>
                <a:spcPct val="80000"/>
              </a:lnSpc>
              <a:spcBef>
                <a:spcPts val="0"/>
              </a:spcBef>
              <a:spcAft>
                <a:spcPts val="0"/>
              </a:spcAft>
              <a:buNone/>
            </a:pPr>
            <a:r>
              <a:rPr lang="en-US" sz="840"/>
              <a:t>Various types of Linux file system</a:t>
            </a:r>
            <a:endParaRPr/>
          </a:p>
          <a:p>
            <a:pPr indent="0" lvl="0" marL="0" rtl="0" algn="l">
              <a:lnSpc>
                <a:spcPct val="80000"/>
              </a:lnSpc>
              <a:spcBef>
                <a:spcPts val="0"/>
              </a:spcBef>
              <a:spcAft>
                <a:spcPts val="0"/>
              </a:spcAft>
              <a:buNone/>
            </a:pPr>
            <a:r>
              <a:rPr lang="en-US" sz="840"/>
              <a:t>What is the file system permission in Linux</a:t>
            </a:r>
            <a:endParaRPr/>
          </a:p>
          <a:p>
            <a:pPr indent="0" lvl="0" marL="0" rtl="0" algn="l">
              <a:lnSpc>
                <a:spcPct val="80000"/>
              </a:lnSpc>
              <a:spcBef>
                <a:spcPts val="0"/>
              </a:spcBef>
              <a:spcAft>
                <a:spcPts val="0"/>
              </a:spcAft>
              <a:buNone/>
            </a:pPr>
            <a:r>
              <a:rPr lang="en-US" sz="840"/>
              <a:t>How to set or change the permission of any file or directory</a:t>
            </a:r>
            <a:endParaRPr/>
          </a:p>
          <a:p>
            <a:pPr indent="0" lvl="0" marL="0" rtl="0" algn="l">
              <a:lnSpc>
                <a:spcPct val="80000"/>
              </a:lnSpc>
              <a:spcBef>
                <a:spcPts val="0"/>
              </a:spcBef>
              <a:spcAft>
                <a:spcPts val="0"/>
              </a:spcAft>
              <a:buNone/>
            </a:pPr>
            <a:r>
              <a:rPr lang="en-US" sz="840"/>
              <a:t>About some special permission in Linux</a:t>
            </a:r>
            <a:endParaRPr/>
          </a:p>
          <a:p>
            <a:pPr indent="0" lvl="0" marL="0" rtl="0" algn="l">
              <a:lnSpc>
                <a:spcPct val="80000"/>
              </a:lnSpc>
              <a:spcBef>
                <a:spcPts val="0"/>
              </a:spcBef>
              <a:spcAft>
                <a:spcPts val="0"/>
              </a:spcAft>
              <a:buNone/>
            </a:pPr>
            <a:r>
              <a:rPr lang="en-US" sz="840">
                <a:latin typeface="Calibri"/>
                <a:ea typeface="Calibri"/>
                <a:cs typeface="Calibri"/>
                <a:sym typeface="Calibri"/>
              </a:rPr>
              <a:t>Partitioning in Linux and Creating partition</a:t>
            </a:r>
            <a:endParaRPr/>
          </a:p>
          <a:p>
            <a:pPr indent="0" lvl="0" marL="0" rtl="0" algn="l">
              <a:lnSpc>
                <a:spcPct val="80000"/>
              </a:lnSpc>
              <a:spcBef>
                <a:spcPts val="0"/>
              </a:spcBef>
              <a:spcAft>
                <a:spcPts val="0"/>
              </a:spcAft>
              <a:buNone/>
            </a:pPr>
            <a:r>
              <a:rPr lang="en-US" sz="840">
                <a:latin typeface="Calibri"/>
                <a:ea typeface="Calibri"/>
                <a:cs typeface="Calibri"/>
                <a:sym typeface="Calibri"/>
              </a:rPr>
              <a:t>Disk quota management</a:t>
            </a:r>
            <a:endParaRPr/>
          </a:p>
          <a:p>
            <a:pPr indent="0" lvl="0" marL="0" rtl="0" algn="l">
              <a:lnSpc>
                <a:spcPct val="80000"/>
              </a:lnSpc>
              <a:spcBef>
                <a:spcPts val="0"/>
              </a:spcBef>
              <a:spcAft>
                <a:spcPts val="0"/>
              </a:spcAft>
              <a:buNone/>
            </a:pPr>
            <a:r>
              <a:rPr lang="en-US" sz="840">
                <a:latin typeface="Calibri"/>
                <a:ea typeface="Calibri"/>
                <a:cs typeface="Calibri"/>
                <a:sym typeface="Calibri"/>
              </a:rPr>
              <a:t>LVM (Logical Volume Management) in Linux</a:t>
            </a:r>
            <a:endParaRPr/>
          </a:p>
          <a:p>
            <a:pPr indent="-175260" lvl="0" marL="228600" rtl="0" algn="l">
              <a:lnSpc>
                <a:spcPct val="80000"/>
              </a:lnSpc>
              <a:spcBef>
                <a:spcPts val="0"/>
              </a:spcBef>
              <a:spcAft>
                <a:spcPts val="0"/>
              </a:spcAft>
              <a:buClr>
                <a:schemeClr val="dk1"/>
              </a:buClr>
              <a:buSzPts val="840"/>
              <a:buFont typeface="Arial"/>
              <a:buNone/>
            </a:pPr>
            <a:r>
              <a:t/>
            </a:r>
            <a:endParaRPr sz="840">
              <a:solidFill>
                <a:schemeClr val="dk1"/>
              </a:solidFill>
              <a:latin typeface="Calibri"/>
              <a:ea typeface="Calibri"/>
              <a:cs typeface="Calibri"/>
              <a:sym typeface="Calibri"/>
            </a:endParaRPr>
          </a:p>
          <a:p>
            <a:pPr indent="-175260" lvl="0" marL="228600" rtl="0" algn="l">
              <a:lnSpc>
                <a:spcPct val="80000"/>
              </a:lnSpc>
              <a:spcBef>
                <a:spcPts val="0"/>
              </a:spcBef>
              <a:spcAft>
                <a:spcPts val="0"/>
              </a:spcAft>
              <a:buClr>
                <a:schemeClr val="dk1"/>
              </a:buClr>
              <a:buSzPts val="840"/>
              <a:buFont typeface="Arial"/>
              <a:buNone/>
            </a:pPr>
            <a:r>
              <a:t/>
            </a:r>
            <a:endParaRPr sz="840">
              <a:latin typeface="Gill Sans"/>
              <a:ea typeface="Gill Sans"/>
              <a:cs typeface="Gill Sans"/>
              <a:sym typeface="Gill Sans"/>
            </a:endParaRPr>
          </a:p>
          <a:p>
            <a:pPr indent="-171450" lvl="0" marL="171450" marR="0" rtl="0" algn="l">
              <a:lnSpc>
                <a:spcPct val="80000"/>
              </a:lnSpc>
              <a:spcBef>
                <a:spcPts val="0"/>
              </a:spcBef>
              <a:spcAft>
                <a:spcPts val="0"/>
              </a:spcAft>
              <a:buClr>
                <a:schemeClr val="dk1"/>
              </a:buClr>
              <a:buSzPts val="840"/>
              <a:buFont typeface="Arial"/>
              <a:buNone/>
            </a:pPr>
            <a:r>
              <a:t/>
            </a:r>
            <a:endParaRPr sz="840">
              <a:latin typeface="Gill Sans"/>
              <a:ea typeface="Gill Sans"/>
              <a:cs typeface="Gill Sans"/>
              <a:sym typeface="Gill Sans"/>
            </a:endParaRPr>
          </a:p>
          <a:p>
            <a:pPr indent="0" lvl="1" marL="36513" marR="0" rtl="0" algn="l">
              <a:lnSpc>
                <a:spcPct val="84000"/>
              </a:lnSpc>
              <a:spcBef>
                <a:spcPts val="0"/>
              </a:spcBef>
              <a:spcAft>
                <a:spcPts val="0"/>
              </a:spcAft>
              <a:buClr>
                <a:srgbClr val="000000"/>
              </a:buClr>
              <a:buSzPts val="630"/>
              <a:buFont typeface="Noto Sans Symbols"/>
              <a:buNone/>
            </a:pPr>
            <a:r>
              <a:t/>
            </a:r>
            <a:endParaRPr b="1" sz="630">
              <a:solidFill>
                <a:schemeClr val="dk1"/>
              </a:solidFill>
              <a:latin typeface="Calibri"/>
              <a:ea typeface="Calibri"/>
              <a:cs typeface="Calibri"/>
              <a:sym typeface="Calibri"/>
            </a:endParaRPr>
          </a:p>
        </p:txBody>
      </p:sp>
      <p:sp>
        <p:nvSpPr>
          <p:cNvPr id="180" name="Google Shape;180;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36513" marR="0" rtl="0" algn="l">
              <a:lnSpc>
                <a:spcPct val="84000"/>
              </a:lnSpc>
              <a:spcBef>
                <a:spcPts val="0"/>
              </a:spcBef>
              <a:spcAft>
                <a:spcPts val="0"/>
              </a:spcAft>
              <a:buClr>
                <a:srgbClr val="000000"/>
              </a:buClr>
              <a:buSzPts val="630"/>
              <a:buFont typeface="Arial"/>
              <a:buNone/>
            </a:pPr>
            <a:r>
              <a:t/>
            </a:r>
            <a:endParaRPr sz="630">
              <a:solidFill>
                <a:schemeClr val="dk1"/>
              </a:solidFill>
              <a:latin typeface="Calibri"/>
              <a:ea typeface="Calibri"/>
              <a:cs typeface="Calibri"/>
              <a:sym typeface="Calibri"/>
            </a:endParaRPr>
          </a:p>
          <a:p>
            <a:pPr indent="-171450" lvl="1" marL="207963" marR="0" rtl="0" algn="l">
              <a:lnSpc>
                <a:spcPct val="84000"/>
              </a:lnSpc>
              <a:spcBef>
                <a:spcPts val="863"/>
              </a:spcBef>
              <a:spcAft>
                <a:spcPts val="0"/>
              </a:spcAft>
              <a:buClr>
                <a:srgbClr val="000000"/>
              </a:buClr>
              <a:buSzPts val="630"/>
              <a:buFont typeface="Arial"/>
              <a:buChar char="•"/>
            </a:pPr>
            <a:r>
              <a:rPr b="1" lang="en-US" sz="630">
                <a:solidFill>
                  <a:schemeClr val="dk1"/>
                </a:solidFill>
                <a:latin typeface="Calibri"/>
                <a:ea typeface="Calibri"/>
                <a:cs typeface="Calibri"/>
                <a:sym typeface="Calibri"/>
              </a:rPr>
              <a:t>Concise audio</a:t>
            </a:r>
            <a:endParaRPr/>
          </a:p>
          <a:p>
            <a:pPr indent="-131445" lvl="1" marL="207963" marR="0" rtl="0" algn="l">
              <a:lnSpc>
                <a:spcPct val="84000"/>
              </a:lnSpc>
              <a:spcBef>
                <a:spcPts val="863"/>
              </a:spcBef>
              <a:spcAft>
                <a:spcPts val="0"/>
              </a:spcAft>
              <a:buClr>
                <a:srgbClr val="000000"/>
              </a:buClr>
              <a:buSzPts val="630"/>
              <a:buFont typeface="Arial"/>
              <a:buNone/>
            </a:pPr>
            <a:r>
              <a:t/>
            </a:r>
            <a:endParaRPr b="1" sz="630">
              <a:solidFill>
                <a:schemeClr val="dk1"/>
              </a:solidFill>
              <a:latin typeface="Calibri"/>
              <a:ea typeface="Calibri"/>
              <a:cs typeface="Calibri"/>
              <a:sym typeface="Calibri"/>
            </a:endParaRPr>
          </a:p>
          <a:p>
            <a:pPr indent="0" lvl="0" marL="0" rtl="0" algn="l">
              <a:lnSpc>
                <a:spcPct val="80000"/>
              </a:lnSpc>
              <a:spcBef>
                <a:spcPts val="863"/>
              </a:spcBef>
              <a:spcAft>
                <a:spcPts val="0"/>
              </a:spcAft>
              <a:buNone/>
            </a:pPr>
            <a:r>
              <a:rPr lang="en-US" sz="840">
                <a:solidFill>
                  <a:schemeClr val="dk1"/>
                </a:solidFill>
                <a:latin typeface="Calibri"/>
                <a:ea typeface="Calibri"/>
                <a:cs typeface="Calibri"/>
                <a:sym typeface="Calibri"/>
              </a:rPr>
              <a:t>Let’s get into an introduction to the File system. </a:t>
            </a:r>
            <a:endParaRPr/>
          </a:p>
          <a:p>
            <a:pPr indent="0" lvl="0" marL="0" rtl="0" algn="l">
              <a:lnSpc>
                <a:spcPct val="80000"/>
              </a:lnSpc>
              <a:spcBef>
                <a:spcPts val="0"/>
              </a:spcBef>
              <a:spcAft>
                <a:spcPts val="0"/>
              </a:spcAft>
              <a:buNone/>
            </a:pPr>
            <a:r>
              <a:rPr lang="en-US" sz="840">
                <a:solidFill>
                  <a:schemeClr val="dk1"/>
                </a:solidFill>
                <a:latin typeface="Calibri"/>
                <a:ea typeface="Calibri"/>
                <a:cs typeface="Calibri"/>
                <a:sym typeface="Calibri"/>
              </a:rPr>
              <a:t>What is a File system?  </a:t>
            </a:r>
            <a:endParaRPr/>
          </a:p>
          <a:p>
            <a:pPr indent="0" lvl="0" marL="0" marR="0" rtl="0" algn="l">
              <a:lnSpc>
                <a:spcPct val="80000"/>
              </a:lnSpc>
              <a:spcBef>
                <a:spcPts val="0"/>
              </a:spcBef>
              <a:spcAft>
                <a:spcPts val="0"/>
              </a:spcAft>
              <a:buClr>
                <a:schemeClr val="dk1"/>
              </a:buClr>
              <a:buSzPts val="839"/>
              <a:buFont typeface="Calibri"/>
              <a:buNone/>
            </a:pPr>
            <a:r>
              <a:rPr lang="en-US" sz="840"/>
              <a:t>A file system is a way that an operating system store, retrieve and organizes files on a disk.</a:t>
            </a:r>
            <a:endParaRPr/>
          </a:p>
          <a:p>
            <a:pPr indent="0" lvl="0" marL="0" rtl="0" algn="l">
              <a:lnSpc>
                <a:spcPct val="80000"/>
              </a:lnSpc>
              <a:spcBef>
                <a:spcPts val="0"/>
              </a:spcBef>
              <a:spcAft>
                <a:spcPts val="0"/>
              </a:spcAft>
              <a:buNone/>
            </a:pPr>
            <a:r>
              <a:rPr lang="en-US" sz="840">
                <a:solidFill>
                  <a:schemeClr val="dk1"/>
                </a:solidFill>
                <a:latin typeface="Calibri"/>
                <a:ea typeface="Calibri"/>
                <a:cs typeface="Calibri"/>
                <a:sym typeface="Calibri"/>
              </a:rPr>
              <a:t>As shown in the figure the Linux files are stored in a single-rooted, hierarchical file system.</a:t>
            </a:r>
            <a:endParaRPr/>
          </a:p>
          <a:p>
            <a:pPr indent="0" lvl="0" marL="0" rtl="0" algn="l">
              <a:lnSpc>
                <a:spcPct val="80000"/>
              </a:lnSpc>
              <a:spcBef>
                <a:spcPts val="0"/>
              </a:spcBef>
              <a:spcAft>
                <a:spcPts val="0"/>
              </a:spcAft>
              <a:buNone/>
            </a:pPr>
            <a:r>
              <a:t/>
            </a:r>
            <a:endParaRPr sz="84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rPr b="1" lang="en-US" sz="840">
                <a:solidFill>
                  <a:schemeClr val="dk1"/>
                </a:solidFill>
                <a:latin typeface="Calibri"/>
                <a:ea typeface="Calibri"/>
                <a:cs typeface="Calibri"/>
                <a:sym typeface="Calibri"/>
              </a:rPr>
              <a:t>Point to remember</a:t>
            </a:r>
            <a:endParaRPr sz="840">
              <a:solidFill>
                <a:schemeClr val="dk1"/>
              </a:solidFill>
              <a:latin typeface="Calibri"/>
              <a:ea typeface="Calibri"/>
              <a:cs typeface="Calibri"/>
              <a:sym typeface="Calibri"/>
            </a:endParaRPr>
          </a:p>
          <a:p>
            <a:pPr indent="0" lvl="0" marL="0" rtl="0" algn="l">
              <a:lnSpc>
                <a:spcPct val="80000"/>
              </a:lnSpc>
              <a:spcBef>
                <a:spcPts val="0"/>
              </a:spcBef>
              <a:spcAft>
                <a:spcPts val="0"/>
              </a:spcAft>
              <a:buClr>
                <a:schemeClr val="dk1"/>
              </a:buClr>
              <a:buSzPts val="839"/>
              <a:buFont typeface="Arial"/>
              <a:buNone/>
            </a:pPr>
            <a:r>
              <a:rPr lang="en-US" sz="840">
                <a:solidFill>
                  <a:schemeClr val="dk1"/>
                </a:solidFill>
                <a:latin typeface="Calibri"/>
                <a:ea typeface="Calibri"/>
                <a:cs typeface="Calibri"/>
                <a:sym typeface="Calibri"/>
              </a:rPr>
              <a:t>/  is a root file system or root directory. Everything will come under the root. </a:t>
            </a:r>
            <a:endParaRPr/>
          </a:p>
          <a:p>
            <a:pPr indent="0" lvl="0" marL="0" rtl="0" algn="l">
              <a:lnSpc>
                <a:spcPct val="80000"/>
              </a:lnSpc>
              <a:spcBef>
                <a:spcPts val="0"/>
              </a:spcBef>
              <a:spcAft>
                <a:spcPts val="0"/>
              </a:spcAft>
              <a:buClr>
                <a:schemeClr val="dk1"/>
              </a:buClr>
              <a:buSzPts val="839"/>
              <a:buFont typeface="Arial"/>
              <a:buNone/>
            </a:pPr>
            <a:r>
              <a:rPr lang="en-US" sz="840">
                <a:solidFill>
                  <a:schemeClr val="dk1"/>
                </a:solidFill>
                <a:latin typeface="Calibri"/>
                <a:ea typeface="Calibri"/>
                <a:cs typeface="Calibri"/>
                <a:sym typeface="Calibri"/>
              </a:rPr>
              <a:t>Also here / and /root are two different folder where as / is called root file system and /root is called root folder under root file system.</a:t>
            </a:r>
            <a:endParaRPr sz="63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t/>
            </a:r>
            <a:endParaRPr sz="840"/>
          </a:p>
        </p:txBody>
      </p:sp>
      <p:sp>
        <p:nvSpPr>
          <p:cNvPr id="188" name="Google Shape;188;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Different operating systems support different types of file systems. The choice of file system will depend on the specific needs and requirements of the system in question.</a:t>
            </a:r>
            <a:endParaRPr/>
          </a:p>
          <a:p>
            <a:pPr indent="0" lvl="0" marL="0" marR="0" rtl="0" algn="l">
              <a:lnSpc>
                <a:spcPct val="100000"/>
              </a:lnSpc>
              <a:spcBef>
                <a:spcPts val="0"/>
              </a:spcBef>
              <a:spcAft>
                <a:spcPts val="0"/>
              </a:spcAft>
              <a:buClr>
                <a:schemeClr val="dk1"/>
              </a:buClr>
              <a:buSzPts val="1200"/>
              <a:buFont typeface="Calibri"/>
              <a:buNone/>
            </a:pPr>
            <a:r>
              <a:rPr lang="en-US" sz="1200"/>
              <a:t>For Windows, you have the NTFS, FAT, FAT16, or FAT32 file systems. </a:t>
            </a:r>
            <a:endParaRPr/>
          </a:p>
          <a:p>
            <a:pPr indent="0" lvl="0" marL="0" marR="0" rtl="0" algn="l">
              <a:lnSpc>
                <a:spcPct val="100000"/>
              </a:lnSpc>
              <a:spcBef>
                <a:spcPts val="0"/>
              </a:spcBef>
              <a:spcAft>
                <a:spcPts val="0"/>
              </a:spcAft>
              <a:buClr>
                <a:schemeClr val="dk1"/>
              </a:buClr>
              <a:buSzPts val="1200"/>
              <a:buFont typeface="Calibri"/>
              <a:buNone/>
            </a:pPr>
            <a:r>
              <a:rPr lang="en-US" sz="1200"/>
              <a:t>For Macintosh, you have the HFS file system and for Linux you have more file systems: ext2/3/4,XFS etc. </a:t>
            </a:r>
            <a:endParaRPr/>
          </a:p>
          <a:p>
            <a:pPr indent="0" lvl="0" marL="0" rtl="0" algn="l">
              <a:spcBef>
                <a:spcPts val="0"/>
              </a:spcBef>
              <a:spcAft>
                <a:spcPts val="0"/>
              </a:spcAft>
              <a:buNone/>
            </a:pPr>
            <a:r>
              <a:t/>
            </a:r>
            <a:endParaRPr/>
          </a:p>
        </p:txBody>
      </p:sp>
      <p:sp>
        <p:nvSpPr>
          <p:cNvPr id="197" name="Google Shape;197;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131445" lvl="0" marL="207963" marR="0" rtl="0" algn="l">
              <a:lnSpc>
                <a:spcPct val="84000"/>
              </a:lnSpc>
              <a:spcBef>
                <a:spcPts val="0"/>
              </a:spcBef>
              <a:spcAft>
                <a:spcPts val="0"/>
              </a:spcAft>
              <a:buClr>
                <a:srgbClr val="000000"/>
              </a:buClr>
              <a:buSzPts val="630"/>
              <a:buFont typeface="Arial"/>
              <a:buNone/>
            </a:pPr>
            <a:r>
              <a:t/>
            </a:r>
            <a:endParaRPr sz="630">
              <a:solidFill>
                <a:schemeClr val="dk1"/>
              </a:solidFill>
              <a:latin typeface="Calibri"/>
              <a:ea typeface="Calibri"/>
              <a:cs typeface="Calibri"/>
              <a:sym typeface="Calibri"/>
            </a:endParaRPr>
          </a:p>
          <a:p>
            <a:pPr indent="-171450" lvl="1" marL="207963" marR="0" rtl="0" algn="l">
              <a:lnSpc>
                <a:spcPct val="84000"/>
              </a:lnSpc>
              <a:spcBef>
                <a:spcPts val="863"/>
              </a:spcBef>
              <a:spcAft>
                <a:spcPts val="0"/>
              </a:spcAft>
              <a:buClr>
                <a:srgbClr val="000000"/>
              </a:buClr>
              <a:buSzPts val="630"/>
              <a:buFont typeface="Arial"/>
              <a:buChar char="•"/>
            </a:pPr>
            <a:r>
              <a:rPr b="1" lang="en-US" sz="630">
                <a:solidFill>
                  <a:schemeClr val="dk1"/>
                </a:solidFill>
                <a:latin typeface="Calibri"/>
                <a:ea typeface="Calibri"/>
                <a:cs typeface="Calibri"/>
                <a:sym typeface="Calibri"/>
              </a:rPr>
              <a:t>Concise audio</a:t>
            </a:r>
            <a:endParaRPr/>
          </a:p>
          <a:p>
            <a:pPr indent="-131445" lvl="1" marL="207963" marR="0" rtl="0" algn="l">
              <a:lnSpc>
                <a:spcPct val="84000"/>
              </a:lnSpc>
              <a:spcBef>
                <a:spcPts val="863"/>
              </a:spcBef>
              <a:spcAft>
                <a:spcPts val="0"/>
              </a:spcAft>
              <a:buClr>
                <a:srgbClr val="000000"/>
              </a:buClr>
              <a:buSzPts val="630"/>
              <a:buFont typeface="Arial"/>
              <a:buNone/>
            </a:pPr>
            <a:r>
              <a:t/>
            </a:r>
            <a:endParaRPr b="0" sz="630">
              <a:solidFill>
                <a:schemeClr val="dk1"/>
              </a:solidFill>
              <a:latin typeface="Calibri"/>
              <a:ea typeface="Calibri"/>
              <a:cs typeface="Calibri"/>
              <a:sym typeface="Calibri"/>
            </a:endParaRPr>
          </a:p>
          <a:p>
            <a:pPr indent="0" lvl="0" marL="0" marR="0" rtl="0" algn="l">
              <a:lnSpc>
                <a:spcPct val="80000"/>
              </a:lnSpc>
              <a:spcBef>
                <a:spcPts val="863"/>
              </a:spcBef>
              <a:spcAft>
                <a:spcPts val="0"/>
              </a:spcAft>
              <a:buClr>
                <a:schemeClr val="dk1"/>
              </a:buClr>
              <a:buSzPts val="839"/>
              <a:buFont typeface="Calibri"/>
              <a:buNone/>
            </a:pPr>
            <a:r>
              <a:rPr lang="en-US" sz="840"/>
              <a:t>Lets discuss more on Linux File system types.</a:t>
            </a:r>
            <a:endParaRPr sz="840"/>
          </a:p>
          <a:p>
            <a:pPr indent="0" lvl="1" marL="36513" marR="0" rtl="0" algn="l">
              <a:lnSpc>
                <a:spcPct val="84000"/>
              </a:lnSpc>
              <a:spcBef>
                <a:spcPts val="0"/>
              </a:spcBef>
              <a:spcAft>
                <a:spcPts val="0"/>
              </a:spcAft>
              <a:buClr>
                <a:srgbClr val="000000"/>
              </a:buClr>
              <a:buSzPts val="630"/>
              <a:buFont typeface="Arial"/>
              <a:buNone/>
            </a:pPr>
            <a:r>
              <a:t/>
            </a:r>
            <a:endParaRPr b="0" sz="630">
              <a:solidFill>
                <a:schemeClr val="dk1"/>
              </a:solidFill>
              <a:latin typeface="Calibri"/>
              <a:ea typeface="Calibri"/>
              <a:cs typeface="Calibri"/>
              <a:sym typeface="Calibri"/>
            </a:endParaRPr>
          </a:p>
          <a:p>
            <a:pPr indent="0" lvl="1" marL="36513" marR="0" rtl="0" algn="l">
              <a:lnSpc>
                <a:spcPct val="84000"/>
              </a:lnSpc>
              <a:spcBef>
                <a:spcPts val="863"/>
              </a:spcBef>
              <a:spcAft>
                <a:spcPts val="0"/>
              </a:spcAft>
              <a:buClr>
                <a:srgbClr val="000000"/>
              </a:buClr>
              <a:buSzPts val="630"/>
              <a:buFont typeface="Arial"/>
              <a:buNone/>
            </a:pPr>
            <a:r>
              <a:rPr b="0" lang="en-US" sz="630">
                <a:solidFill>
                  <a:schemeClr val="dk1"/>
                </a:solidFill>
                <a:latin typeface="Calibri"/>
                <a:ea typeface="Calibri"/>
                <a:cs typeface="Calibri"/>
                <a:sym typeface="Calibri"/>
              </a:rPr>
              <a:t>First is Ext file system.</a:t>
            </a:r>
            <a:endParaRPr/>
          </a:p>
          <a:p>
            <a:pPr indent="0" lvl="1" marL="36513" marR="0" rtl="0" algn="l">
              <a:lnSpc>
                <a:spcPct val="84000"/>
              </a:lnSpc>
              <a:spcBef>
                <a:spcPts val="863"/>
              </a:spcBef>
              <a:spcAft>
                <a:spcPts val="0"/>
              </a:spcAft>
              <a:buClr>
                <a:srgbClr val="000000"/>
              </a:buClr>
              <a:buSzPts val="630"/>
              <a:buFont typeface="Arial"/>
              <a:buNone/>
            </a:pPr>
            <a:r>
              <a:t/>
            </a:r>
            <a:endParaRPr b="0" sz="630">
              <a:solidFill>
                <a:schemeClr val="dk1"/>
              </a:solidFill>
              <a:latin typeface="Calibri"/>
              <a:ea typeface="Calibri"/>
              <a:cs typeface="Calibri"/>
              <a:sym typeface="Calibri"/>
            </a:endParaRPr>
          </a:p>
          <a:p>
            <a:pPr indent="0" lvl="0" marL="0" rtl="0" algn="l">
              <a:lnSpc>
                <a:spcPct val="80000"/>
              </a:lnSpc>
              <a:spcBef>
                <a:spcPts val="863"/>
              </a:spcBef>
              <a:spcAft>
                <a:spcPts val="0"/>
              </a:spcAft>
              <a:buNone/>
            </a:pPr>
            <a:r>
              <a:rPr lang="en-US" sz="840"/>
              <a:t>The ext (first extended) file system is the first version of the extended file system, which is a family of file systems used by many Linux distributions. The ext file system was released in 1992 and added to Linux 0.96c. </a:t>
            </a:r>
            <a:endParaRPr sz="840"/>
          </a:p>
          <a:p>
            <a:pPr indent="0" lvl="0" marL="0" rtl="0" algn="l">
              <a:lnSpc>
                <a:spcPct val="80000"/>
              </a:lnSpc>
              <a:spcBef>
                <a:spcPts val="0"/>
              </a:spcBef>
              <a:spcAft>
                <a:spcPts val="0"/>
              </a:spcAft>
              <a:buNone/>
            </a:pPr>
            <a:r>
              <a:rPr lang="en-US" sz="840"/>
              <a:t>The ext1 file system had some limitations and drawbacks compared to later versions of the extended file system, including:</a:t>
            </a:r>
            <a:endParaRPr/>
          </a:p>
          <a:p>
            <a:pPr indent="0" lvl="0" marL="0" rtl="0" algn="l">
              <a:lnSpc>
                <a:spcPct val="80000"/>
              </a:lnSpc>
              <a:spcBef>
                <a:spcPts val="0"/>
              </a:spcBef>
              <a:spcAft>
                <a:spcPts val="0"/>
              </a:spcAft>
              <a:buNone/>
            </a:pPr>
            <a:r>
              <a:rPr lang="en-US" sz="840"/>
              <a:t>No journaling: The ext1 file system did not include journaling, which meant that if the system crashed or the file system was not unmounted properly, it could take a long time to check and repair the file system.</a:t>
            </a:r>
            <a:endParaRPr/>
          </a:p>
          <a:p>
            <a:pPr indent="0" lvl="0" marL="0" rtl="0" algn="l">
              <a:lnSpc>
                <a:spcPct val="80000"/>
              </a:lnSpc>
              <a:spcBef>
                <a:spcPts val="0"/>
              </a:spcBef>
              <a:spcAft>
                <a:spcPts val="0"/>
              </a:spcAft>
              <a:buNone/>
            </a:pPr>
            <a:r>
              <a:rPr lang="en-US" sz="840"/>
              <a:t>No symbolic links: The ext1 file system did not support symbolic links, which are a key feature of Unix-like file systems.</a:t>
            </a:r>
            <a:endParaRPr/>
          </a:p>
          <a:p>
            <a:pPr indent="0" lvl="0" marL="0" rtl="0" algn="l">
              <a:lnSpc>
                <a:spcPct val="80000"/>
              </a:lnSpc>
              <a:spcBef>
                <a:spcPts val="0"/>
              </a:spcBef>
              <a:spcAft>
                <a:spcPts val="0"/>
              </a:spcAft>
              <a:buNone/>
            </a:pPr>
            <a:r>
              <a:rPr lang="en-US" sz="840"/>
              <a:t>No large file support: The ext1 file system was limited to files no larger than 2 GB.</a:t>
            </a:r>
            <a:endParaRPr/>
          </a:p>
          <a:p>
            <a:pPr indent="0" lvl="0" marL="0" rtl="0" algn="l">
              <a:lnSpc>
                <a:spcPct val="80000"/>
              </a:lnSpc>
              <a:spcBef>
                <a:spcPts val="0"/>
              </a:spcBef>
              <a:spcAft>
                <a:spcPts val="0"/>
              </a:spcAft>
              <a:buNone/>
            </a:pPr>
            <a:r>
              <a:rPr lang="en-US" sz="840"/>
              <a:t>No extended attributes: The ext1 file system did not support extended attributes, which allow for additional metadata to be stored with files and directories.</a:t>
            </a:r>
            <a:endParaRPr/>
          </a:p>
          <a:p>
            <a:pPr indent="0" lvl="0" marL="0" rtl="0" algn="l">
              <a:lnSpc>
                <a:spcPct val="80000"/>
              </a:lnSpc>
              <a:spcBef>
                <a:spcPts val="0"/>
              </a:spcBef>
              <a:spcAft>
                <a:spcPts val="0"/>
              </a:spcAft>
              <a:buNone/>
            </a:pPr>
            <a:r>
              <a:rPr lang="en-US" sz="840"/>
              <a:t>Because of these limitations, the ext1 file system is no longer in use and has been superseded by newer file systems.</a:t>
            </a:r>
            <a:endParaRPr/>
          </a:p>
        </p:txBody>
      </p:sp>
      <p:sp>
        <p:nvSpPr>
          <p:cNvPr id="206" name="Google Shape;206;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57150" lvl="1" marL="0" marR="0" rtl="0" algn="l">
              <a:lnSpc>
                <a:spcPct val="100000"/>
              </a:lnSpc>
              <a:spcBef>
                <a:spcPts val="0"/>
              </a:spcBef>
              <a:spcAft>
                <a:spcPts val="0"/>
              </a:spcAft>
              <a:buClr>
                <a:schemeClr val="dk1"/>
              </a:buClr>
              <a:buSzPts val="900"/>
              <a:buFont typeface="Arial"/>
              <a:buChar char="•"/>
            </a:pPr>
            <a:r>
              <a:rPr b="1" lang="en-US" sz="900">
                <a:solidFill>
                  <a:schemeClr val="dk1"/>
                </a:solidFill>
                <a:latin typeface="Calibri"/>
                <a:ea typeface="Calibri"/>
                <a:cs typeface="Calibri"/>
                <a:sym typeface="Calibri"/>
              </a:rPr>
              <a:t> Concise audio</a:t>
            </a:r>
            <a:endParaRPr/>
          </a:p>
          <a:p>
            <a:pPr indent="0" lvl="1" marL="0" marR="0" rtl="0" algn="l">
              <a:lnSpc>
                <a:spcPct val="100000"/>
              </a:lnSpc>
              <a:spcBef>
                <a:spcPts val="0"/>
              </a:spcBef>
              <a:spcAft>
                <a:spcPts val="0"/>
              </a:spcAft>
              <a:buClr>
                <a:schemeClr val="dk1"/>
              </a:buClr>
              <a:buSzPts val="900"/>
              <a:buFont typeface="Arial"/>
              <a:buNone/>
            </a:pPr>
            <a:r>
              <a:t/>
            </a:r>
            <a:endParaRPr b="1" sz="900">
              <a:solidFill>
                <a:schemeClr val="dk1"/>
              </a:solidFill>
              <a:latin typeface="Calibri"/>
              <a:ea typeface="Calibri"/>
              <a:cs typeface="Calibri"/>
              <a:sym typeface="Calibri"/>
            </a:endParaRPr>
          </a:p>
          <a:p>
            <a:pPr indent="0" lvl="1" marL="0" marR="0" rtl="0" algn="l">
              <a:lnSpc>
                <a:spcPct val="100000"/>
              </a:lnSpc>
              <a:spcBef>
                <a:spcPts val="0"/>
              </a:spcBef>
              <a:spcAft>
                <a:spcPts val="0"/>
              </a:spcAft>
              <a:buClr>
                <a:schemeClr val="dk1"/>
              </a:buClr>
              <a:buSzPts val="900"/>
              <a:buFont typeface="Arial"/>
              <a:buNone/>
            </a:pPr>
            <a:r>
              <a:rPr lang="en-US" sz="900"/>
              <a:t>The ext2 (second extended) file system was developed by Remi Card in 1993 as an improvement over the original ext file system (ext1), </a:t>
            </a:r>
            <a:endParaRPr b="0" sz="900">
              <a:solidFill>
                <a:schemeClr val="dk1"/>
              </a:solidFill>
              <a:latin typeface="Calibri"/>
              <a:ea typeface="Calibri"/>
              <a:cs typeface="Calibri"/>
              <a:sym typeface="Calibri"/>
            </a:endParaRPr>
          </a:p>
          <a:p>
            <a:pPr indent="0" lvl="1" marL="0" marR="0" rtl="0" algn="l">
              <a:lnSpc>
                <a:spcPct val="100000"/>
              </a:lnSpc>
              <a:spcBef>
                <a:spcPts val="0"/>
              </a:spcBef>
              <a:spcAft>
                <a:spcPts val="0"/>
              </a:spcAft>
              <a:buClr>
                <a:schemeClr val="dk1"/>
              </a:buClr>
              <a:buSzPts val="900"/>
              <a:buFont typeface="Arial"/>
              <a:buNone/>
            </a:pPr>
            <a:r>
              <a:rPr lang="en-US" sz="900"/>
              <a:t>Here are some key features of the ext2 file system:</a:t>
            </a:r>
            <a:endParaRPr/>
          </a:p>
          <a:p>
            <a:pPr indent="0" lvl="0" marL="0" rtl="0" algn="l">
              <a:spcBef>
                <a:spcPts val="0"/>
              </a:spcBef>
              <a:spcAft>
                <a:spcPts val="0"/>
              </a:spcAft>
              <a:buNone/>
            </a:pPr>
            <a:r>
              <a:rPr b="1" lang="en-US" sz="900">
                <a:solidFill>
                  <a:schemeClr val="dk1"/>
                </a:solidFill>
                <a:latin typeface="Calibri"/>
                <a:ea typeface="Calibri"/>
                <a:cs typeface="Calibri"/>
                <a:sym typeface="Calibri"/>
              </a:rPr>
              <a:t> </a:t>
            </a:r>
            <a:r>
              <a:rPr lang="en-US"/>
              <a:t>File permissions: The ext2 file system includes a sophisticated file permission system that allows for different levels of access to files and directories.</a:t>
            </a:r>
            <a:endParaRPr/>
          </a:p>
          <a:p>
            <a:pPr indent="0" lvl="0" marL="0" rtl="0" algn="l">
              <a:spcBef>
                <a:spcPts val="0"/>
              </a:spcBef>
              <a:spcAft>
                <a:spcPts val="0"/>
              </a:spcAft>
              <a:buNone/>
            </a:pPr>
            <a:r>
              <a:rPr lang="en-US"/>
              <a:t>Large file support: The ext2 file system supports large files up to </a:t>
            </a:r>
            <a:r>
              <a:rPr lang="en-US" sz="1200"/>
              <a:t>16GB - 2TB, depending upon block size (1K, 2K, 4K or 8K)</a:t>
            </a:r>
            <a:r>
              <a:rPr lang="en-US"/>
              <a:t>.</a:t>
            </a:r>
            <a:endParaRPr/>
          </a:p>
          <a:p>
            <a:pPr indent="0" lvl="0" marL="0" rtl="0" algn="l">
              <a:spcBef>
                <a:spcPts val="0"/>
              </a:spcBef>
              <a:spcAft>
                <a:spcPts val="0"/>
              </a:spcAft>
              <a:buNone/>
            </a:pPr>
            <a:r>
              <a:rPr lang="en-US"/>
              <a:t>Large volume support: The ext2 file system supports volumes up to 2TB to 32 TB terabytes in size, </a:t>
            </a:r>
            <a:r>
              <a:rPr lang="en-US" sz="1200"/>
              <a:t>depending upon block size (1K, 2K, 4K or 8K)</a:t>
            </a:r>
            <a:endParaRPr/>
          </a:p>
          <a:p>
            <a:pPr indent="0" lvl="0" marL="0" rtl="0" algn="l">
              <a:spcBef>
                <a:spcPts val="0"/>
              </a:spcBef>
              <a:spcAft>
                <a:spcPts val="0"/>
              </a:spcAft>
              <a:buNone/>
            </a:pPr>
            <a:r>
              <a:rPr lang="en-US"/>
              <a:t>Directory indexing: The ext2 file system includes a feature called "dir_index" that speeds up file access by indexing the directories on the file system.</a:t>
            </a:r>
            <a:endParaRPr/>
          </a:p>
          <a:p>
            <a:pPr indent="0" lvl="0" marL="0" rtl="0" algn="l">
              <a:spcBef>
                <a:spcPts val="0"/>
              </a:spcBef>
              <a:spcAft>
                <a:spcPts val="0"/>
              </a:spcAft>
              <a:buNone/>
            </a:pPr>
            <a:r>
              <a:rPr lang="en-US"/>
              <a:t>Online resizing: The ext2 file system supports online resizing, which means that the file system can be expanded or reduced in size while it is still mounted and in use.</a:t>
            </a:r>
            <a:endParaRPr/>
          </a:p>
        </p:txBody>
      </p:sp>
      <p:sp>
        <p:nvSpPr>
          <p:cNvPr id="216" name="Google Shape;216;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57150" lvl="1" marL="0" marR="0" rtl="0" algn="l">
              <a:lnSpc>
                <a:spcPct val="100000"/>
              </a:lnSpc>
              <a:spcBef>
                <a:spcPts val="0"/>
              </a:spcBef>
              <a:spcAft>
                <a:spcPts val="0"/>
              </a:spcAft>
              <a:buClr>
                <a:schemeClr val="dk1"/>
              </a:buClr>
              <a:buSzPts val="900"/>
              <a:buFont typeface="Arial"/>
              <a:buChar char="•"/>
            </a:pPr>
            <a:r>
              <a:rPr b="1" lang="en-US" sz="900">
                <a:solidFill>
                  <a:schemeClr val="dk1"/>
                </a:solidFill>
                <a:latin typeface="Calibri"/>
                <a:ea typeface="Calibri"/>
                <a:cs typeface="Calibri"/>
                <a:sym typeface="Calibri"/>
              </a:rPr>
              <a:t>Concise audio</a:t>
            </a:r>
            <a:endParaRPr/>
          </a:p>
          <a:p>
            <a:pPr indent="0" lvl="0" marL="0" rtl="0" algn="l">
              <a:spcBef>
                <a:spcPts val="0"/>
              </a:spcBef>
              <a:spcAft>
                <a:spcPts val="0"/>
              </a:spcAft>
              <a:buNone/>
            </a:pPr>
            <a:r>
              <a:rPr lang="en-US"/>
              <a:t>The ext3 (third extended) file system is a file system was developed by </a:t>
            </a:r>
            <a:r>
              <a:rPr lang="en-US" sz="1200"/>
              <a:t>Stephen Tweedie </a:t>
            </a:r>
            <a:r>
              <a:rPr lang="en-US"/>
              <a:t>in 2001 as an improvement over the ext2 file system.</a:t>
            </a:r>
            <a:endParaRPr/>
          </a:p>
          <a:p>
            <a:pPr indent="0" lvl="0" marL="0" marR="0" rtl="0" algn="l">
              <a:lnSpc>
                <a:spcPct val="100000"/>
              </a:lnSpc>
              <a:spcBef>
                <a:spcPts val="0"/>
              </a:spcBef>
              <a:spcAft>
                <a:spcPts val="0"/>
              </a:spcAft>
              <a:buClr>
                <a:schemeClr val="dk1"/>
              </a:buClr>
              <a:buSzPts val="1200"/>
              <a:buFont typeface="Calibri"/>
              <a:buNone/>
            </a:pPr>
            <a:r>
              <a:rPr lang="en-US"/>
              <a:t>Here are some key features of the ext3 file system:</a:t>
            </a:r>
            <a:endParaRPr/>
          </a:p>
          <a:p>
            <a:pPr indent="0" lvl="0" marL="0" rtl="0" algn="l">
              <a:spcBef>
                <a:spcPts val="0"/>
              </a:spcBef>
              <a:spcAft>
                <a:spcPts val="0"/>
              </a:spcAft>
              <a:buNone/>
            </a:pPr>
            <a:r>
              <a:rPr lang="en-US"/>
              <a:t>Journaling: The ext3 file system includes journaling, which provides a way to recover from system crashes and other errors more quickly and easily. </a:t>
            </a:r>
            <a:endParaRPr/>
          </a:p>
          <a:p>
            <a:pPr indent="0" lvl="0" marL="0" rtl="0" algn="l">
              <a:spcBef>
                <a:spcPts val="0"/>
              </a:spcBef>
              <a:spcAft>
                <a:spcPts val="0"/>
              </a:spcAft>
              <a:buNone/>
            </a:pPr>
            <a:r>
              <a:rPr lang="en-US" sz="1200"/>
              <a:t>An ext2 filesystem can be converted to ext3 without any need of backup.</a:t>
            </a:r>
            <a:endParaRPr b="0"/>
          </a:p>
          <a:p>
            <a:pPr indent="0" lvl="0" marL="0" rtl="0" algn="l">
              <a:spcBef>
                <a:spcPts val="0"/>
              </a:spcBef>
              <a:spcAft>
                <a:spcPts val="0"/>
              </a:spcAft>
              <a:buClr>
                <a:schemeClr val="dk1"/>
              </a:buClr>
              <a:buSzPts val="1200"/>
              <a:buFont typeface="Arial"/>
              <a:buNone/>
            </a:pPr>
            <a:r>
              <a:t/>
            </a:r>
            <a:endParaRPr b="0"/>
          </a:p>
          <a:p>
            <a:pPr indent="0" lvl="0" marL="0" rtl="0" algn="l">
              <a:spcBef>
                <a:spcPts val="0"/>
              </a:spcBef>
              <a:spcAft>
                <a:spcPts val="0"/>
              </a:spcAft>
              <a:buClr>
                <a:schemeClr val="dk1"/>
              </a:buClr>
              <a:buSzPts val="1200"/>
              <a:buFont typeface="Arial"/>
              <a:buNone/>
            </a:pPr>
            <a:r>
              <a:rPr b="1" lang="en-US" sz="1200">
                <a:solidFill>
                  <a:schemeClr val="dk1"/>
                </a:solidFill>
                <a:latin typeface="Calibri"/>
                <a:ea typeface="Calibri"/>
                <a:cs typeface="Calibri"/>
                <a:sym typeface="Calibri"/>
              </a:rPr>
              <a:t>Glossary</a:t>
            </a:r>
            <a:endParaRPr/>
          </a:p>
          <a:p>
            <a:pPr indent="0" lvl="0" marL="0" rtl="0" algn="l">
              <a:spcBef>
                <a:spcPts val="0"/>
              </a:spcBef>
              <a:spcAft>
                <a:spcPts val="0"/>
              </a:spcAft>
              <a:buClr>
                <a:schemeClr val="dk1"/>
              </a:buClr>
              <a:buSzPts val="1200"/>
              <a:buFont typeface="Arial"/>
              <a:buNone/>
            </a:pPr>
            <a:r>
              <a:rPr lang="en-US"/>
              <a:t>Overall, the ext3 file system is a reliable and robust file system that is well-suited for use on Linux systems. The main advantage of ext3 over ext2 is its journaling feature, which provides improved data reliability and faster file system recovery in the event of system crashes or other errors.</a:t>
            </a:r>
            <a:endParaRPr b="0"/>
          </a:p>
        </p:txBody>
      </p:sp>
      <p:sp>
        <p:nvSpPr>
          <p:cNvPr id="225" name="Google Shape;225;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57150" lvl="1" marL="0" marR="0" rtl="0" algn="l">
              <a:lnSpc>
                <a:spcPct val="100000"/>
              </a:lnSpc>
              <a:spcBef>
                <a:spcPts val="0"/>
              </a:spcBef>
              <a:spcAft>
                <a:spcPts val="0"/>
              </a:spcAft>
              <a:buClr>
                <a:schemeClr val="dk1"/>
              </a:buClr>
              <a:buSzPts val="900"/>
              <a:buFont typeface="Arial"/>
              <a:buChar char="•"/>
            </a:pPr>
            <a:r>
              <a:rPr b="1" lang="en-US" sz="900">
                <a:solidFill>
                  <a:schemeClr val="dk1"/>
                </a:solidFill>
                <a:latin typeface="Calibri"/>
                <a:ea typeface="Calibri"/>
                <a:cs typeface="Calibri"/>
                <a:sym typeface="Calibri"/>
              </a:rPr>
              <a:t>Concise audio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ext4 (fourth extended) file system was released in 2008 as an improvement over the ext3 file system, and is currently the default file system for many Linux distributions.</a:t>
            </a:r>
            <a:endParaRPr/>
          </a:p>
          <a:p>
            <a:pPr indent="0" lvl="0" marL="0" marR="0" rtl="0" algn="l">
              <a:lnSpc>
                <a:spcPct val="100000"/>
              </a:lnSpc>
              <a:spcBef>
                <a:spcPts val="0"/>
              </a:spcBef>
              <a:spcAft>
                <a:spcPts val="0"/>
              </a:spcAft>
              <a:buClr>
                <a:schemeClr val="dk1"/>
              </a:buClr>
              <a:buSzPts val="1200"/>
              <a:buFont typeface="Calibri"/>
              <a:buNone/>
            </a:pPr>
            <a:r>
              <a:rPr lang="en-US"/>
              <a:t>Here are some key features of the ext4 file system:</a:t>
            </a:r>
            <a:endParaRPr/>
          </a:p>
          <a:p>
            <a:pPr indent="0" lvl="0" marL="0" rtl="0" algn="l">
              <a:spcBef>
                <a:spcPts val="0"/>
              </a:spcBef>
              <a:spcAft>
                <a:spcPts val="0"/>
              </a:spcAft>
              <a:buNone/>
            </a:pPr>
            <a:r>
              <a:rPr lang="en-US"/>
              <a:t>Large file support: The ext4 file system supports large files, up to several exabytes in size.</a:t>
            </a:r>
            <a:endParaRPr/>
          </a:p>
          <a:p>
            <a:pPr indent="0" lvl="0" marL="0" rtl="0" algn="l">
              <a:spcBef>
                <a:spcPts val="0"/>
              </a:spcBef>
              <a:spcAft>
                <a:spcPts val="0"/>
              </a:spcAft>
              <a:buNone/>
            </a:pPr>
            <a:r>
              <a:rPr lang="en-US"/>
              <a:t>Large volume support: The ext4 file system supports volumes up to 1 exabyte in size.</a:t>
            </a:r>
            <a:endParaRPr/>
          </a:p>
          <a:p>
            <a:pPr indent="0" lvl="0" marL="0" rtl="0" algn="l">
              <a:spcBef>
                <a:spcPts val="0"/>
              </a:spcBef>
              <a:spcAft>
                <a:spcPts val="0"/>
              </a:spcAft>
              <a:buNone/>
            </a:pPr>
            <a:r>
              <a:rPr lang="en-US"/>
              <a:t>Online defragmentation: The ext4 file system includes a feature called "online defragmentation" that improves file system performance by reducing file fragmentation while the file system is in use.</a:t>
            </a:r>
            <a:endParaRPr/>
          </a:p>
          <a:p>
            <a:pPr indent="0" lvl="0" marL="0" rtl="0" algn="l">
              <a:spcBef>
                <a:spcPts val="0"/>
              </a:spcBef>
              <a:spcAft>
                <a:spcPts val="0"/>
              </a:spcAft>
              <a:buNone/>
            </a:pPr>
            <a:r>
              <a:rPr lang="en-US"/>
              <a:t>Delayed allocation: The ext4 file system includes a feature called "delayed allocation" that improves file system performance by postponing the allocation of disk space until it is actually needed.</a:t>
            </a:r>
            <a:endParaRPr/>
          </a:p>
          <a:p>
            <a:pPr indent="0" lvl="0" marL="0" rtl="0" algn="l">
              <a:spcBef>
                <a:spcPts val="0"/>
              </a:spcBef>
              <a:spcAft>
                <a:spcPts val="0"/>
              </a:spcAft>
              <a:buNone/>
            </a:pPr>
            <a:r>
              <a:rPr lang="en-US"/>
              <a:t>Encryption: The ext4 file system includes a feature called "encrypted file system" that allows for file-level encryption of data on the file system.</a:t>
            </a:r>
            <a:endParaRPr/>
          </a:p>
          <a:p>
            <a:pPr indent="0" lvl="0" marL="0" rtl="0" algn="l">
              <a:spcBef>
                <a:spcPts val="0"/>
              </a:spcBef>
              <a:spcAft>
                <a:spcPts val="0"/>
              </a:spcAft>
              <a:buClr>
                <a:schemeClr val="dk1"/>
              </a:buClr>
              <a:buSzPts val="1200"/>
              <a:buFont typeface="Arial"/>
              <a:buNone/>
            </a:pPr>
            <a:r>
              <a:rPr b="0" lang="en-US"/>
              <a:t>•On a single partition we can create 4 billion files.</a:t>
            </a:r>
            <a:endParaRPr b="0"/>
          </a:p>
          <a:p>
            <a:pPr indent="0" lvl="0" marL="0" rtl="0" algn="l">
              <a:spcBef>
                <a:spcPts val="0"/>
              </a:spcBef>
              <a:spcAft>
                <a:spcPts val="0"/>
              </a:spcAft>
              <a:buClr>
                <a:schemeClr val="dk1"/>
              </a:buClr>
              <a:buSzPts val="1200"/>
              <a:buFont typeface="Arial"/>
              <a:buNone/>
            </a:pPr>
            <a:r>
              <a:t/>
            </a:r>
            <a:endParaRPr b="0"/>
          </a:p>
          <a:p>
            <a:pPr indent="0" lvl="0" marL="0" rtl="0" algn="l">
              <a:spcBef>
                <a:spcPts val="0"/>
              </a:spcBef>
              <a:spcAft>
                <a:spcPts val="0"/>
              </a:spcAft>
              <a:buClr>
                <a:schemeClr val="dk1"/>
              </a:buClr>
              <a:buSzPts val="1200"/>
              <a:buFont typeface="Arial"/>
              <a:buNone/>
            </a:pPr>
            <a:r>
              <a:rPr b="1" lang="en-US" sz="1200">
                <a:solidFill>
                  <a:schemeClr val="dk1"/>
                </a:solidFill>
                <a:latin typeface="Calibri"/>
                <a:ea typeface="Calibri"/>
                <a:cs typeface="Calibri"/>
                <a:sym typeface="Calibri"/>
              </a:rPr>
              <a:t>Glossary</a:t>
            </a:r>
            <a:endParaRPr/>
          </a:p>
          <a:p>
            <a:pPr indent="0" lvl="0" marL="0" rtl="0" algn="l">
              <a:spcBef>
                <a:spcPts val="0"/>
              </a:spcBef>
              <a:spcAft>
                <a:spcPts val="0"/>
              </a:spcAft>
              <a:buClr>
                <a:schemeClr val="dk1"/>
              </a:buClr>
              <a:buSzPts val="1200"/>
              <a:buFont typeface="Arial"/>
              <a:buNone/>
            </a:pPr>
            <a:r>
              <a:rPr lang="en-US"/>
              <a:t>Overall, the ext4 file system is a highly advanced and versatile file system that is well-suited for use on modern Linux systems. Its advanced features like online defragmentation, delayed allocation, and encryption make it a popular choice for many applications.</a:t>
            </a:r>
            <a:endParaRPr b="0"/>
          </a:p>
          <a:p>
            <a:pPr indent="0" lvl="0" marL="0" rtl="0" algn="l">
              <a:spcBef>
                <a:spcPts val="0"/>
              </a:spcBef>
              <a:spcAft>
                <a:spcPts val="0"/>
              </a:spcAft>
              <a:buClr>
                <a:schemeClr val="dk1"/>
              </a:buClr>
              <a:buSzPts val="1200"/>
              <a:buFont typeface="Arial"/>
              <a:buNone/>
            </a:pPr>
            <a:r>
              <a:t/>
            </a:r>
            <a:endParaRPr b="0"/>
          </a:p>
        </p:txBody>
      </p:sp>
      <p:sp>
        <p:nvSpPr>
          <p:cNvPr id="234" name="Google Shape;234;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1" marL="0" marR="0" rtl="0" algn="l">
              <a:lnSpc>
                <a:spcPct val="100000"/>
              </a:lnSpc>
              <a:spcBef>
                <a:spcPts val="0"/>
              </a:spcBef>
              <a:spcAft>
                <a:spcPts val="0"/>
              </a:spcAft>
              <a:buClr>
                <a:schemeClr val="dk1"/>
              </a:buClr>
              <a:buSzPts val="900"/>
              <a:buFont typeface="Calibri"/>
              <a:buNone/>
            </a:pPr>
            <a:r>
              <a:rPr b="1" lang="en-US" sz="900">
                <a:solidFill>
                  <a:schemeClr val="dk1"/>
                </a:solidFill>
                <a:latin typeface="Calibri"/>
                <a:ea typeface="Calibri"/>
                <a:cs typeface="Calibri"/>
                <a:sym typeface="Calibri"/>
              </a:rPr>
              <a:t> Concise audio</a:t>
            </a:r>
            <a:endParaRPr/>
          </a:p>
          <a:p>
            <a:pPr indent="0" lvl="1" marL="0" marR="0" rtl="0" algn="l">
              <a:lnSpc>
                <a:spcPct val="100000"/>
              </a:lnSpc>
              <a:spcBef>
                <a:spcPts val="0"/>
              </a:spcBef>
              <a:spcAft>
                <a:spcPts val="0"/>
              </a:spcAft>
              <a:buClr>
                <a:schemeClr val="dk1"/>
              </a:buClr>
              <a:buSzPts val="900"/>
              <a:buFont typeface="Calibri"/>
              <a:buNone/>
            </a:pPr>
            <a:r>
              <a:t/>
            </a:r>
            <a:endParaRPr b="1" sz="900">
              <a:solidFill>
                <a:schemeClr val="dk1"/>
              </a:solidFill>
              <a:latin typeface="Calibri"/>
              <a:ea typeface="Calibri"/>
              <a:cs typeface="Calibri"/>
              <a:sym typeface="Calibri"/>
            </a:endParaRPr>
          </a:p>
          <a:p>
            <a:pPr indent="0" lvl="0" marL="0" rtl="0" algn="l">
              <a:spcBef>
                <a:spcPts val="0"/>
              </a:spcBef>
              <a:spcAft>
                <a:spcPts val="0"/>
              </a:spcAft>
              <a:buNone/>
            </a:pPr>
            <a:r>
              <a:rPr lang="en-US"/>
              <a:t>XFS is a high-performance, 64-bit journaling file system developed by Silicon Graphics for use on Linux and other Unix-like operating systems. It was first released in 1994 and has since become a popular choice for many applications, particularly those that require high-performance file I/O.</a:t>
            </a:r>
            <a:endParaRPr/>
          </a:p>
          <a:p>
            <a:pPr indent="0" lvl="0" marL="0" marR="0" rtl="0" algn="l">
              <a:lnSpc>
                <a:spcPct val="100000"/>
              </a:lnSpc>
              <a:spcBef>
                <a:spcPts val="0"/>
              </a:spcBef>
              <a:spcAft>
                <a:spcPts val="0"/>
              </a:spcAft>
              <a:buClr>
                <a:schemeClr val="dk1"/>
              </a:buClr>
              <a:buSzPts val="1200"/>
              <a:buFont typeface="Calibri"/>
              <a:buNone/>
            </a:pPr>
            <a:r>
              <a:rPr lang="en-US"/>
              <a:t>Some key features of the XFS file system are:</a:t>
            </a:r>
            <a:endParaRPr/>
          </a:p>
          <a:p>
            <a:pPr indent="0" lvl="0" marL="0" rtl="0" algn="l">
              <a:spcBef>
                <a:spcPts val="0"/>
              </a:spcBef>
              <a:spcAft>
                <a:spcPts val="0"/>
              </a:spcAft>
              <a:buNone/>
            </a:pPr>
            <a:r>
              <a:rPr lang="en-US"/>
              <a:t>Large file support: The XFS file system supports large files, up to 8 exabytes in size.</a:t>
            </a:r>
            <a:endParaRPr/>
          </a:p>
          <a:p>
            <a:pPr indent="0" lvl="0" marL="0" rtl="0" algn="l">
              <a:spcBef>
                <a:spcPts val="0"/>
              </a:spcBef>
              <a:spcAft>
                <a:spcPts val="0"/>
              </a:spcAft>
              <a:buNone/>
            </a:pPr>
            <a:r>
              <a:rPr lang="en-US"/>
              <a:t>Large volume support: The XFS file system supports volumes up to 8 exabytes in size.</a:t>
            </a:r>
            <a:endParaRPr/>
          </a:p>
          <a:p>
            <a:pPr indent="0" lvl="0" marL="0" rtl="0" algn="l">
              <a:spcBef>
                <a:spcPts val="0"/>
              </a:spcBef>
              <a:spcAft>
                <a:spcPts val="0"/>
              </a:spcAft>
              <a:buNone/>
            </a:pPr>
            <a:r>
              <a:rPr lang="en-US"/>
              <a:t>Scalability: The XFS file system is highly scalable, with support for large files, large volumes, and many concurrent I/O operations.</a:t>
            </a:r>
            <a:endParaRPr/>
          </a:p>
          <a:p>
            <a:pPr indent="0" lvl="0" marL="0" rtl="0" algn="l">
              <a:spcBef>
                <a:spcPts val="0"/>
              </a:spcBef>
              <a:spcAft>
                <a:spcPts val="0"/>
              </a:spcAft>
              <a:buNone/>
            </a:pPr>
            <a:r>
              <a:rPr lang="en-US"/>
              <a:t>Online resizing: The XFS file system supports online resizing, which means that the file system can be expanded or reduced in size while it is still mounted and in use.</a:t>
            </a:r>
            <a:endParaRPr/>
          </a:p>
          <a:p>
            <a:pPr indent="0" lvl="0" marL="0" rtl="0" algn="l">
              <a:spcBef>
                <a:spcPts val="0"/>
              </a:spcBef>
              <a:spcAft>
                <a:spcPts val="0"/>
              </a:spcAft>
              <a:buNone/>
            </a:pPr>
            <a:r>
              <a:rPr lang="en-US"/>
              <a:t>Advanced features: The XFS file system includes many advanced features, such as support for file system snapshots, file-level encryption, and extended attributes.</a:t>
            </a:r>
            <a:endParaRPr/>
          </a:p>
          <a:p>
            <a:pPr indent="0" lvl="0" marL="0" rtl="0" algn="l">
              <a:spcBef>
                <a:spcPts val="0"/>
              </a:spcBef>
              <a:spcAft>
                <a:spcPts val="0"/>
              </a:spcAft>
              <a:buClr>
                <a:schemeClr val="dk1"/>
              </a:buClr>
              <a:buSzPts val="1200"/>
              <a:buFont typeface="Arial"/>
              <a:buNone/>
            </a:pPr>
            <a:r>
              <a:t/>
            </a:r>
            <a:endParaRPr b="0"/>
          </a:p>
          <a:p>
            <a:pPr indent="0" lvl="0" marL="0" rtl="0" algn="l">
              <a:spcBef>
                <a:spcPts val="0"/>
              </a:spcBef>
              <a:spcAft>
                <a:spcPts val="0"/>
              </a:spcAft>
              <a:buClr>
                <a:schemeClr val="dk1"/>
              </a:buClr>
              <a:buSzPts val="1200"/>
              <a:buFont typeface="Arial"/>
              <a:buNone/>
            </a:pPr>
            <a:r>
              <a:rPr b="1" lang="en-US"/>
              <a:t>Point to remember</a:t>
            </a:r>
            <a:r>
              <a:rPr b="0" lang="en-US"/>
              <a:t> </a:t>
            </a:r>
            <a:endParaRPr/>
          </a:p>
          <a:p>
            <a:pPr indent="0" lvl="0" marL="0" rtl="0" algn="l">
              <a:spcBef>
                <a:spcPts val="0"/>
              </a:spcBef>
              <a:spcAft>
                <a:spcPts val="0"/>
              </a:spcAft>
              <a:buClr>
                <a:schemeClr val="dk1"/>
              </a:buClr>
              <a:buSzPts val="1200"/>
              <a:buFont typeface="Arial"/>
              <a:buNone/>
            </a:pPr>
            <a:r>
              <a:rPr b="0" lang="en-US"/>
              <a:t>These file systems (ext,ext2,ext3,ext4,xfs) are only for Linux, not Windows</a:t>
            </a:r>
            <a:endParaRPr/>
          </a:p>
        </p:txBody>
      </p:sp>
      <p:sp>
        <p:nvSpPr>
          <p:cNvPr id="243" name="Google Shape;243;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75d97e9ad3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75d97e9ad3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g375d97e9ad3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75d97e9ad3_0_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75d97e9ad3_0_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g375d97e9ad3_0_2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75d97e9ad3_0_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75d97e9ad3_0_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g375d97e9ad3_0_3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lang="en-US" sz="1200">
                <a:solidFill>
                  <a:schemeClr val="dk1"/>
                </a:solidFill>
                <a:latin typeface="Calibri"/>
                <a:ea typeface="Calibri"/>
                <a:cs typeface="Calibri"/>
                <a:sym typeface="Calibri"/>
              </a:rPr>
              <a:t>Concise audio</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Now, let's see the Linux file system structure. It follows the hierarchical structure and the top of the hierarchy we have / and here it calls it a root file system. There are a many directories that comes under this /(root). </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 </a:t>
            </a:r>
            <a:endParaRPr/>
          </a:p>
          <a:p>
            <a:pPr indent="-274320" lvl="0" marL="274320" rtl="0" algn="l">
              <a:lnSpc>
                <a:spcPct val="80000"/>
              </a:lnSpc>
              <a:spcBef>
                <a:spcPts val="580"/>
              </a:spcBef>
              <a:spcAft>
                <a:spcPts val="0"/>
              </a:spcAft>
              <a:buClr>
                <a:schemeClr val="dk1"/>
              </a:buClr>
              <a:buSzPts val="1400"/>
              <a:buFont typeface="Noto Sans Symbols"/>
              <a:buChar char="⚫"/>
            </a:pPr>
            <a:r>
              <a:rPr lang="en-US" sz="1400">
                <a:latin typeface="Courier New"/>
                <a:ea typeface="Courier New"/>
                <a:cs typeface="Courier New"/>
                <a:sym typeface="Courier New"/>
              </a:rPr>
              <a:t>/home</a:t>
            </a:r>
            <a:r>
              <a:rPr lang="en-US" sz="1400"/>
              <a:t> </a:t>
            </a:r>
            <a:endParaRPr/>
          </a:p>
          <a:p>
            <a:pPr indent="-88900" lvl="1" marL="548640" rtl="0" algn="l">
              <a:lnSpc>
                <a:spcPct val="80000"/>
              </a:lnSpc>
              <a:spcBef>
                <a:spcPts val="370"/>
              </a:spcBef>
              <a:spcAft>
                <a:spcPts val="0"/>
              </a:spcAft>
              <a:buClr>
                <a:schemeClr val="dk1"/>
              </a:buClr>
              <a:buSzPts val="1400"/>
              <a:buFont typeface="Noto Sans Symbols"/>
              <a:buChar char="⚫"/>
            </a:pPr>
            <a:r>
              <a:rPr lang="en-US" sz="1400"/>
              <a:t>Contains the default location for user home directories</a:t>
            </a:r>
            <a:endParaRPr/>
          </a:p>
          <a:p>
            <a:pPr indent="-274320" lvl="0" marL="274320" rtl="0" algn="l">
              <a:lnSpc>
                <a:spcPct val="80000"/>
              </a:lnSpc>
              <a:spcBef>
                <a:spcPts val="580"/>
              </a:spcBef>
              <a:spcAft>
                <a:spcPts val="0"/>
              </a:spcAft>
              <a:buClr>
                <a:schemeClr val="dk1"/>
              </a:buClr>
              <a:buSzPts val="1400"/>
              <a:buFont typeface="Noto Sans Symbols"/>
              <a:buChar char="⚫"/>
            </a:pPr>
            <a:r>
              <a:rPr lang="en-US" sz="1400">
                <a:latin typeface="Courier New"/>
                <a:ea typeface="Courier New"/>
                <a:cs typeface="Courier New"/>
                <a:sym typeface="Courier New"/>
              </a:rPr>
              <a:t>/bin</a:t>
            </a:r>
            <a:r>
              <a:rPr lang="en-US" sz="1400"/>
              <a:t>, </a:t>
            </a:r>
            <a:r>
              <a:rPr lang="en-US" sz="1400">
                <a:latin typeface="Courier New"/>
                <a:ea typeface="Courier New"/>
                <a:cs typeface="Courier New"/>
                <a:sym typeface="Courier New"/>
              </a:rPr>
              <a:t>/usr/bin</a:t>
            </a:r>
            <a:r>
              <a:rPr lang="en-US" sz="1400"/>
              <a:t> </a:t>
            </a:r>
            <a:endParaRPr/>
          </a:p>
          <a:p>
            <a:pPr indent="-88900" lvl="1" marL="548640" rtl="0" algn="l">
              <a:lnSpc>
                <a:spcPct val="80000"/>
              </a:lnSpc>
              <a:spcBef>
                <a:spcPts val="370"/>
              </a:spcBef>
              <a:spcAft>
                <a:spcPts val="0"/>
              </a:spcAft>
              <a:buClr>
                <a:schemeClr val="dk1"/>
              </a:buClr>
              <a:buSzPts val="1400"/>
              <a:buFont typeface="Noto Sans Symbols"/>
              <a:buChar char="⚫"/>
            </a:pPr>
            <a:r>
              <a:rPr lang="en-US" sz="1400"/>
              <a:t>system commands (like ls, cp, etc) stored in these directories</a:t>
            </a:r>
            <a:endParaRPr sz="1400"/>
          </a:p>
          <a:p>
            <a:pPr indent="-274320" lvl="0" marL="274320" rtl="0" algn="l">
              <a:lnSpc>
                <a:spcPct val="80000"/>
              </a:lnSpc>
              <a:spcBef>
                <a:spcPts val="580"/>
              </a:spcBef>
              <a:spcAft>
                <a:spcPts val="0"/>
              </a:spcAft>
              <a:buClr>
                <a:schemeClr val="dk1"/>
              </a:buClr>
              <a:buSzPts val="1400"/>
              <a:buFont typeface="Noto Sans Symbols"/>
              <a:buChar char="⚫"/>
            </a:pPr>
            <a:r>
              <a:rPr lang="en-US" sz="1400">
                <a:latin typeface="Courier New"/>
                <a:ea typeface="Courier New"/>
                <a:cs typeface="Courier New"/>
                <a:sym typeface="Courier New"/>
              </a:rPr>
              <a:t>/sbin</a:t>
            </a:r>
            <a:r>
              <a:rPr lang="en-US" sz="1400"/>
              <a:t>, </a:t>
            </a:r>
            <a:r>
              <a:rPr lang="en-US" sz="1400">
                <a:latin typeface="Courier New"/>
                <a:ea typeface="Courier New"/>
                <a:cs typeface="Courier New"/>
                <a:sym typeface="Courier New"/>
              </a:rPr>
              <a:t>/usr/sbin</a:t>
            </a:r>
            <a:r>
              <a:rPr lang="en-US" sz="1400"/>
              <a:t> </a:t>
            </a:r>
            <a:endParaRPr/>
          </a:p>
          <a:p>
            <a:pPr indent="-88900" lvl="1" marL="548640" rtl="0" algn="l">
              <a:lnSpc>
                <a:spcPct val="80000"/>
              </a:lnSpc>
              <a:spcBef>
                <a:spcPts val="370"/>
              </a:spcBef>
              <a:spcAft>
                <a:spcPts val="0"/>
              </a:spcAft>
              <a:buClr>
                <a:schemeClr val="dk1"/>
              </a:buClr>
              <a:buSzPts val="1400"/>
              <a:buFont typeface="Noto Sans Symbols"/>
              <a:buChar char="⚫"/>
            </a:pPr>
            <a:r>
              <a:rPr lang="en-US" sz="1400"/>
              <a:t>These two directories contains the commands used by system admins</a:t>
            </a:r>
            <a:endParaRPr sz="1400"/>
          </a:p>
          <a:p>
            <a:pPr indent="-274320" lvl="0" marL="274320" rtl="0" algn="l">
              <a:lnSpc>
                <a:spcPct val="80000"/>
              </a:lnSpc>
              <a:spcBef>
                <a:spcPts val="580"/>
              </a:spcBef>
              <a:spcAft>
                <a:spcPts val="0"/>
              </a:spcAft>
              <a:buClr>
                <a:schemeClr val="dk1"/>
              </a:buClr>
              <a:buSzPts val="1400"/>
              <a:buFont typeface="Noto Sans Symbols"/>
              <a:buChar char="⚫"/>
            </a:pPr>
            <a:r>
              <a:rPr lang="en-US" sz="1400">
                <a:latin typeface="Courier New"/>
                <a:ea typeface="Courier New"/>
                <a:cs typeface="Courier New"/>
                <a:sym typeface="Courier New"/>
              </a:rPr>
              <a:t>/etc</a:t>
            </a:r>
            <a:endParaRPr/>
          </a:p>
          <a:p>
            <a:pPr indent="-88900" lvl="1" marL="548640" rtl="0" algn="l">
              <a:lnSpc>
                <a:spcPct val="80000"/>
              </a:lnSpc>
              <a:spcBef>
                <a:spcPts val="370"/>
              </a:spcBef>
              <a:spcAft>
                <a:spcPts val="0"/>
              </a:spcAft>
              <a:buClr>
                <a:schemeClr val="dk1"/>
              </a:buClr>
              <a:buSzPts val="1400"/>
              <a:buFont typeface="Noto Sans Symbols"/>
              <a:buChar char="⚫"/>
            </a:pPr>
            <a:r>
              <a:rPr lang="en-US" sz="1400"/>
              <a:t>all sorts of configuration files are stored in this folder</a:t>
            </a:r>
            <a:endParaRPr/>
          </a:p>
          <a:p>
            <a:pPr indent="-274320" lvl="0" marL="274320" rtl="0" algn="l">
              <a:lnSpc>
                <a:spcPct val="80000"/>
              </a:lnSpc>
              <a:spcBef>
                <a:spcPts val="580"/>
              </a:spcBef>
              <a:spcAft>
                <a:spcPts val="0"/>
              </a:spcAft>
              <a:buClr>
                <a:schemeClr val="dk1"/>
              </a:buClr>
              <a:buSzPts val="1400"/>
              <a:buFont typeface="Noto Sans Symbols"/>
              <a:buChar char="⚫"/>
            </a:pPr>
            <a:r>
              <a:rPr lang="en-US" sz="1400">
                <a:latin typeface="Courier New"/>
                <a:ea typeface="Courier New"/>
                <a:cs typeface="Courier New"/>
                <a:sym typeface="Courier New"/>
              </a:rPr>
              <a:t>/var</a:t>
            </a:r>
            <a:endParaRPr sz="1400">
              <a:latin typeface="Courier New"/>
              <a:ea typeface="Courier New"/>
              <a:cs typeface="Courier New"/>
              <a:sym typeface="Courier New"/>
            </a:endParaRPr>
          </a:p>
          <a:p>
            <a:pPr indent="-88900" lvl="1" marL="548640" rtl="0" algn="l">
              <a:lnSpc>
                <a:spcPct val="80000"/>
              </a:lnSpc>
              <a:spcBef>
                <a:spcPts val="370"/>
              </a:spcBef>
              <a:spcAft>
                <a:spcPts val="0"/>
              </a:spcAft>
              <a:buClr>
                <a:schemeClr val="dk1"/>
              </a:buClr>
              <a:buSzPts val="1400"/>
              <a:buFont typeface="Noto Sans Symbols"/>
              <a:buChar char="⚫"/>
            </a:pPr>
            <a:r>
              <a:rPr lang="en-US" sz="1400"/>
              <a:t>Contains log files and spools directories.</a:t>
            </a:r>
            <a:endParaRPr/>
          </a:p>
          <a:p>
            <a:pPr indent="-274320" lvl="0" marL="274320" rtl="0" algn="l">
              <a:lnSpc>
                <a:spcPct val="80000"/>
              </a:lnSpc>
              <a:spcBef>
                <a:spcPts val="580"/>
              </a:spcBef>
              <a:spcAft>
                <a:spcPts val="0"/>
              </a:spcAft>
              <a:buClr>
                <a:schemeClr val="dk1"/>
              </a:buClr>
              <a:buSzPts val="1400"/>
              <a:buFont typeface="Noto Sans Symbols"/>
              <a:buChar char="⚫"/>
            </a:pPr>
            <a:r>
              <a:rPr lang="en-US" sz="1400">
                <a:latin typeface="Courier New"/>
                <a:ea typeface="Courier New"/>
                <a:cs typeface="Courier New"/>
                <a:sym typeface="Courier New"/>
              </a:rPr>
              <a:t>/dev</a:t>
            </a:r>
            <a:endParaRPr/>
          </a:p>
          <a:p>
            <a:pPr indent="-88900" lvl="1" marL="548640" rtl="0" algn="l">
              <a:lnSpc>
                <a:spcPct val="80000"/>
              </a:lnSpc>
              <a:spcBef>
                <a:spcPts val="370"/>
              </a:spcBef>
              <a:spcAft>
                <a:spcPts val="0"/>
              </a:spcAft>
              <a:buClr>
                <a:schemeClr val="dk1"/>
              </a:buClr>
              <a:buSzPts val="1400"/>
              <a:buFont typeface="Noto Sans Symbols"/>
              <a:buChar char="⚫"/>
            </a:pPr>
            <a:r>
              <a:rPr lang="en-US" sz="1400"/>
              <a:t>device files are stored in this folder</a:t>
            </a:r>
            <a:endParaRPr/>
          </a:p>
          <a:p>
            <a:pPr indent="-274320" lvl="0" marL="274320" rtl="0" algn="l">
              <a:lnSpc>
                <a:spcPct val="80000"/>
              </a:lnSpc>
              <a:spcBef>
                <a:spcPts val="580"/>
              </a:spcBef>
              <a:spcAft>
                <a:spcPts val="0"/>
              </a:spcAft>
              <a:buClr>
                <a:schemeClr val="dk1"/>
              </a:buClr>
              <a:buSzPts val="1400"/>
              <a:buFont typeface="Noto Sans Symbols"/>
              <a:buChar char="⚫"/>
            </a:pPr>
            <a:r>
              <a:rPr lang="en-US" sz="1400">
                <a:latin typeface="Courier New"/>
                <a:ea typeface="Courier New"/>
                <a:cs typeface="Courier New"/>
                <a:sym typeface="Courier New"/>
              </a:rPr>
              <a:t>/proc</a:t>
            </a:r>
            <a:endParaRPr/>
          </a:p>
          <a:p>
            <a:pPr indent="-88900" lvl="1" marL="548640" rtl="0" algn="l">
              <a:lnSpc>
                <a:spcPct val="80000"/>
              </a:lnSpc>
              <a:spcBef>
                <a:spcPts val="370"/>
              </a:spcBef>
              <a:spcAft>
                <a:spcPts val="0"/>
              </a:spcAft>
              <a:buClr>
                <a:schemeClr val="dk1"/>
              </a:buClr>
              <a:buSzPts val="1400"/>
              <a:buFont typeface="Noto Sans Symbols"/>
              <a:buChar char="⚫"/>
            </a:pPr>
            <a:r>
              <a:rPr lang="en-US" sz="1400"/>
              <a:t>contains process and kernel information</a:t>
            </a:r>
            <a:endParaRPr/>
          </a:p>
          <a:p>
            <a:pPr indent="-274320" lvl="0" marL="274320" rtl="0" algn="l">
              <a:lnSpc>
                <a:spcPct val="80000"/>
              </a:lnSpc>
              <a:spcBef>
                <a:spcPts val="580"/>
              </a:spcBef>
              <a:spcAft>
                <a:spcPts val="0"/>
              </a:spcAft>
              <a:buClr>
                <a:schemeClr val="dk1"/>
              </a:buClr>
              <a:buSzPts val="1400"/>
              <a:buFont typeface="Noto Sans Symbols"/>
              <a:buChar char="⚫"/>
            </a:pPr>
            <a:r>
              <a:rPr lang="en-US" sz="1400"/>
              <a:t> </a:t>
            </a:r>
            <a:r>
              <a:rPr lang="en-US" sz="1400">
                <a:latin typeface="Courier New"/>
                <a:ea typeface="Courier New"/>
                <a:cs typeface="Courier New"/>
                <a:sym typeface="Courier New"/>
              </a:rPr>
              <a:t>/tmp</a:t>
            </a:r>
            <a:endParaRPr sz="1400">
              <a:latin typeface="Courier New"/>
              <a:ea typeface="Courier New"/>
              <a:cs typeface="Courier New"/>
              <a:sym typeface="Courier New"/>
            </a:endParaRPr>
          </a:p>
          <a:p>
            <a:pPr indent="-88900" lvl="1" marL="548640" rtl="0" algn="l">
              <a:lnSpc>
                <a:spcPct val="80000"/>
              </a:lnSpc>
              <a:spcBef>
                <a:spcPts val="370"/>
              </a:spcBef>
              <a:spcAft>
                <a:spcPts val="0"/>
              </a:spcAft>
              <a:buClr>
                <a:schemeClr val="dk1"/>
              </a:buClr>
              <a:buSzPts val="1400"/>
              <a:buFont typeface="Noto Sans Symbols"/>
              <a:buChar char="⚫"/>
            </a:pPr>
            <a:r>
              <a:rPr lang="en-US" sz="1400"/>
              <a:t>Holds temporary files created by programs</a:t>
            </a:r>
            <a:endParaRPr sz="1400"/>
          </a:p>
          <a:p>
            <a:pPr indent="-274320" lvl="0" marL="274320" rtl="0" algn="l">
              <a:lnSpc>
                <a:spcPct val="80000"/>
              </a:lnSpc>
              <a:spcBef>
                <a:spcPts val="580"/>
              </a:spcBef>
              <a:spcAft>
                <a:spcPts val="0"/>
              </a:spcAft>
              <a:buClr>
                <a:schemeClr val="dk1"/>
              </a:buClr>
              <a:buSzPts val="1400"/>
              <a:buFont typeface="Noto Sans Symbols"/>
              <a:buChar char="⚫"/>
            </a:pPr>
            <a:r>
              <a:rPr lang="en-US" sz="1400">
                <a:latin typeface="Courier New"/>
                <a:ea typeface="Courier New"/>
                <a:cs typeface="Courier New"/>
                <a:sym typeface="Courier New"/>
              </a:rPr>
              <a:t>/opt</a:t>
            </a:r>
            <a:endParaRPr/>
          </a:p>
          <a:p>
            <a:pPr indent="-88900" lvl="1" marL="548640" rtl="0" algn="l">
              <a:lnSpc>
                <a:spcPct val="80000"/>
              </a:lnSpc>
              <a:spcBef>
                <a:spcPts val="370"/>
              </a:spcBef>
              <a:spcAft>
                <a:spcPts val="0"/>
              </a:spcAft>
              <a:buClr>
                <a:schemeClr val="dk1"/>
              </a:buClr>
              <a:buSzPts val="1400"/>
              <a:buFont typeface="Noto Sans Symbols"/>
              <a:buChar char="⚫"/>
            </a:pPr>
            <a:r>
              <a:rPr lang="en-US" sz="1400"/>
              <a:t>Stores additonal software progarams</a:t>
            </a:r>
            <a:endParaRPr sz="1400"/>
          </a:p>
          <a:p>
            <a:pPr indent="-274320" lvl="0" marL="274320" rtl="0" algn="l">
              <a:lnSpc>
                <a:spcPct val="80000"/>
              </a:lnSpc>
              <a:spcBef>
                <a:spcPts val="580"/>
              </a:spcBef>
              <a:spcAft>
                <a:spcPts val="0"/>
              </a:spcAft>
              <a:buClr>
                <a:schemeClr val="dk1"/>
              </a:buClr>
              <a:buSzPts val="1400"/>
              <a:buFont typeface="Noto Sans Symbols"/>
              <a:buChar char="⚫"/>
            </a:pPr>
            <a:r>
              <a:rPr lang="en-US" sz="1400">
                <a:latin typeface="Courier New"/>
                <a:ea typeface="Courier New"/>
                <a:cs typeface="Courier New"/>
                <a:sym typeface="Courier New"/>
              </a:rPr>
              <a:t>/boot</a:t>
            </a:r>
            <a:endParaRPr/>
          </a:p>
          <a:p>
            <a:pPr indent="-88900" lvl="1" marL="548640" rtl="0" algn="l">
              <a:lnSpc>
                <a:spcPct val="80000"/>
              </a:lnSpc>
              <a:spcBef>
                <a:spcPts val="370"/>
              </a:spcBef>
              <a:spcAft>
                <a:spcPts val="0"/>
              </a:spcAft>
              <a:buClr>
                <a:schemeClr val="dk1"/>
              </a:buClr>
              <a:buSzPts val="1400"/>
              <a:buFont typeface="Noto Sans Symbols"/>
              <a:buChar char="⚫"/>
            </a:pPr>
            <a:r>
              <a:rPr lang="en-US" sz="1400"/>
              <a:t>contains linux kernal and all file used by boot loader</a:t>
            </a:r>
            <a:endParaRPr/>
          </a:p>
          <a:p>
            <a:pPr indent="0" lvl="0" marL="0" rtl="0" algn="l">
              <a:spcBef>
                <a:spcPts val="0"/>
              </a:spcBef>
              <a:spcAft>
                <a:spcPts val="0"/>
              </a:spcAft>
              <a:buNone/>
            </a:pPr>
            <a:r>
              <a:t/>
            </a:r>
            <a:endParaRPr b="0" sz="1200">
              <a:solidFill>
                <a:schemeClr val="dk1"/>
              </a:solidFill>
              <a:latin typeface="Calibri"/>
              <a:ea typeface="Calibri"/>
              <a:cs typeface="Calibri"/>
              <a:sym typeface="Calibri"/>
            </a:endParaRPr>
          </a:p>
          <a:p>
            <a:pPr indent="0" lvl="0" marL="0" rtl="0" algn="l">
              <a:spcBef>
                <a:spcPts val="0"/>
              </a:spcBef>
              <a:spcAft>
                <a:spcPts val="0"/>
              </a:spcAft>
              <a:buNone/>
            </a:pPr>
            <a:r>
              <a:t/>
            </a:r>
            <a:endParaRPr b="0" sz="1200">
              <a:solidFill>
                <a:schemeClr val="dk1"/>
              </a:solidFill>
              <a:latin typeface="Calibri"/>
              <a:ea typeface="Calibri"/>
              <a:cs typeface="Calibri"/>
              <a:sym typeface="Calibri"/>
            </a:endParaRPr>
          </a:p>
          <a:p>
            <a:pPr indent="0" lvl="0" marL="0" rtl="0" algn="l">
              <a:spcBef>
                <a:spcPts val="0"/>
              </a:spcBef>
              <a:spcAft>
                <a:spcPts val="0"/>
              </a:spcAft>
              <a:buNone/>
            </a:pPr>
            <a:r>
              <a:t/>
            </a:r>
            <a:endParaRPr/>
          </a:p>
        </p:txBody>
      </p:sp>
      <p:sp>
        <p:nvSpPr>
          <p:cNvPr id="273" name="Google Shape;273;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1" name="Google Shape;281;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1200"/>
              <a:buFont typeface="Calibri"/>
              <a:buNone/>
            </a:pPr>
            <a:r>
              <a:rPr b="1" lang="en-US" sz="1200">
                <a:solidFill>
                  <a:schemeClr val="dk1"/>
                </a:solidFill>
                <a:latin typeface="Calibri"/>
                <a:ea typeface="Calibri"/>
                <a:cs typeface="Calibri"/>
                <a:sym typeface="Calibri"/>
              </a:rPr>
              <a:t>Concise audio</a:t>
            </a:r>
            <a:endParaRPr/>
          </a:p>
          <a:p>
            <a:pPr indent="0" lvl="0" marL="0" rtl="0" algn="l">
              <a:spcBef>
                <a:spcPts val="0"/>
              </a:spcBef>
              <a:spcAft>
                <a:spcPts val="0"/>
              </a:spcAft>
              <a:buNone/>
            </a:pPr>
            <a:r>
              <a:rPr lang="en-US"/>
              <a:t>Let’s discuss  each directory in detail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The first is /home directory</a:t>
            </a:r>
            <a:endParaRPr/>
          </a:p>
          <a:p>
            <a:pPr indent="0" lvl="0" marL="0" rtl="0" algn="l">
              <a:spcBef>
                <a:spcPts val="0"/>
              </a:spcBef>
              <a:spcAft>
                <a:spcPts val="0"/>
              </a:spcAft>
              <a:buNone/>
            </a:pPr>
            <a:r>
              <a:rPr lang="en-US"/>
              <a:t>In Linux, the "/home" directory is the default parent directory for user home directories. Each user on the system typically has a unique home directory located within the "/home" directory.</a:t>
            </a:r>
            <a:endParaRPr/>
          </a:p>
          <a:p>
            <a:pPr indent="0" lvl="0" marL="0" rtl="0" algn="l">
              <a:spcBef>
                <a:spcPts val="0"/>
              </a:spcBef>
              <a:spcAft>
                <a:spcPts val="0"/>
              </a:spcAft>
              <a:buNone/>
            </a:pPr>
            <a:r>
              <a:rPr lang="en-US"/>
              <a:t>This directory is where the user's personal files, configuration files, and user-specific settings are stored.</a:t>
            </a:r>
            <a:endParaRPr b="1"/>
          </a:p>
          <a:p>
            <a:pPr indent="0" lvl="0" marL="0" rtl="0" algn="l">
              <a:spcBef>
                <a:spcPts val="0"/>
              </a:spcBef>
              <a:spcAft>
                <a:spcPts val="0"/>
              </a:spcAft>
              <a:buNone/>
            </a:pPr>
            <a:r>
              <a:rPr b="0" lang="en-US"/>
              <a:t>For example:</a:t>
            </a:r>
            <a:endParaRPr/>
          </a:p>
          <a:p>
            <a:pPr indent="0" lvl="0" marL="0" rtl="0" algn="l">
              <a:spcBef>
                <a:spcPts val="0"/>
              </a:spcBef>
              <a:spcAft>
                <a:spcPts val="0"/>
              </a:spcAft>
              <a:buNone/>
            </a:pPr>
            <a:r>
              <a:rPr b="0" lang="en-US"/>
              <a:t>creating a user here, whose name is Arvind. And data of Arvind will store under home and his name.   </a:t>
            </a:r>
            <a:endParaRPr/>
          </a:p>
          <a:p>
            <a:pPr indent="0" lvl="0" marL="0" rtl="0" algn="l">
              <a:spcBef>
                <a:spcPts val="0"/>
              </a:spcBef>
              <a:spcAft>
                <a:spcPts val="0"/>
              </a:spcAft>
              <a:buNone/>
            </a:pPr>
            <a:r>
              <a:rPr b="1" lang="en-US"/>
              <a:t>Point to remember</a:t>
            </a:r>
            <a:endParaRPr/>
          </a:p>
          <a:p>
            <a:pPr indent="0" lvl="0" marL="0" rtl="0" algn="l">
              <a:spcBef>
                <a:spcPts val="0"/>
              </a:spcBef>
              <a:spcAft>
                <a:spcPts val="0"/>
              </a:spcAft>
              <a:buNone/>
            </a:pPr>
            <a:r>
              <a:rPr b="0" lang="en-US"/>
              <a:t>useradd command is used to add a new user </a:t>
            </a:r>
            <a:endParaRPr/>
          </a:p>
        </p:txBody>
      </p:sp>
      <p:sp>
        <p:nvSpPr>
          <p:cNvPr id="282" name="Google Shape;282;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 name="Google Shape;290;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1200"/>
              <a:buFont typeface="Calibri"/>
              <a:buNone/>
            </a:pPr>
            <a:r>
              <a:rPr b="1" lang="en-US" sz="1200">
                <a:solidFill>
                  <a:schemeClr val="dk1"/>
                </a:solidFill>
                <a:latin typeface="Calibri"/>
                <a:ea typeface="Calibri"/>
                <a:cs typeface="Calibri"/>
                <a:sym typeface="Calibri"/>
              </a:rPr>
              <a:t>Concise audio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Now moving on to the next folder /bin.</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/bin</a:t>
            </a:r>
            <a:endParaRPr/>
          </a:p>
          <a:p>
            <a:pPr indent="0" lvl="0" marL="0" rtl="0" algn="l">
              <a:spcBef>
                <a:spcPts val="0"/>
              </a:spcBef>
              <a:spcAft>
                <a:spcPts val="0"/>
              </a:spcAft>
              <a:buNone/>
            </a:pPr>
            <a:r>
              <a:t/>
            </a:r>
            <a:endParaRPr b="1"/>
          </a:p>
          <a:p>
            <a:pPr indent="0" lvl="0" marL="0" rtl="0" algn="l">
              <a:spcBef>
                <a:spcPts val="0"/>
              </a:spcBef>
              <a:spcAft>
                <a:spcPts val="0"/>
              </a:spcAft>
              <a:buNone/>
            </a:pPr>
            <a:r>
              <a:rPr b="0" lang="en-US"/>
              <a:t>/bin is used to store the system commands(ls,cd,tar,gzip, etc..). Also, copies of these commands will store under /usr/bin. If the user is in single-user mode command will be taken from /bin. And the user in the multi-user mode command will be taken from /usr/bin mode.</a:t>
            </a:r>
            <a:endParaRPr/>
          </a:p>
          <a:p>
            <a:pPr indent="0" lvl="0" marL="0" rtl="0" algn="l">
              <a:spcBef>
                <a:spcPts val="0"/>
              </a:spcBef>
              <a:spcAft>
                <a:spcPts val="0"/>
              </a:spcAft>
              <a:buNone/>
            </a:pPr>
            <a:r>
              <a:rPr b="1" lang="en-US"/>
              <a:t>Point to remember </a:t>
            </a:r>
            <a:endParaRPr/>
          </a:p>
          <a:p>
            <a:pPr indent="0" lvl="0" marL="0" rtl="0" algn="l">
              <a:spcBef>
                <a:spcPts val="0"/>
              </a:spcBef>
              <a:spcAft>
                <a:spcPts val="0"/>
              </a:spcAft>
              <a:buNone/>
            </a:pPr>
            <a:r>
              <a:rPr b="0" lang="en-US"/>
              <a:t>Single-user mode(rescue mode): only the root user can able to use the system.</a:t>
            </a:r>
            <a:endParaRPr/>
          </a:p>
        </p:txBody>
      </p:sp>
      <p:sp>
        <p:nvSpPr>
          <p:cNvPr id="291" name="Google Shape;291;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9" name="Google Shape;299;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1200"/>
              <a:buFont typeface="Calibri"/>
              <a:buNone/>
            </a:pPr>
            <a:r>
              <a:rPr b="1" lang="en-US" sz="1200">
                <a:solidFill>
                  <a:schemeClr val="dk1"/>
                </a:solidFill>
                <a:latin typeface="Calibri"/>
                <a:ea typeface="Calibri"/>
                <a:cs typeface="Calibri"/>
                <a:sym typeface="Calibri"/>
              </a:rPr>
              <a:t>Concise audio</a:t>
            </a:r>
            <a:endParaRPr/>
          </a:p>
          <a:p>
            <a:pPr indent="0" lvl="0" marL="0" marR="0" rtl="0" algn="l">
              <a:lnSpc>
                <a:spcPct val="100000"/>
              </a:lnSpc>
              <a:spcBef>
                <a:spcPts val="0"/>
              </a:spcBef>
              <a:spcAft>
                <a:spcPts val="0"/>
              </a:spcAft>
              <a:buClr>
                <a:schemeClr val="dk1"/>
              </a:buClr>
              <a:buSzPts val="1200"/>
              <a:buFont typeface="Calibri"/>
              <a:buNone/>
            </a:pPr>
            <a:r>
              <a:t/>
            </a:r>
            <a:endParaRPr b="1" sz="1200">
              <a:solidFill>
                <a:schemeClr val="dk1"/>
              </a:solidFill>
              <a:latin typeface="Calibri"/>
              <a:ea typeface="Calibri"/>
              <a:cs typeface="Calibri"/>
              <a:sym typeface="Calibri"/>
            </a:endParaRPr>
          </a:p>
          <a:p>
            <a:pPr indent="0" lvl="0" marL="0" rtl="0" algn="l">
              <a:spcBef>
                <a:spcPts val="0"/>
              </a:spcBef>
              <a:spcAft>
                <a:spcPts val="0"/>
              </a:spcAft>
              <a:buNone/>
            </a:pPr>
            <a:r>
              <a:rPr lang="en-US"/>
              <a:t>Moving on to the next folder /sbin,/usr/sbin</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/sbin, /usr/sbin</a:t>
            </a:r>
            <a:endParaRPr b="1"/>
          </a:p>
          <a:p>
            <a:pPr indent="0" lvl="0" marL="0" rtl="0" algn="l">
              <a:spcBef>
                <a:spcPts val="0"/>
              </a:spcBef>
              <a:spcAft>
                <a:spcPts val="0"/>
              </a:spcAft>
              <a:buNone/>
            </a:pPr>
            <a:r>
              <a:t/>
            </a:r>
            <a:endParaRPr b="1"/>
          </a:p>
          <a:p>
            <a:pPr indent="0" lvl="0" marL="0" marR="0" rtl="0" algn="l">
              <a:lnSpc>
                <a:spcPct val="100000"/>
              </a:lnSpc>
              <a:spcBef>
                <a:spcPts val="0"/>
              </a:spcBef>
              <a:spcAft>
                <a:spcPts val="0"/>
              </a:spcAft>
              <a:buClr>
                <a:schemeClr val="dk1"/>
              </a:buClr>
              <a:buSzPts val="1200"/>
              <a:buFont typeface="Calibri"/>
              <a:buNone/>
            </a:pPr>
            <a:r>
              <a:rPr lang="en-US"/>
              <a:t>It contains essential system programs and utilities that are typically used by the system administrator, rather than by regular users.</a:t>
            </a:r>
            <a:endParaRPr/>
          </a:p>
          <a:p>
            <a:pPr indent="0" lvl="0" marL="0" rtl="0" algn="l">
              <a:spcBef>
                <a:spcPts val="0"/>
              </a:spcBef>
              <a:spcAft>
                <a:spcPts val="0"/>
              </a:spcAft>
              <a:buNone/>
            </a:pPr>
            <a:r>
              <a:t/>
            </a:r>
            <a:endParaRPr b="0"/>
          </a:p>
          <a:p>
            <a:pPr indent="0" lvl="0" marL="0" rtl="0" algn="l">
              <a:spcBef>
                <a:spcPts val="0"/>
              </a:spcBef>
              <a:spcAft>
                <a:spcPts val="0"/>
              </a:spcAft>
              <a:buNone/>
            </a:pPr>
            <a:r>
              <a:rPr b="0" lang="en-US"/>
              <a:t>For example, useradd is a command to add a user on Linux and this commands is stored under /sbin and /usr/sbin directories.</a:t>
            </a:r>
            <a:endParaRPr b="1"/>
          </a:p>
          <a:p>
            <a:pPr indent="0" lvl="0" marL="0" rtl="0" algn="l">
              <a:spcBef>
                <a:spcPts val="0"/>
              </a:spcBef>
              <a:spcAft>
                <a:spcPts val="0"/>
              </a:spcAft>
              <a:buNone/>
            </a:pPr>
            <a:r>
              <a:rPr b="1" lang="en-US"/>
              <a:t> </a:t>
            </a:r>
            <a:endParaRPr b="1"/>
          </a:p>
        </p:txBody>
      </p:sp>
      <p:sp>
        <p:nvSpPr>
          <p:cNvPr id="300" name="Google Shape;300;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 name="Google Shape;308;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1200"/>
              <a:buFont typeface="Calibri"/>
              <a:buNone/>
            </a:pPr>
            <a:r>
              <a:rPr b="1" lang="en-US" sz="1200">
                <a:solidFill>
                  <a:schemeClr val="dk1"/>
                </a:solidFill>
                <a:latin typeface="Calibri"/>
                <a:ea typeface="Calibri"/>
                <a:cs typeface="Calibri"/>
                <a:sym typeface="Calibri"/>
              </a:rPr>
              <a:t>Concise audio</a:t>
            </a:r>
            <a:endParaRPr/>
          </a:p>
          <a:p>
            <a:pPr indent="0" lvl="0" marL="0" marR="0" rtl="0" algn="l">
              <a:lnSpc>
                <a:spcPct val="100000"/>
              </a:lnSpc>
              <a:spcBef>
                <a:spcPts val="0"/>
              </a:spcBef>
              <a:spcAft>
                <a:spcPts val="0"/>
              </a:spcAft>
              <a:buClr>
                <a:schemeClr val="dk1"/>
              </a:buClr>
              <a:buSzPts val="1200"/>
              <a:buFont typeface="Calibri"/>
              <a:buNone/>
            </a:pPr>
            <a:r>
              <a:t/>
            </a:r>
            <a:endParaRPr b="1"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b="0" lang="en-US" sz="1200">
                <a:solidFill>
                  <a:schemeClr val="dk1"/>
                </a:solidFill>
                <a:latin typeface="Calibri"/>
                <a:ea typeface="Calibri"/>
                <a:cs typeface="Calibri"/>
                <a:sym typeface="Calibri"/>
              </a:rPr>
              <a:t>Next  folder is /etc</a:t>
            </a:r>
            <a:endParaRPr/>
          </a:p>
          <a:p>
            <a:pPr indent="0" lvl="0" marL="0" marR="0" rtl="0" algn="l">
              <a:lnSpc>
                <a:spcPct val="100000"/>
              </a:lnSpc>
              <a:spcBef>
                <a:spcPts val="0"/>
              </a:spcBef>
              <a:spcAft>
                <a:spcPts val="0"/>
              </a:spcAft>
              <a:buClr>
                <a:schemeClr val="dk1"/>
              </a:buClr>
              <a:buSzPts val="1200"/>
              <a:buFont typeface="Calibri"/>
              <a:buNone/>
            </a:pPr>
            <a:r>
              <a:t/>
            </a:r>
            <a:endParaRPr b="0"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b="1" lang="en-US" sz="1200">
                <a:solidFill>
                  <a:schemeClr val="dk1"/>
                </a:solidFill>
                <a:latin typeface="Calibri"/>
                <a:ea typeface="Calibri"/>
                <a:cs typeface="Calibri"/>
                <a:sym typeface="Calibri"/>
              </a:rPr>
              <a:t>/etc</a:t>
            </a:r>
            <a:endParaRPr/>
          </a:p>
          <a:p>
            <a:pPr indent="0" lvl="0" marL="0" marR="0" rtl="0" algn="l">
              <a:lnSpc>
                <a:spcPct val="100000"/>
              </a:lnSpc>
              <a:spcBef>
                <a:spcPts val="0"/>
              </a:spcBef>
              <a:spcAft>
                <a:spcPts val="0"/>
              </a:spcAft>
              <a:buClr>
                <a:schemeClr val="dk1"/>
              </a:buClr>
              <a:buSzPts val="1200"/>
              <a:buFont typeface="Calibri"/>
              <a:buNone/>
            </a:pPr>
            <a:r>
              <a:t/>
            </a:r>
            <a:endParaRPr b="1"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a:t>This directory contains system configuration files and directories that are used to configure various aspects of the operating system, services, and applications. These configuration files are usually stored in plaintext format and can be edited using a text editor or specialized tools.</a:t>
            </a:r>
            <a:endParaRPr/>
          </a:p>
          <a:p>
            <a:pPr indent="0" lvl="0" marL="0" marR="0" rtl="0" algn="l">
              <a:lnSpc>
                <a:spcPct val="100000"/>
              </a:lnSpc>
              <a:spcBef>
                <a:spcPts val="0"/>
              </a:spcBef>
              <a:spcAft>
                <a:spcPts val="0"/>
              </a:spcAft>
              <a:buClr>
                <a:schemeClr val="dk1"/>
              </a:buClr>
              <a:buSzPts val="1200"/>
              <a:buFont typeface="Calibri"/>
              <a:buNone/>
            </a:pPr>
            <a:r>
              <a:rPr b="1" lang="en-US" sz="1200">
                <a:solidFill>
                  <a:schemeClr val="dk1"/>
                </a:solidFill>
                <a:latin typeface="Calibri"/>
                <a:ea typeface="Calibri"/>
                <a:cs typeface="Calibri"/>
                <a:sym typeface="Calibri"/>
              </a:rPr>
              <a:t>Point to remember</a:t>
            </a:r>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In Windows Operating system, the configuration will be stored under the system32 folder.</a:t>
            </a:r>
            <a:endParaRPr/>
          </a:p>
          <a:p>
            <a:pPr indent="0" lvl="0" marL="0" marR="0" rtl="0" algn="l">
              <a:lnSpc>
                <a:spcPct val="100000"/>
              </a:lnSpc>
              <a:spcBef>
                <a:spcPts val="0"/>
              </a:spcBef>
              <a:spcAft>
                <a:spcPts val="0"/>
              </a:spcAft>
              <a:buClr>
                <a:schemeClr val="dk1"/>
              </a:buClr>
              <a:buSzPts val="1200"/>
              <a:buFont typeface="Calibri"/>
              <a:buNone/>
            </a:pPr>
            <a:r>
              <a:t/>
            </a:r>
            <a:endParaRPr b="0" sz="1200">
              <a:solidFill>
                <a:schemeClr val="dk1"/>
              </a:solidFill>
              <a:latin typeface="Calibri"/>
              <a:ea typeface="Calibri"/>
              <a:cs typeface="Calibri"/>
              <a:sym typeface="Calibri"/>
            </a:endParaRPr>
          </a:p>
          <a:p>
            <a:pPr indent="0" lvl="0" marL="0" rtl="0" algn="l">
              <a:spcBef>
                <a:spcPts val="0"/>
              </a:spcBef>
              <a:spcAft>
                <a:spcPts val="0"/>
              </a:spcAft>
              <a:buNone/>
            </a:pPr>
            <a:r>
              <a:t/>
            </a:r>
            <a:endParaRPr b="0"/>
          </a:p>
        </p:txBody>
      </p:sp>
      <p:sp>
        <p:nvSpPr>
          <p:cNvPr id="309" name="Google Shape;309;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7" name="Google Shape;317;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1200"/>
              <a:buFont typeface="Calibri"/>
              <a:buNone/>
            </a:pPr>
            <a:r>
              <a:rPr b="1" lang="en-US" sz="1200">
                <a:solidFill>
                  <a:schemeClr val="dk1"/>
                </a:solidFill>
                <a:latin typeface="Calibri"/>
                <a:ea typeface="Calibri"/>
                <a:cs typeface="Calibri"/>
                <a:sym typeface="Calibri"/>
              </a:rPr>
              <a:t>Concise audio</a:t>
            </a:r>
            <a:endParaRPr/>
          </a:p>
          <a:p>
            <a:pPr indent="0" lvl="0" marL="0" rtl="0" algn="l">
              <a:spcBef>
                <a:spcPts val="0"/>
              </a:spcBef>
              <a:spcAft>
                <a:spcPts val="0"/>
              </a:spcAft>
              <a:buNone/>
            </a:pPr>
            <a:r>
              <a:t/>
            </a:r>
            <a:endParaRPr b="1"/>
          </a:p>
          <a:p>
            <a:pPr indent="0" lvl="0" marL="0" rtl="0" algn="l">
              <a:spcBef>
                <a:spcPts val="0"/>
              </a:spcBef>
              <a:spcAft>
                <a:spcPts val="0"/>
              </a:spcAft>
              <a:buNone/>
            </a:pPr>
            <a:r>
              <a:rPr lang="en-US"/>
              <a:t>The name "var" is short for "variable," which refers to the fact that the files stored in this directory can change in size and content over time. </a:t>
            </a:r>
            <a:r>
              <a:rPr lang="en-US" sz="1200">
                <a:solidFill>
                  <a:schemeClr val="dk1"/>
                </a:solidFill>
                <a:latin typeface="Calibri"/>
                <a:ea typeface="Calibri"/>
                <a:cs typeface="Calibri"/>
                <a:sym typeface="Calibri"/>
              </a:rPr>
              <a:t>It is used to store the log files of the system. Any log file generated by the system will be stored in /var.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Apart from the log, it contains the spool directory.</a:t>
            </a:r>
            <a:endParaRPr sz="1200">
              <a:solidFill>
                <a:schemeClr val="dk1"/>
              </a:solidFill>
              <a:latin typeface="Calibri"/>
              <a:ea typeface="Calibri"/>
              <a:cs typeface="Calibri"/>
              <a:sym typeface="Calibri"/>
            </a:endParaRPr>
          </a:p>
        </p:txBody>
      </p:sp>
      <p:sp>
        <p:nvSpPr>
          <p:cNvPr id="318" name="Google Shape;318;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6" name="Google Shape;326;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1200"/>
              <a:buFont typeface="Calibri"/>
              <a:buNone/>
            </a:pPr>
            <a:r>
              <a:rPr b="1" lang="en-US" sz="1200">
                <a:solidFill>
                  <a:schemeClr val="dk1"/>
                </a:solidFill>
                <a:latin typeface="Calibri"/>
                <a:ea typeface="Calibri"/>
                <a:cs typeface="Calibri"/>
                <a:sym typeface="Calibri"/>
              </a:rPr>
              <a:t>Concise audio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 a Linux, the "/dev" directory is a special directory that contains device files. </a:t>
            </a:r>
            <a:endParaRPr/>
          </a:p>
          <a:p>
            <a:pPr indent="0" lvl="0" marL="0" rtl="0" algn="l">
              <a:spcBef>
                <a:spcPts val="0"/>
              </a:spcBef>
              <a:spcAft>
                <a:spcPts val="0"/>
              </a:spcAft>
              <a:buNone/>
            </a:pPr>
            <a:r>
              <a:rPr lang="en-US"/>
              <a:t>Device files are special files that represent devices such as hard drives, USB drives, keyboards, mice, printers, and other hardware devices.</a:t>
            </a:r>
            <a:endParaRPr/>
          </a:p>
          <a:p>
            <a:pPr indent="0" lvl="0" marL="0" rtl="0" algn="l">
              <a:spcBef>
                <a:spcPts val="0"/>
              </a:spcBef>
              <a:spcAft>
                <a:spcPts val="0"/>
              </a:spcAft>
              <a:buNone/>
            </a:pPr>
            <a:r>
              <a:rPr b="1" lang="en-US"/>
              <a:t> </a:t>
            </a:r>
            <a:r>
              <a:rPr lang="en-US" sz="1200">
                <a:solidFill>
                  <a:schemeClr val="dk1"/>
                </a:solidFill>
                <a:latin typeface="Calibri"/>
                <a:ea typeface="Calibri"/>
                <a:cs typeface="Calibri"/>
                <a:sym typeface="Calibri"/>
              </a:rPr>
              <a:t>All sorts of device files will be stored under /dev. In Linux, everything is treated as a file.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For example, by connecting a pen drive to the system, one file will be created for the pen drive. And this file will be stored under "/dev."</a:t>
            </a:r>
            <a:endParaRPr/>
          </a:p>
          <a:p>
            <a:pPr indent="0" lvl="0" marL="0" rtl="0" algn="l">
              <a:spcBef>
                <a:spcPts val="0"/>
              </a:spcBef>
              <a:spcAft>
                <a:spcPts val="0"/>
              </a:spcAft>
              <a:buNone/>
            </a:pPr>
            <a:r>
              <a:t/>
            </a:r>
            <a:endParaRPr b="0"/>
          </a:p>
        </p:txBody>
      </p:sp>
      <p:sp>
        <p:nvSpPr>
          <p:cNvPr id="327" name="Google Shape;327;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5" name="Google Shape;335;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1200"/>
              <a:buFont typeface="Calibri"/>
              <a:buNone/>
            </a:pPr>
            <a:r>
              <a:rPr b="1" lang="en-US" sz="1200">
                <a:solidFill>
                  <a:schemeClr val="dk1"/>
                </a:solidFill>
                <a:latin typeface="Calibri"/>
                <a:ea typeface="Calibri"/>
                <a:cs typeface="Calibri"/>
                <a:sym typeface="Calibri"/>
              </a:rPr>
              <a:t>Concise audio</a:t>
            </a:r>
            <a:endParaRPr/>
          </a:p>
          <a:p>
            <a:pPr indent="0" lvl="0" marL="0" marR="0" rtl="0" algn="l">
              <a:lnSpc>
                <a:spcPct val="100000"/>
              </a:lnSpc>
              <a:spcBef>
                <a:spcPts val="0"/>
              </a:spcBef>
              <a:spcAft>
                <a:spcPts val="0"/>
              </a:spcAft>
              <a:buClr>
                <a:schemeClr val="dk1"/>
              </a:buClr>
              <a:buSzPts val="1200"/>
              <a:buFont typeface="Calibri"/>
              <a:buNone/>
            </a:pPr>
            <a:r>
              <a:rPr b="0" lang="en-US" sz="1200">
                <a:solidFill>
                  <a:schemeClr val="dk1"/>
                </a:solidFill>
                <a:latin typeface="Calibri"/>
                <a:ea typeface="Calibri"/>
                <a:cs typeface="Calibri"/>
                <a:sym typeface="Calibri"/>
              </a:rPr>
              <a:t>In Linux, </a:t>
            </a:r>
            <a:r>
              <a:rPr lang="en-US"/>
              <a:t>the "/proc" directory is a virtual file system that contains information about running processes and system resources. Unlike other directories that store files on disk, the files in the "/proc" directory are generated dynamically by the kernel and represent information about the current state of the system.</a:t>
            </a:r>
            <a:endParaRPr/>
          </a:p>
          <a:p>
            <a:pPr indent="0" lvl="0" marL="0" marR="0" rtl="0" algn="l">
              <a:lnSpc>
                <a:spcPct val="100000"/>
              </a:lnSpc>
              <a:spcBef>
                <a:spcPts val="0"/>
              </a:spcBef>
              <a:spcAft>
                <a:spcPts val="0"/>
              </a:spcAft>
              <a:buClr>
                <a:schemeClr val="dk1"/>
              </a:buClr>
              <a:buSzPts val="1200"/>
              <a:buFont typeface="Calibri"/>
              <a:buNone/>
            </a:pPr>
            <a:r>
              <a:rPr lang="en-US"/>
              <a:t>The types of information available in the "/proc" directory include:</a:t>
            </a:r>
            <a:endParaRPr/>
          </a:p>
          <a:p>
            <a:pPr indent="0" lvl="0" marL="0" marR="0" rtl="0" algn="l">
              <a:lnSpc>
                <a:spcPct val="100000"/>
              </a:lnSpc>
              <a:spcBef>
                <a:spcPts val="0"/>
              </a:spcBef>
              <a:spcAft>
                <a:spcPts val="0"/>
              </a:spcAft>
              <a:buClr>
                <a:schemeClr val="dk1"/>
              </a:buClr>
              <a:buSzPts val="1200"/>
              <a:buFont typeface="Calibri"/>
              <a:buNone/>
            </a:pPr>
            <a:r>
              <a:rPr lang="en-US"/>
              <a:t>Process information - contain information such as the command-line arguments used to start the process, the current working directory of the process, and the amount of memory used by the process.</a:t>
            </a:r>
            <a:endParaRPr/>
          </a:p>
          <a:p>
            <a:pPr indent="0" lvl="0" marL="0" marR="0" rtl="0" algn="l">
              <a:lnSpc>
                <a:spcPct val="100000"/>
              </a:lnSpc>
              <a:spcBef>
                <a:spcPts val="0"/>
              </a:spcBef>
              <a:spcAft>
                <a:spcPts val="0"/>
              </a:spcAft>
              <a:buClr>
                <a:schemeClr val="dk1"/>
              </a:buClr>
              <a:buSzPts val="1200"/>
              <a:buFont typeface="Calibri"/>
              <a:buNone/>
            </a:pPr>
            <a:r>
              <a:rPr lang="en-US"/>
              <a:t>System information - the amount of memory and CPU usage, the number of active network connections, and the system uptime.</a:t>
            </a:r>
            <a:endParaRPr/>
          </a:p>
          <a:p>
            <a:pPr indent="0" lvl="0" marL="0" marR="0" rtl="0" algn="l">
              <a:lnSpc>
                <a:spcPct val="100000"/>
              </a:lnSpc>
              <a:spcBef>
                <a:spcPts val="0"/>
              </a:spcBef>
              <a:spcAft>
                <a:spcPts val="0"/>
              </a:spcAft>
              <a:buClr>
                <a:schemeClr val="dk1"/>
              </a:buClr>
              <a:buSzPts val="1200"/>
              <a:buFont typeface="Calibri"/>
              <a:buNone/>
            </a:pPr>
            <a:r>
              <a:rPr lang="en-US"/>
              <a:t>Hardware information - the CPU type, system architecture, and information about storage devices.</a:t>
            </a:r>
            <a:endParaRPr b="0" sz="1200">
              <a:solidFill>
                <a:schemeClr val="dk1"/>
              </a:solidFill>
              <a:latin typeface="Calibri"/>
              <a:ea typeface="Calibri"/>
              <a:cs typeface="Calibri"/>
              <a:sym typeface="Calibri"/>
            </a:endParaRPr>
          </a:p>
        </p:txBody>
      </p:sp>
      <p:sp>
        <p:nvSpPr>
          <p:cNvPr id="336" name="Google Shape;336;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4" name="Google Shape;344;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1200"/>
              <a:buFont typeface="Calibri"/>
              <a:buNone/>
            </a:pPr>
            <a:r>
              <a:rPr b="1" lang="en-US" sz="1200">
                <a:solidFill>
                  <a:schemeClr val="dk1"/>
                </a:solidFill>
                <a:latin typeface="Calibri"/>
                <a:ea typeface="Calibri"/>
                <a:cs typeface="Calibri"/>
                <a:sym typeface="Calibri"/>
              </a:rPr>
              <a:t>Concise audio</a:t>
            </a:r>
            <a:endParaRPr/>
          </a:p>
          <a:p>
            <a:pPr indent="0" lvl="0" marL="0" marR="0" rtl="0" algn="l">
              <a:lnSpc>
                <a:spcPct val="100000"/>
              </a:lnSpc>
              <a:spcBef>
                <a:spcPts val="0"/>
              </a:spcBef>
              <a:spcAft>
                <a:spcPts val="0"/>
              </a:spcAft>
              <a:buClr>
                <a:schemeClr val="dk1"/>
              </a:buClr>
              <a:buSzPts val="1200"/>
              <a:buFont typeface="Calibri"/>
              <a:buNone/>
            </a:pPr>
            <a:r>
              <a:rPr b="0" lang="en-US" sz="1200">
                <a:solidFill>
                  <a:schemeClr val="dk1"/>
                </a:solidFill>
                <a:latin typeface="Calibri"/>
                <a:ea typeface="Calibri"/>
                <a:cs typeface="Calibri"/>
                <a:sym typeface="Calibri"/>
              </a:rPr>
              <a:t>Next folder is /tmp</a:t>
            </a:r>
            <a:endParaRPr b="0" sz="1200">
              <a:solidFill>
                <a:schemeClr val="dk1"/>
              </a:solidFill>
              <a:latin typeface="Calibri"/>
              <a:ea typeface="Calibri"/>
              <a:cs typeface="Calibri"/>
              <a:sym typeface="Calibri"/>
            </a:endParaRPr>
          </a:p>
          <a:p>
            <a:pPr indent="0" lvl="0" marL="0" rtl="0" algn="l">
              <a:spcBef>
                <a:spcPts val="0"/>
              </a:spcBef>
              <a:spcAft>
                <a:spcPts val="0"/>
              </a:spcAft>
              <a:buNone/>
            </a:pPr>
            <a:r>
              <a:t/>
            </a:r>
            <a:endParaRPr/>
          </a:p>
          <a:p>
            <a:pPr indent="0" lvl="0" marL="0" rtl="0" algn="l">
              <a:spcBef>
                <a:spcPts val="0"/>
              </a:spcBef>
              <a:spcAft>
                <a:spcPts val="0"/>
              </a:spcAft>
              <a:buNone/>
            </a:pPr>
            <a:r>
              <a:rPr lang="en-US"/>
              <a:t>Which is used for temporary files. The name "tmp" stands for "temporary", and this directory is designed to hold files that are needed for a short period of time and can be safely deleted without causing harm to the system or its users.</a:t>
            </a:r>
            <a:endParaRPr b="1"/>
          </a:p>
          <a:p>
            <a:pPr indent="0" lvl="0" marL="0" rtl="0" algn="l">
              <a:spcBef>
                <a:spcPts val="0"/>
              </a:spcBef>
              <a:spcAft>
                <a:spcPts val="0"/>
              </a:spcAft>
              <a:buNone/>
            </a:pPr>
            <a:r>
              <a:t/>
            </a:r>
            <a:endParaRPr b="0"/>
          </a:p>
        </p:txBody>
      </p:sp>
      <p:sp>
        <p:nvSpPr>
          <p:cNvPr id="345" name="Google Shape;345;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3" name="Google Shape;353;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1200"/>
              <a:buFont typeface="Calibri"/>
              <a:buNone/>
            </a:pPr>
            <a:r>
              <a:rPr b="1" lang="en-US" sz="1200">
                <a:solidFill>
                  <a:schemeClr val="dk1"/>
                </a:solidFill>
                <a:latin typeface="Calibri"/>
                <a:ea typeface="Calibri"/>
                <a:cs typeface="Calibri"/>
                <a:sym typeface="Calibri"/>
              </a:rPr>
              <a:t>Concise audio</a:t>
            </a:r>
            <a:endParaRPr/>
          </a:p>
          <a:p>
            <a:pPr indent="0" lvl="0" marL="0" marR="0" rtl="0" algn="l">
              <a:lnSpc>
                <a:spcPct val="100000"/>
              </a:lnSpc>
              <a:spcBef>
                <a:spcPts val="0"/>
              </a:spcBef>
              <a:spcAft>
                <a:spcPts val="0"/>
              </a:spcAft>
              <a:buClr>
                <a:schemeClr val="dk1"/>
              </a:buClr>
              <a:buSzPts val="1200"/>
              <a:buFont typeface="Calibri"/>
              <a:buNone/>
            </a:pPr>
            <a:r>
              <a:rPr b="0" lang="en-US" sz="1200">
                <a:solidFill>
                  <a:schemeClr val="dk1"/>
                </a:solidFill>
                <a:latin typeface="Calibri"/>
                <a:ea typeface="Calibri"/>
                <a:cs typeface="Calibri"/>
                <a:sym typeface="Calibri"/>
              </a:rPr>
              <a:t>Next folder is /opt</a:t>
            </a:r>
            <a:endParaRPr/>
          </a:p>
          <a:p>
            <a:pPr indent="0" lvl="0" marL="0" marR="0" rtl="0" algn="l">
              <a:lnSpc>
                <a:spcPct val="100000"/>
              </a:lnSpc>
              <a:spcBef>
                <a:spcPts val="0"/>
              </a:spcBef>
              <a:spcAft>
                <a:spcPts val="0"/>
              </a:spcAft>
              <a:buClr>
                <a:schemeClr val="dk1"/>
              </a:buClr>
              <a:buSzPts val="1200"/>
              <a:buFont typeface="Calibri"/>
              <a:buNone/>
            </a:pPr>
            <a:r>
              <a:t/>
            </a:r>
            <a:endParaRPr b="0"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a:t>Which is used for installing additional software packages that are not part of the core operating system.</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Points to remember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In Windows, the software is installed under the program file folder.</a:t>
            </a:r>
            <a:endParaRPr sz="1200">
              <a:solidFill>
                <a:schemeClr val="dk1"/>
              </a:solidFill>
              <a:latin typeface="Calibri"/>
              <a:ea typeface="Calibri"/>
              <a:cs typeface="Calibri"/>
              <a:sym typeface="Calibri"/>
            </a:endParaRPr>
          </a:p>
        </p:txBody>
      </p:sp>
      <p:sp>
        <p:nvSpPr>
          <p:cNvPr id="354" name="Google Shape;354;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 name="Google Shape;362;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1200"/>
              <a:buFont typeface="Calibri"/>
              <a:buNone/>
            </a:pPr>
            <a:r>
              <a:rPr b="1" lang="en-US" sz="1200">
                <a:solidFill>
                  <a:schemeClr val="dk1"/>
                </a:solidFill>
                <a:latin typeface="Calibri"/>
                <a:ea typeface="Calibri"/>
                <a:cs typeface="Calibri"/>
                <a:sym typeface="Calibri"/>
              </a:rPr>
              <a:t>Concise audio</a:t>
            </a:r>
            <a:endParaRPr/>
          </a:p>
          <a:p>
            <a:pPr indent="0" lvl="0" marL="0" marR="0" rtl="0" algn="l">
              <a:lnSpc>
                <a:spcPct val="100000"/>
              </a:lnSpc>
              <a:spcBef>
                <a:spcPts val="0"/>
              </a:spcBef>
              <a:spcAft>
                <a:spcPts val="0"/>
              </a:spcAft>
              <a:buClr>
                <a:schemeClr val="dk1"/>
              </a:buClr>
              <a:buSzPts val="1200"/>
              <a:buFont typeface="Calibri"/>
              <a:buNone/>
            </a:pPr>
            <a:r>
              <a:rPr b="0" lang="en-US" sz="1200">
                <a:solidFill>
                  <a:schemeClr val="dk1"/>
                </a:solidFill>
                <a:latin typeface="Calibri"/>
                <a:ea typeface="Calibri"/>
                <a:cs typeface="Calibri"/>
                <a:sym typeface="Calibri"/>
              </a:rPr>
              <a:t>Next folder is /boot</a:t>
            </a:r>
            <a:endParaRPr/>
          </a:p>
          <a:p>
            <a:pPr indent="0" lvl="0" marL="0" marR="0" rtl="0" algn="l">
              <a:lnSpc>
                <a:spcPct val="100000"/>
              </a:lnSpc>
              <a:spcBef>
                <a:spcPts val="0"/>
              </a:spcBef>
              <a:spcAft>
                <a:spcPts val="0"/>
              </a:spcAft>
              <a:buClr>
                <a:schemeClr val="dk1"/>
              </a:buClr>
              <a:buSzPts val="1200"/>
              <a:buFont typeface="Calibri"/>
              <a:buNone/>
            </a:pPr>
            <a:r>
              <a:t/>
            </a:r>
            <a:endParaRPr b="0"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a:t>It contains the files that are necessary for the system to boot, including the kernel, initial ramdisk, bootloader configuration, and other boot-related files.</a:t>
            </a:r>
            <a:endParaRPr b="0"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b="0"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b="1" lang="en-US" sz="1200">
                <a:solidFill>
                  <a:schemeClr val="dk1"/>
                </a:solidFill>
                <a:latin typeface="Calibri"/>
                <a:ea typeface="Calibri"/>
                <a:cs typeface="Calibri"/>
                <a:sym typeface="Calibri"/>
              </a:rPr>
              <a:t>Point to remember</a:t>
            </a:r>
            <a:endParaRPr/>
          </a:p>
          <a:p>
            <a:pPr indent="0" lvl="0" marL="0" marR="0" rtl="0" algn="l">
              <a:lnSpc>
                <a:spcPct val="100000"/>
              </a:lnSpc>
              <a:spcBef>
                <a:spcPts val="0"/>
              </a:spcBef>
              <a:spcAft>
                <a:spcPts val="0"/>
              </a:spcAft>
              <a:buClr>
                <a:schemeClr val="dk1"/>
              </a:buClr>
              <a:buSzPts val="1200"/>
              <a:buFont typeface="Calibri"/>
              <a:buNone/>
            </a:pPr>
            <a:r>
              <a:rPr lang="en-US"/>
              <a:t>  </a:t>
            </a:r>
            <a:r>
              <a:rPr lang="en-US" sz="1200">
                <a:solidFill>
                  <a:schemeClr val="dk1"/>
                </a:solidFill>
                <a:latin typeface="Calibri"/>
                <a:ea typeface="Calibri"/>
                <a:cs typeface="Calibri"/>
                <a:sym typeface="Calibri"/>
              </a:rPr>
              <a:t>Grub is the Linux boot loader.</a:t>
            </a:r>
            <a:endParaRPr/>
          </a:p>
          <a:p>
            <a:pPr indent="0" lvl="0" marL="0" rtl="0" algn="l">
              <a:spcBef>
                <a:spcPts val="0"/>
              </a:spcBef>
              <a:spcAft>
                <a:spcPts val="0"/>
              </a:spcAft>
              <a:buNone/>
            </a:pPr>
            <a:r>
              <a:t/>
            </a:r>
            <a:endParaRPr/>
          </a:p>
        </p:txBody>
      </p:sp>
      <p:sp>
        <p:nvSpPr>
          <p:cNvPr id="363" name="Google Shape;363;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1" name="Google Shape;371;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171450" lvl="1" marL="207963" marR="0" rtl="0" algn="l">
              <a:lnSpc>
                <a:spcPct val="84000"/>
              </a:lnSpc>
              <a:spcBef>
                <a:spcPts val="0"/>
              </a:spcBef>
              <a:spcAft>
                <a:spcPts val="0"/>
              </a:spcAft>
              <a:buClr>
                <a:srgbClr val="000000"/>
              </a:buClr>
              <a:buSzPts val="225"/>
              <a:buFont typeface="Arial"/>
              <a:buChar char="•"/>
            </a:pPr>
            <a:r>
              <a:rPr b="1" lang="en-US" sz="225">
                <a:solidFill>
                  <a:schemeClr val="dk1"/>
                </a:solidFill>
                <a:latin typeface="Calibri"/>
                <a:ea typeface="Calibri"/>
                <a:cs typeface="Calibri"/>
                <a:sym typeface="Calibri"/>
              </a:rPr>
              <a:t>Concise audio</a:t>
            </a:r>
            <a:endParaRPr/>
          </a:p>
          <a:p>
            <a:pPr indent="0" lvl="0" marL="0" rtl="0" algn="l">
              <a:lnSpc>
                <a:spcPct val="80000"/>
              </a:lnSpc>
              <a:spcBef>
                <a:spcPts val="863"/>
              </a:spcBef>
              <a:spcAft>
                <a:spcPts val="0"/>
              </a:spcAft>
              <a:buNone/>
            </a:pPr>
            <a:r>
              <a:rPr lang="en-US" sz="300">
                <a:solidFill>
                  <a:schemeClr val="dk1"/>
                </a:solidFill>
                <a:latin typeface="Calibri"/>
                <a:ea typeface="Calibri"/>
                <a:cs typeface="Calibri"/>
                <a:sym typeface="Calibri"/>
              </a:rPr>
              <a:t>Linux is a multi-user system. More than one user can access the system simultaneously. User files are stored under /home. Therefor under /home folder we have multiple users folders.</a:t>
            </a:r>
            <a:endParaRPr/>
          </a:p>
          <a:p>
            <a:pPr indent="0" lvl="0" marL="0" rtl="0" algn="l">
              <a:lnSpc>
                <a:spcPct val="80000"/>
              </a:lnSpc>
              <a:spcBef>
                <a:spcPts val="0"/>
              </a:spcBef>
              <a:spcAft>
                <a:spcPts val="0"/>
              </a:spcAft>
              <a:buNone/>
            </a:pPr>
            <a:r>
              <a:rPr lang="en-US" sz="300">
                <a:solidFill>
                  <a:schemeClr val="dk1"/>
                </a:solidFill>
                <a:latin typeface="Calibri"/>
                <a:ea typeface="Calibri"/>
                <a:cs typeface="Calibri"/>
                <a:sym typeface="Calibri"/>
              </a:rPr>
              <a:t>If permission is not there, one user can access, delete, and modify another user's file. As a result, some mechanism is required to prevent one user from accessing the file of another user. This mechanism in Linux is called file permission. </a:t>
            </a:r>
            <a:endParaRPr/>
          </a:p>
          <a:p>
            <a:pPr indent="0" lvl="0" marL="0" rtl="0" algn="l">
              <a:lnSpc>
                <a:spcPct val="80000"/>
              </a:lnSpc>
              <a:spcBef>
                <a:spcPts val="0"/>
              </a:spcBef>
              <a:spcAft>
                <a:spcPts val="0"/>
              </a:spcAft>
              <a:buNone/>
            </a:pPr>
            <a:r>
              <a:rPr lang="en-US" sz="300">
                <a:solidFill>
                  <a:schemeClr val="dk1"/>
                </a:solidFill>
                <a:latin typeface="Calibri"/>
                <a:ea typeface="Calibri"/>
                <a:cs typeface="Calibri"/>
                <a:sym typeface="Calibri"/>
              </a:rPr>
              <a:t>So the user can set or restrict permission to their file or directories.</a:t>
            </a:r>
            <a:endParaRPr/>
          </a:p>
          <a:p>
            <a:pPr indent="0" lvl="0" marL="0" rtl="0" algn="l">
              <a:lnSpc>
                <a:spcPct val="80000"/>
              </a:lnSpc>
              <a:spcBef>
                <a:spcPts val="0"/>
              </a:spcBef>
              <a:spcAft>
                <a:spcPts val="0"/>
              </a:spcAft>
              <a:buNone/>
            </a:pPr>
            <a:br>
              <a:rPr b="0" lang="en-US" sz="225">
                <a:solidFill>
                  <a:schemeClr val="dk1"/>
                </a:solidFill>
                <a:latin typeface="Calibri"/>
                <a:ea typeface="Calibri"/>
                <a:cs typeface="Calibri"/>
                <a:sym typeface="Calibri"/>
              </a:rPr>
            </a:br>
            <a:r>
              <a:rPr lang="en-US" sz="300">
                <a:solidFill>
                  <a:schemeClr val="dk1"/>
                </a:solidFill>
                <a:latin typeface="Calibri"/>
                <a:ea typeface="Calibri"/>
                <a:cs typeface="Calibri"/>
                <a:sym typeface="Calibri"/>
              </a:rPr>
              <a:t>There is three type permission in Linux</a:t>
            </a:r>
            <a:endParaRPr/>
          </a:p>
          <a:p>
            <a:pPr indent="0" lvl="0" marL="0" rtl="0" algn="l">
              <a:lnSpc>
                <a:spcPct val="80000"/>
              </a:lnSpc>
              <a:spcBef>
                <a:spcPts val="0"/>
              </a:spcBef>
              <a:spcAft>
                <a:spcPts val="0"/>
              </a:spcAft>
              <a:buNone/>
            </a:pPr>
            <a:r>
              <a:rPr lang="en-US" sz="300">
                <a:solidFill>
                  <a:schemeClr val="dk1"/>
                </a:solidFill>
                <a:latin typeface="Calibri"/>
                <a:ea typeface="Calibri"/>
                <a:cs typeface="Calibri"/>
                <a:sym typeface="Calibri"/>
              </a:rPr>
              <a:t>permission to read (r)</a:t>
            </a:r>
            <a:endParaRPr/>
          </a:p>
          <a:p>
            <a:pPr indent="0" lvl="0" marL="0" rtl="0" algn="l">
              <a:lnSpc>
                <a:spcPct val="80000"/>
              </a:lnSpc>
              <a:spcBef>
                <a:spcPts val="0"/>
              </a:spcBef>
              <a:spcAft>
                <a:spcPts val="0"/>
              </a:spcAft>
              <a:buNone/>
            </a:pPr>
            <a:r>
              <a:rPr lang="en-US" sz="300">
                <a:solidFill>
                  <a:schemeClr val="dk1"/>
                </a:solidFill>
                <a:latin typeface="Calibri"/>
                <a:ea typeface="Calibri"/>
                <a:cs typeface="Calibri"/>
                <a:sym typeface="Calibri"/>
              </a:rPr>
              <a:t>permission to write (w)</a:t>
            </a:r>
            <a:endParaRPr/>
          </a:p>
          <a:p>
            <a:pPr indent="0" lvl="0" marL="0" rtl="0" algn="l">
              <a:lnSpc>
                <a:spcPct val="80000"/>
              </a:lnSpc>
              <a:spcBef>
                <a:spcPts val="0"/>
              </a:spcBef>
              <a:spcAft>
                <a:spcPts val="0"/>
              </a:spcAft>
              <a:buNone/>
            </a:pPr>
            <a:r>
              <a:rPr lang="en-US" sz="300">
                <a:solidFill>
                  <a:schemeClr val="dk1"/>
                </a:solidFill>
                <a:latin typeface="Calibri"/>
                <a:ea typeface="Calibri"/>
                <a:cs typeface="Calibri"/>
                <a:sym typeface="Calibri"/>
              </a:rPr>
              <a:t>permission to execute (x) </a:t>
            </a:r>
            <a:endParaRPr/>
          </a:p>
          <a:p>
            <a:pPr indent="0" lvl="1" marL="36513" marR="0" rtl="0" algn="l">
              <a:lnSpc>
                <a:spcPct val="84000"/>
              </a:lnSpc>
              <a:spcBef>
                <a:spcPts val="0"/>
              </a:spcBef>
              <a:spcAft>
                <a:spcPts val="0"/>
              </a:spcAft>
              <a:buClr>
                <a:srgbClr val="000000"/>
              </a:buClr>
              <a:buSzPts val="600"/>
              <a:buFont typeface="Arial"/>
              <a:buNone/>
            </a:pPr>
            <a:r>
              <a:t/>
            </a:r>
            <a:endParaRPr sz="600">
              <a:latin typeface="Gill Sans"/>
              <a:ea typeface="Gill Sans"/>
              <a:cs typeface="Gill Sans"/>
              <a:sym typeface="Gill Sans"/>
            </a:endParaRPr>
          </a:p>
          <a:p>
            <a:pPr indent="0" lvl="1" marL="36513" marR="0" rtl="0" algn="l">
              <a:lnSpc>
                <a:spcPct val="84000"/>
              </a:lnSpc>
              <a:spcBef>
                <a:spcPts val="863"/>
              </a:spcBef>
              <a:spcAft>
                <a:spcPts val="0"/>
              </a:spcAft>
              <a:buClr>
                <a:srgbClr val="000000"/>
              </a:buClr>
              <a:buSzPts val="225"/>
              <a:buFont typeface="Arial"/>
              <a:buNone/>
            </a:pPr>
            <a:br>
              <a:rPr lang="en-US" sz="225">
                <a:solidFill>
                  <a:schemeClr val="dk1"/>
                </a:solidFill>
                <a:latin typeface="Calibri"/>
                <a:ea typeface="Calibri"/>
                <a:cs typeface="Calibri"/>
                <a:sym typeface="Calibri"/>
              </a:rPr>
            </a:br>
            <a:endParaRPr sz="225">
              <a:solidFill>
                <a:schemeClr val="dk1"/>
              </a:solidFill>
              <a:latin typeface="Calibri"/>
              <a:ea typeface="Calibri"/>
              <a:cs typeface="Calibri"/>
              <a:sym typeface="Calibri"/>
            </a:endParaRPr>
          </a:p>
          <a:p>
            <a:pPr indent="-171450" lvl="1" marL="207963" marR="0" rtl="0" algn="l">
              <a:lnSpc>
                <a:spcPct val="84000"/>
              </a:lnSpc>
              <a:spcBef>
                <a:spcPts val="863"/>
              </a:spcBef>
              <a:spcAft>
                <a:spcPts val="0"/>
              </a:spcAft>
              <a:buClr>
                <a:srgbClr val="000000"/>
              </a:buClr>
              <a:buSzPts val="225"/>
              <a:buFont typeface="Arial"/>
              <a:buChar char="•"/>
            </a:pPr>
            <a:r>
              <a:rPr b="1" lang="en-US" sz="225">
                <a:solidFill>
                  <a:schemeClr val="dk1"/>
                </a:solidFill>
                <a:latin typeface="Calibri"/>
                <a:ea typeface="Calibri"/>
                <a:cs typeface="Calibri"/>
                <a:sym typeface="Calibri"/>
              </a:rPr>
              <a:t>Glossary</a:t>
            </a:r>
            <a:br>
              <a:rPr lang="en-US" sz="225">
                <a:solidFill>
                  <a:schemeClr val="dk1"/>
                </a:solidFill>
                <a:latin typeface="Calibri"/>
                <a:ea typeface="Calibri"/>
                <a:cs typeface="Calibri"/>
                <a:sym typeface="Calibri"/>
              </a:rPr>
            </a:br>
            <a:r>
              <a:rPr lang="en-US" sz="225">
                <a:solidFill>
                  <a:schemeClr val="dk1"/>
                </a:solidFill>
                <a:latin typeface="Calibri"/>
                <a:ea typeface="Calibri"/>
                <a:cs typeface="Calibri"/>
                <a:sym typeface="Calibri"/>
              </a:rPr>
              <a:t>Not applicable</a:t>
            </a:r>
            <a:endParaRPr/>
          </a:p>
          <a:p>
            <a:pPr indent="-157163" lvl="1" marL="207963" marR="0" rtl="0" algn="l">
              <a:lnSpc>
                <a:spcPct val="84000"/>
              </a:lnSpc>
              <a:spcBef>
                <a:spcPts val="863"/>
              </a:spcBef>
              <a:spcAft>
                <a:spcPts val="0"/>
              </a:spcAft>
              <a:buClr>
                <a:srgbClr val="000000"/>
              </a:buClr>
              <a:buSzPts val="225"/>
              <a:buFont typeface="Arial"/>
              <a:buNone/>
            </a:pPr>
            <a:r>
              <a:t/>
            </a:r>
            <a:endParaRPr sz="225">
              <a:solidFill>
                <a:schemeClr val="dk1"/>
              </a:solidFill>
              <a:latin typeface="Calibri"/>
              <a:ea typeface="Calibri"/>
              <a:cs typeface="Calibri"/>
              <a:sym typeface="Calibri"/>
            </a:endParaRPr>
          </a:p>
          <a:p>
            <a:pPr indent="-171450" lvl="0" marL="207963" rtl="0" algn="l">
              <a:lnSpc>
                <a:spcPct val="84000"/>
              </a:lnSpc>
              <a:spcBef>
                <a:spcPts val="863"/>
              </a:spcBef>
              <a:spcAft>
                <a:spcPts val="0"/>
              </a:spcAft>
              <a:buClr>
                <a:schemeClr val="dk1"/>
              </a:buClr>
              <a:buSzPts val="225"/>
              <a:buFont typeface="Arial"/>
              <a:buChar char="•"/>
            </a:pPr>
            <a:r>
              <a:rPr b="1" lang="en-US" sz="225">
                <a:solidFill>
                  <a:schemeClr val="dk1"/>
                </a:solidFill>
                <a:latin typeface="Calibri"/>
                <a:ea typeface="Calibri"/>
                <a:cs typeface="Calibri"/>
                <a:sym typeface="Calibri"/>
              </a:rPr>
              <a:t>Points to remember</a:t>
            </a:r>
            <a:endParaRPr/>
          </a:p>
          <a:p>
            <a:pPr indent="0" lvl="0" marL="0" rtl="0" algn="l">
              <a:lnSpc>
                <a:spcPct val="80000"/>
              </a:lnSpc>
              <a:spcBef>
                <a:spcPts val="863"/>
              </a:spcBef>
              <a:spcAft>
                <a:spcPts val="0"/>
              </a:spcAft>
              <a:buNone/>
            </a:pPr>
            <a:r>
              <a:t/>
            </a:r>
            <a:endParaRPr sz="225">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t/>
            </a:r>
            <a:endParaRPr sz="300"/>
          </a:p>
          <a:p>
            <a:pPr indent="0" lvl="0" marL="0" rtl="0" algn="l">
              <a:lnSpc>
                <a:spcPct val="80000"/>
              </a:lnSpc>
              <a:spcBef>
                <a:spcPts val="0"/>
              </a:spcBef>
              <a:spcAft>
                <a:spcPts val="0"/>
              </a:spcAft>
              <a:buNone/>
            </a:pPr>
            <a:r>
              <a:t/>
            </a:r>
            <a:endParaRPr sz="300"/>
          </a:p>
        </p:txBody>
      </p:sp>
      <p:sp>
        <p:nvSpPr>
          <p:cNvPr id="372" name="Google Shape;372;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1" name="Google Shape;381;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1" marL="0" marR="0" rtl="0" algn="l">
              <a:lnSpc>
                <a:spcPct val="100000"/>
              </a:lnSpc>
              <a:spcBef>
                <a:spcPts val="0"/>
              </a:spcBef>
              <a:spcAft>
                <a:spcPts val="0"/>
              </a:spcAft>
              <a:buClr>
                <a:schemeClr val="dk1"/>
              </a:buClr>
              <a:buSzPts val="900"/>
              <a:buFont typeface="Calibri"/>
              <a:buNone/>
            </a:pPr>
            <a:r>
              <a:rPr b="1" lang="en-US" sz="900">
                <a:solidFill>
                  <a:schemeClr val="dk1"/>
                </a:solidFill>
                <a:latin typeface="Calibri"/>
                <a:ea typeface="Calibri"/>
                <a:cs typeface="Calibri"/>
                <a:sym typeface="Calibri"/>
              </a:rPr>
              <a:t>Concise audio</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In Linux, permissions can be given to both files and directories.</a:t>
            </a:r>
            <a:endParaRPr/>
          </a:p>
          <a:p>
            <a:pPr indent="0" lvl="1" marL="0" marR="0" rtl="0" algn="l">
              <a:lnSpc>
                <a:spcPct val="100000"/>
              </a:lnSpc>
              <a:spcBef>
                <a:spcPts val="0"/>
              </a:spcBef>
              <a:spcAft>
                <a:spcPts val="0"/>
              </a:spcAft>
              <a:buClr>
                <a:schemeClr val="dk1"/>
              </a:buClr>
              <a:buSzPts val="900"/>
              <a:buFont typeface="Calibri"/>
              <a:buNone/>
            </a:pPr>
            <a:r>
              <a:t/>
            </a:r>
            <a:endParaRPr b="0" sz="900">
              <a:solidFill>
                <a:schemeClr val="dk1"/>
              </a:solidFill>
              <a:latin typeface="Calibri"/>
              <a:ea typeface="Calibri"/>
              <a:cs typeface="Calibri"/>
              <a:sym typeface="Calibri"/>
            </a:endParaRPr>
          </a:p>
          <a:p>
            <a:pPr indent="0" lvl="1" marL="0" marR="0" rtl="0" algn="l">
              <a:lnSpc>
                <a:spcPct val="100000"/>
              </a:lnSpc>
              <a:spcBef>
                <a:spcPts val="0"/>
              </a:spcBef>
              <a:spcAft>
                <a:spcPts val="0"/>
              </a:spcAft>
              <a:buClr>
                <a:schemeClr val="dk1"/>
              </a:buClr>
              <a:buSzPts val="900"/>
              <a:buFont typeface="Calibri"/>
              <a:buNone/>
            </a:pPr>
            <a:r>
              <a:rPr b="1" lang="en-US" sz="900">
                <a:solidFill>
                  <a:schemeClr val="dk1"/>
                </a:solidFill>
                <a:latin typeface="Calibri"/>
                <a:ea typeface="Calibri"/>
                <a:cs typeface="Calibri"/>
                <a:sym typeface="Calibri"/>
              </a:rPr>
              <a:t>Permission on File</a:t>
            </a:r>
            <a:endParaRPr/>
          </a:p>
          <a:p>
            <a:pPr indent="0" lvl="1" marL="0" marR="0" rtl="0" algn="l">
              <a:lnSpc>
                <a:spcPct val="100000"/>
              </a:lnSpc>
              <a:spcBef>
                <a:spcPts val="0"/>
              </a:spcBef>
              <a:spcAft>
                <a:spcPts val="0"/>
              </a:spcAft>
              <a:buClr>
                <a:schemeClr val="dk1"/>
              </a:buClr>
              <a:buSzPts val="900"/>
              <a:buFont typeface="Calibri"/>
              <a:buNone/>
            </a:pPr>
            <a:r>
              <a:t/>
            </a:r>
            <a:endParaRPr b="0" sz="9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the Read (r) permission is there on a file, it means permission to read the data that is stored inside the file. That is, if read permission is been given then the user can read the content of the file. The cat command will be used to read the content. If read permission is not there, then the cat command won’t be executed.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Write(w) permission is there on a file, it means that permission to write new data to the file or truncate the file or overwrite the existing data.</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execute(x) permission is there on a file, it means that permission to attempt to execute the content of the file as a program. That is, if the file is a program file or executable file, then the user can execute that file if x permission is given.</a:t>
            </a:r>
            <a:endParaRPr/>
          </a:p>
          <a:p>
            <a:pPr indent="0" lvl="1" marL="0" marR="0" rtl="0" algn="l">
              <a:lnSpc>
                <a:spcPct val="100000"/>
              </a:lnSpc>
              <a:spcBef>
                <a:spcPts val="0"/>
              </a:spcBef>
              <a:spcAft>
                <a:spcPts val="0"/>
              </a:spcAft>
              <a:buClr>
                <a:schemeClr val="dk1"/>
              </a:buClr>
              <a:buSzPts val="900"/>
              <a:buFont typeface="Calibri"/>
              <a:buNone/>
            </a:pPr>
            <a:r>
              <a:t/>
            </a:r>
            <a:endParaRPr b="0" sz="900">
              <a:solidFill>
                <a:schemeClr val="dk1"/>
              </a:solidFill>
              <a:latin typeface="Calibri"/>
              <a:ea typeface="Calibri"/>
              <a:cs typeface="Calibri"/>
              <a:sym typeface="Calibri"/>
            </a:endParaRPr>
          </a:p>
          <a:p>
            <a:pPr indent="0" lvl="1" marL="0" marR="0" rtl="0" algn="l">
              <a:lnSpc>
                <a:spcPct val="100000"/>
              </a:lnSpc>
              <a:spcBef>
                <a:spcPts val="0"/>
              </a:spcBef>
              <a:spcAft>
                <a:spcPts val="0"/>
              </a:spcAft>
              <a:buClr>
                <a:schemeClr val="dk1"/>
              </a:buClr>
              <a:buSzPts val="900"/>
              <a:buFont typeface="Calibri"/>
              <a:buNone/>
            </a:pPr>
            <a:r>
              <a:rPr b="1" lang="en-US" sz="900">
                <a:solidFill>
                  <a:schemeClr val="dk1"/>
                </a:solidFill>
                <a:latin typeface="Calibri"/>
                <a:ea typeface="Calibri"/>
                <a:cs typeface="Calibri"/>
                <a:sym typeface="Calibri"/>
              </a:rPr>
              <a:t>Permission on Directory</a:t>
            </a:r>
            <a:endParaRPr/>
          </a:p>
          <a:p>
            <a:pPr indent="0" lvl="1" marL="0" marR="0" rtl="0" algn="l">
              <a:lnSpc>
                <a:spcPct val="100000"/>
              </a:lnSpc>
              <a:spcBef>
                <a:spcPts val="0"/>
              </a:spcBef>
              <a:spcAft>
                <a:spcPts val="0"/>
              </a:spcAft>
              <a:buClr>
                <a:schemeClr val="dk1"/>
              </a:buClr>
              <a:buSzPts val="900"/>
              <a:buFont typeface="Calibri"/>
              <a:buNone/>
            </a:pPr>
            <a:r>
              <a:t/>
            </a:r>
            <a:endParaRPr b="1" sz="9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Read (r) permission is there on a Directory, it means that permission to get the list of directories. That is, we can list the content of the directory.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"write" permission is granted to a directory, it means that permission to create, delete, and rename files within the directory is granted.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Execute(x) permission is there on a directory, it means that  permission to change the directory or to use the directory as an intermediate part of a path to a file </a:t>
            </a:r>
            <a:endParaRPr sz="1200">
              <a:solidFill>
                <a:schemeClr val="dk1"/>
              </a:solidFill>
              <a:latin typeface="Calibri"/>
              <a:ea typeface="Calibri"/>
              <a:cs typeface="Calibri"/>
              <a:sym typeface="Calibri"/>
            </a:endParaRPr>
          </a:p>
        </p:txBody>
      </p:sp>
      <p:sp>
        <p:nvSpPr>
          <p:cNvPr id="382" name="Google Shape;382;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1" name="Google Shape;391;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1" marL="0" marR="0" rtl="0" algn="l">
              <a:lnSpc>
                <a:spcPct val="100000"/>
              </a:lnSpc>
              <a:spcBef>
                <a:spcPts val="0"/>
              </a:spcBef>
              <a:spcAft>
                <a:spcPts val="0"/>
              </a:spcAft>
              <a:buClr>
                <a:schemeClr val="dk1"/>
              </a:buClr>
              <a:buSzPts val="900"/>
              <a:buFont typeface="Calibri"/>
              <a:buNone/>
            </a:pPr>
            <a:r>
              <a:rPr b="1" lang="en-US" sz="900">
                <a:solidFill>
                  <a:schemeClr val="dk1"/>
                </a:solidFill>
                <a:latin typeface="Calibri"/>
                <a:ea typeface="Calibri"/>
                <a:cs typeface="Calibri"/>
                <a:sym typeface="Calibri"/>
              </a:rPr>
              <a:t>Concise audio</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There are different types of permission, and we can apply different sets of permissions to different sets of people.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There are three sets of people.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Owner-  Whoever created the file or directory will become the owner of that file or directory.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Group owner - A group can contain multiple users. All the users belonging to a group have the same access permissions for a file.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3.Others - Other than the user or group, anyone who has access to the file falls into the category of "other."Other has neither created the file nor is a group member.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392" name="Google Shape;392;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9" name="Google Shape;399;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1" marL="0" marR="0" rtl="0" algn="l">
              <a:lnSpc>
                <a:spcPct val="100000"/>
              </a:lnSpc>
              <a:spcBef>
                <a:spcPts val="0"/>
              </a:spcBef>
              <a:spcAft>
                <a:spcPts val="0"/>
              </a:spcAft>
              <a:buClr>
                <a:schemeClr val="dk1"/>
              </a:buClr>
              <a:buSzPts val="900"/>
              <a:buFont typeface="Calibri"/>
              <a:buNone/>
            </a:pPr>
            <a:r>
              <a:rPr b="1" lang="en-US" sz="900">
                <a:solidFill>
                  <a:schemeClr val="dk1"/>
                </a:solidFill>
                <a:latin typeface="Calibri"/>
                <a:ea typeface="Calibri"/>
                <a:cs typeface="Calibri"/>
                <a:sym typeface="Calibri"/>
              </a:rPr>
              <a:t>Concise audio</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Linux, like other Unix-like operating systems, allows multiple users to work on the same server simultaneously without disrupting each other.</a:t>
            </a:r>
            <a:r>
              <a:rPr b="1" lang="en-US"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To start with file permissions, you have to find the current Linux permission settings.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Using the command line, easily find a file’s permission settings with the ls command, used to list information about files and directories. You can also add the –l option to the command to see the information in the long list format.</a:t>
            </a:r>
            <a:endParaRPr/>
          </a:p>
          <a:p>
            <a:pPr indent="0" lvl="0" marL="0" marR="0" rtl="0" algn="l">
              <a:lnSpc>
                <a:spcPct val="100000"/>
              </a:lnSpc>
              <a:spcBef>
                <a:spcPts val="0"/>
              </a:spcBef>
              <a:spcAft>
                <a:spcPts val="0"/>
              </a:spcAft>
              <a:buClr>
                <a:schemeClr val="dk1"/>
              </a:buClr>
              <a:buSzPts val="1200"/>
              <a:buFont typeface="Calibri"/>
              <a:buNone/>
            </a:pPr>
            <a:r>
              <a:rPr lang="en-US" sz="1200"/>
              <a:t>The ls -l command allows you to view at the permissions on a file:</a:t>
            </a:r>
            <a:endParaRPr/>
          </a:p>
          <a:p>
            <a:pPr indent="0" lvl="0" marL="0" rtl="0" algn="l">
              <a:spcBef>
                <a:spcPts val="0"/>
              </a:spcBef>
              <a:spcAft>
                <a:spcPts val="0"/>
              </a:spcAft>
              <a:buNone/>
            </a:pPr>
            <a:r>
              <a:rPr lang="en-US" sz="2000"/>
              <a:t>The first column is the permissions:</a:t>
            </a:r>
            <a:endParaRPr/>
          </a:p>
          <a:p>
            <a:pPr indent="0" lvl="1" marL="457200" rtl="0" algn="l">
              <a:spcBef>
                <a:spcPts val="0"/>
              </a:spcBef>
              <a:spcAft>
                <a:spcPts val="0"/>
              </a:spcAft>
              <a:buNone/>
            </a:pPr>
            <a:r>
              <a:rPr lang="en-US" sz="2000"/>
              <a:t>One character for the file type: d for directories, - for plain files</a:t>
            </a:r>
            <a:endParaRPr/>
          </a:p>
          <a:p>
            <a:pPr indent="0" lvl="1" marL="457200" rtl="0" algn="l">
              <a:spcBef>
                <a:spcPts val="0"/>
              </a:spcBef>
              <a:spcAft>
                <a:spcPts val="0"/>
              </a:spcAft>
              <a:buNone/>
            </a:pPr>
            <a:r>
              <a:rPr lang="en-US" sz="2000"/>
              <a:t>Three characters of rwx permissions for the owner (or a dash if the permission isn’t available)</a:t>
            </a:r>
            <a:endParaRPr/>
          </a:p>
          <a:p>
            <a:pPr indent="0" lvl="1" marL="457200" rtl="0" algn="l">
              <a:spcBef>
                <a:spcPts val="0"/>
              </a:spcBef>
              <a:spcAft>
                <a:spcPts val="0"/>
              </a:spcAft>
              <a:buNone/>
            </a:pPr>
            <a:r>
              <a:rPr lang="en-US" sz="2000"/>
              <a:t>Three characters of rwx permissions for the group owner</a:t>
            </a:r>
            <a:endParaRPr/>
          </a:p>
          <a:p>
            <a:pPr indent="0" lvl="1" marL="457200" rtl="0" algn="l">
              <a:spcBef>
                <a:spcPts val="0"/>
              </a:spcBef>
              <a:spcAft>
                <a:spcPts val="0"/>
              </a:spcAft>
              <a:buNone/>
            </a:pPr>
            <a:r>
              <a:rPr lang="en-US" sz="2000"/>
              <a:t>Three characters of rwx permissions for everyone else</a:t>
            </a:r>
            <a:endParaRPr/>
          </a:p>
          <a:p>
            <a:pPr indent="0" lvl="0" marL="0" rtl="0" algn="l">
              <a:spcBef>
                <a:spcPts val="0"/>
              </a:spcBef>
              <a:spcAft>
                <a:spcPts val="0"/>
              </a:spcAft>
              <a:buNone/>
            </a:pPr>
            <a:r>
              <a:rPr lang="en-US" sz="2000"/>
              <a:t>The third and fourth columns are the owner and group-owner</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00" name="Google Shape;400;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7" name="Google Shape;407;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1" marL="0" marR="0" rtl="0" algn="l">
              <a:lnSpc>
                <a:spcPct val="100000"/>
              </a:lnSpc>
              <a:spcBef>
                <a:spcPts val="0"/>
              </a:spcBef>
              <a:spcAft>
                <a:spcPts val="0"/>
              </a:spcAft>
              <a:buClr>
                <a:schemeClr val="dk1"/>
              </a:buClr>
              <a:buSzPts val="832"/>
              <a:buFont typeface="Calibri"/>
              <a:buNone/>
            </a:pPr>
            <a:r>
              <a:rPr b="1" lang="en-US" sz="833">
                <a:solidFill>
                  <a:schemeClr val="dk1"/>
                </a:solidFill>
                <a:latin typeface="Calibri"/>
                <a:ea typeface="Calibri"/>
                <a:cs typeface="Calibri"/>
                <a:sym typeface="Calibri"/>
              </a:rPr>
              <a:t>Concise audio</a:t>
            </a:r>
            <a:endParaRPr/>
          </a:p>
          <a:p>
            <a:pPr indent="0" lvl="0" marL="0" rtl="0" algn="l">
              <a:spcBef>
                <a:spcPts val="0"/>
              </a:spcBef>
              <a:spcAft>
                <a:spcPts val="0"/>
              </a:spcAft>
              <a:buNone/>
            </a:pPr>
            <a:r>
              <a:rPr b="0" i="0" lang="en-US" sz="1110">
                <a:solidFill>
                  <a:schemeClr val="dk1"/>
                </a:solidFill>
                <a:latin typeface="Calibri"/>
                <a:ea typeface="Calibri"/>
                <a:cs typeface="Calibri"/>
                <a:sym typeface="Calibri"/>
              </a:rPr>
              <a:t>As seen in the image above, the output provides the following information:</a:t>
            </a:r>
            <a:endParaRPr/>
          </a:p>
          <a:p>
            <a:pPr indent="-70485" lvl="0" marL="0" rtl="0" algn="l">
              <a:spcBef>
                <a:spcPts val="0"/>
              </a:spcBef>
              <a:spcAft>
                <a:spcPts val="0"/>
              </a:spcAft>
              <a:buClr>
                <a:schemeClr val="dk1"/>
              </a:buClr>
              <a:buSzPts val="1110"/>
              <a:buFont typeface="Arial"/>
              <a:buChar char="•"/>
            </a:pPr>
            <a:r>
              <a:rPr b="0" i="0" lang="en-US" sz="1110">
                <a:solidFill>
                  <a:schemeClr val="dk1"/>
                </a:solidFill>
                <a:latin typeface="Calibri"/>
                <a:ea typeface="Calibri"/>
                <a:cs typeface="Calibri"/>
                <a:sym typeface="Calibri"/>
              </a:rPr>
              <a:t>file permission</a:t>
            </a:r>
            <a:endParaRPr/>
          </a:p>
          <a:p>
            <a:pPr indent="-70485" lvl="0" marL="0" rtl="0" algn="l">
              <a:spcBef>
                <a:spcPts val="0"/>
              </a:spcBef>
              <a:spcAft>
                <a:spcPts val="0"/>
              </a:spcAft>
              <a:buClr>
                <a:schemeClr val="dk1"/>
              </a:buClr>
              <a:buSzPts val="1110"/>
              <a:buFont typeface="Arial"/>
              <a:buChar char="•"/>
            </a:pPr>
            <a:r>
              <a:rPr b="0" i="0" lang="en-US" sz="1110">
                <a:solidFill>
                  <a:schemeClr val="dk1"/>
                </a:solidFill>
                <a:latin typeface="Calibri"/>
                <a:ea typeface="Calibri"/>
                <a:cs typeface="Calibri"/>
                <a:sym typeface="Calibri"/>
              </a:rPr>
              <a:t>the owner (creator) of the file</a:t>
            </a:r>
            <a:endParaRPr/>
          </a:p>
          <a:p>
            <a:pPr indent="-70485" lvl="0" marL="0" rtl="0" algn="l">
              <a:spcBef>
                <a:spcPts val="0"/>
              </a:spcBef>
              <a:spcAft>
                <a:spcPts val="0"/>
              </a:spcAft>
              <a:buClr>
                <a:schemeClr val="dk1"/>
              </a:buClr>
              <a:buSzPts val="1110"/>
              <a:buFont typeface="Arial"/>
              <a:buChar char="•"/>
            </a:pPr>
            <a:r>
              <a:rPr b="0" i="0" lang="en-US" sz="1110">
                <a:solidFill>
                  <a:schemeClr val="dk1"/>
                </a:solidFill>
                <a:latin typeface="Calibri"/>
                <a:ea typeface="Calibri"/>
                <a:cs typeface="Calibri"/>
                <a:sym typeface="Calibri"/>
              </a:rPr>
              <a:t>the group to which that owner belongs to</a:t>
            </a:r>
            <a:endParaRPr/>
          </a:p>
          <a:p>
            <a:pPr indent="-70485" lvl="0" marL="0" rtl="0" algn="l">
              <a:spcBef>
                <a:spcPts val="0"/>
              </a:spcBef>
              <a:spcAft>
                <a:spcPts val="0"/>
              </a:spcAft>
              <a:buClr>
                <a:schemeClr val="dk1"/>
              </a:buClr>
              <a:buSzPts val="1110"/>
              <a:buFont typeface="Arial"/>
              <a:buChar char="•"/>
            </a:pPr>
            <a:r>
              <a:rPr b="0" i="0" lang="en-US" sz="1110">
                <a:solidFill>
                  <a:schemeClr val="dk1"/>
                </a:solidFill>
                <a:latin typeface="Calibri"/>
                <a:ea typeface="Calibri"/>
                <a:cs typeface="Calibri"/>
                <a:sym typeface="Calibri"/>
              </a:rPr>
              <a:t>the date of creation.</a:t>
            </a:r>
            <a:endParaRPr/>
          </a:p>
          <a:p>
            <a:pPr indent="0" lvl="0" marL="0" rtl="0" algn="l">
              <a:spcBef>
                <a:spcPts val="0"/>
              </a:spcBef>
              <a:spcAft>
                <a:spcPts val="0"/>
              </a:spcAft>
              <a:buClr>
                <a:schemeClr val="dk1"/>
              </a:buClr>
              <a:buSzPts val="1110"/>
              <a:buFont typeface="Arial"/>
              <a:buNone/>
            </a:pPr>
            <a:r>
              <a:t/>
            </a:r>
            <a:endParaRPr b="0" i="0" sz="1110">
              <a:solidFill>
                <a:schemeClr val="dk1"/>
              </a:solidFill>
              <a:latin typeface="Calibri"/>
              <a:ea typeface="Calibri"/>
              <a:cs typeface="Calibri"/>
              <a:sym typeface="Calibri"/>
            </a:endParaRPr>
          </a:p>
          <a:p>
            <a:pPr indent="0" lvl="0" marL="0" rtl="0" algn="l">
              <a:spcBef>
                <a:spcPts val="0"/>
              </a:spcBef>
              <a:spcAft>
                <a:spcPts val="0"/>
              </a:spcAft>
              <a:buNone/>
            </a:pPr>
            <a:r>
              <a:rPr lang="en-US" sz="1110">
                <a:solidFill>
                  <a:schemeClr val="dk1"/>
                </a:solidFill>
                <a:latin typeface="Calibri"/>
                <a:ea typeface="Calibri"/>
                <a:cs typeface="Calibri"/>
                <a:sym typeface="Calibri"/>
              </a:rPr>
              <a:t>It shows the permission settings, grouped in a string of characters (-, r, w, x), classified into four sections:</a:t>
            </a:r>
            <a:endParaRPr/>
          </a:p>
          <a:p>
            <a:pPr indent="0" lvl="0" marL="0" rtl="0" algn="l">
              <a:spcBef>
                <a:spcPts val="0"/>
              </a:spcBef>
              <a:spcAft>
                <a:spcPts val="0"/>
              </a:spcAft>
              <a:buNone/>
            </a:pPr>
            <a:r>
              <a:rPr lang="en-US" sz="1110">
                <a:solidFill>
                  <a:schemeClr val="dk1"/>
                </a:solidFill>
                <a:latin typeface="Calibri"/>
                <a:ea typeface="Calibri"/>
                <a:cs typeface="Calibri"/>
                <a:sym typeface="Calibri"/>
              </a:rPr>
              <a:t>1.File type. There are three possibilities for the type. It can either be a regular file (</a:t>
            </a:r>
            <a:r>
              <a:rPr b="1" lang="en-US" sz="1110">
                <a:solidFill>
                  <a:schemeClr val="dk1"/>
                </a:solidFill>
                <a:latin typeface="Calibri"/>
                <a:ea typeface="Calibri"/>
                <a:cs typeface="Calibri"/>
                <a:sym typeface="Calibri"/>
              </a:rPr>
              <a:t>–</a:t>
            </a:r>
            <a:r>
              <a:rPr lang="en-US" sz="1110">
                <a:solidFill>
                  <a:schemeClr val="dk1"/>
                </a:solidFill>
                <a:latin typeface="Calibri"/>
                <a:ea typeface="Calibri"/>
                <a:cs typeface="Calibri"/>
                <a:sym typeface="Calibri"/>
              </a:rPr>
              <a:t>), a directory (d), or a link (</a:t>
            </a:r>
            <a:r>
              <a:rPr b="1" lang="en-US" sz="1110">
                <a:solidFill>
                  <a:schemeClr val="dk1"/>
                </a:solidFill>
                <a:latin typeface="Calibri"/>
                <a:ea typeface="Calibri"/>
                <a:cs typeface="Calibri"/>
                <a:sym typeface="Calibri"/>
              </a:rPr>
              <a:t>i</a:t>
            </a:r>
            <a:r>
              <a:rPr lang="en-US" sz="1110">
                <a:solidFill>
                  <a:schemeClr val="dk1"/>
                </a:solidFill>
                <a:latin typeface="Calibri"/>
                <a:ea typeface="Calibri"/>
                <a:cs typeface="Calibri"/>
                <a:sym typeface="Calibri"/>
              </a:rPr>
              <a:t>).</a:t>
            </a:r>
            <a:endParaRPr/>
          </a:p>
          <a:p>
            <a:pPr indent="0" lvl="0" marL="0" rtl="0" algn="l">
              <a:spcBef>
                <a:spcPts val="0"/>
              </a:spcBef>
              <a:spcAft>
                <a:spcPts val="0"/>
              </a:spcAft>
              <a:buNone/>
            </a:pPr>
            <a:r>
              <a:rPr lang="en-US" sz="1110">
                <a:solidFill>
                  <a:schemeClr val="dk1"/>
                </a:solidFill>
                <a:latin typeface="Calibri"/>
                <a:ea typeface="Calibri"/>
                <a:cs typeface="Calibri"/>
                <a:sym typeface="Calibri"/>
              </a:rPr>
              <a:t>2. File permissions of the user (owner)</a:t>
            </a:r>
            <a:endParaRPr/>
          </a:p>
          <a:p>
            <a:pPr indent="0" lvl="0" marL="0" rtl="0" algn="l">
              <a:spcBef>
                <a:spcPts val="0"/>
              </a:spcBef>
              <a:spcAft>
                <a:spcPts val="0"/>
              </a:spcAft>
              <a:buNone/>
            </a:pPr>
            <a:r>
              <a:rPr lang="en-US" sz="1110">
                <a:solidFill>
                  <a:schemeClr val="dk1"/>
                </a:solidFill>
                <a:latin typeface="Calibri"/>
                <a:ea typeface="Calibri"/>
                <a:cs typeface="Calibri"/>
                <a:sym typeface="Calibri"/>
              </a:rPr>
              <a:t>Three characters of rwx permissions for the owner (or a dash if   the permission isn’t available)</a:t>
            </a:r>
            <a:endParaRPr/>
          </a:p>
          <a:p>
            <a:pPr indent="0" lvl="0" marL="0" rtl="0" algn="l">
              <a:spcBef>
                <a:spcPts val="0"/>
              </a:spcBef>
              <a:spcAft>
                <a:spcPts val="0"/>
              </a:spcAft>
              <a:buNone/>
            </a:pPr>
            <a:r>
              <a:rPr lang="en-US" sz="1110">
                <a:solidFill>
                  <a:schemeClr val="dk1"/>
                </a:solidFill>
                <a:latin typeface="Calibri"/>
                <a:ea typeface="Calibri"/>
                <a:cs typeface="Calibri"/>
                <a:sym typeface="Calibri"/>
              </a:rPr>
              <a:t>3.File permission of the owner’s group</a:t>
            </a:r>
            <a:endParaRPr/>
          </a:p>
          <a:p>
            <a:pPr indent="0" lvl="0" marL="0" rtl="0" algn="l">
              <a:spcBef>
                <a:spcPts val="0"/>
              </a:spcBef>
              <a:spcAft>
                <a:spcPts val="0"/>
              </a:spcAft>
              <a:buNone/>
            </a:pPr>
            <a:r>
              <a:rPr lang="en-US" sz="1110">
                <a:solidFill>
                  <a:schemeClr val="dk1"/>
                </a:solidFill>
                <a:latin typeface="Calibri"/>
                <a:ea typeface="Calibri"/>
                <a:cs typeface="Calibri"/>
                <a:sym typeface="Calibri"/>
              </a:rPr>
              <a:t>Three characters of rwx permissions for the group owner</a:t>
            </a:r>
            <a:endParaRPr/>
          </a:p>
          <a:p>
            <a:pPr indent="0" lvl="0" marL="0" rtl="0" algn="l">
              <a:spcBef>
                <a:spcPts val="0"/>
              </a:spcBef>
              <a:spcAft>
                <a:spcPts val="0"/>
              </a:spcAft>
              <a:buNone/>
            </a:pPr>
            <a:r>
              <a:rPr lang="en-US" sz="1110">
                <a:solidFill>
                  <a:schemeClr val="dk1"/>
                </a:solidFill>
                <a:latin typeface="Calibri"/>
                <a:ea typeface="Calibri"/>
                <a:cs typeface="Calibri"/>
                <a:sym typeface="Calibri"/>
              </a:rPr>
              <a:t>4. File permissions of other users</a:t>
            </a:r>
            <a:endParaRPr/>
          </a:p>
          <a:p>
            <a:pPr indent="0" lvl="0" marL="0" rtl="0" algn="l">
              <a:spcBef>
                <a:spcPts val="0"/>
              </a:spcBef>
              <a:spcAft>
                <a:spcPts val="0"/>
              </a:spcAft>
              <a:buNone/>
            </a:pPr>
            <a:r>
              <a:rPr lang="en-US" sz="1110">
                <a:solidFill>
                  <a:schemeClr val="dk1"/>
                </a:solidFill>
                <a:latin typeface="Calibri"/>
                <a:ea typeface="Calibri"/>
                <a:cs typeface="Calibri"/>
                <a:sym typeface="Calibri"/>
              </a:rPr>
              <a:t>Three characters of rwx permissions for everyone else</a:t>
            </a:r>
            <a:endParaRPr/>
          </a:p>
          <a:p>
            <a:pPr indent="-228600" lvl="0" marL="228600" rtl="0" algn="l">
              <a:spcBef>
                <a:spcPts val="0"/>
              </a:spcBef>
              <a:spcAft>
                <a:spcPts val="0"/>
              </a:spcAft>
              <a:buClr>
                <a:schemeClr val="dk1"/>
              </a:buClr>
              <a:buSzPts val="1110"/>
              <a:buFont typeface="Calibri"/>
              <a:buNone/>
            </a:pPr>
            <a:r>
              <a:t/>
            </a:r>
            <a:endParaRPr b="0" i="0" sz="1110">
              <a:solidFill>
                <a:schemeClr val="dk1"/>
              </a:solidFill>
              <a:latin typeface="Calibri"/>
              <a:ea typeface="Calibri"/>
              <a:cs typeface="Calibri"/>
              <a:sym typeface="Calibri"/>
            </a:endParaRPr>
          </a:p>
          <a:p>
            <a:pPr indent="0" lvl="0" marL="0" rtl="0" algn="l">
              <a:spcBef>
                <a:spcPts val="0"/>
              </a:spcBef>
              <a:spcAft>
                <a:spcPts val="0"/>
              </a:spcAft>
              <a:buNone/>
            </a:pPr>
            <a:r>
              <a:rPr lang="en-US" sz="1110">
                <a:solidFill>
                  <a:schemeClr val="dk1"/>
                </a:solidFill>
                <a:latin typeface="Calibri"/>
                <a:ea typeface="Calibri"/>
                <a:cs typeface="Calibri"/>
                <a:sym typeface="Calibri"/>
              </a:rPr>
              <a:t>The characters </a:t>
            </a:r>
            <a:r>
              <a:rPr b="1" lang="en-US" sz="1110">
                <a:solidFill>
                  <a:schemeClr val="dk1"/>
                </a:solidFill>
                <a:latin typeface="Calibri"/>
                <a:ea typeface="Calibri"/>
                <a:cs typeface="Calibri"/>
                <a:sym typeface="Calibri"/>
              </a:rPr>
              <a:t>r</a:t>
            </a:r>
            <a:r>
              <a:rPr lang="en-US" sz="1110">
                <a:solidFill>
                  <a:schemeClr val="dk1"/>
                </a:solidFill>
                <a:latin typeface="Calibri"/>
                <a:ea typeface="Calibri"/>
                <a:cs typeface="Calibri"/>
                <a:sym typeface="Calibri"/>
              </a:rPr>
              <a:t>, </a:t>
            </a:r>
            <a:r>
              <a:rPr b="1" lang="en-US" sz="1110">
                <a:solidFill>
                  <a:schemeClr val="dk1"/>
                </a:solidFill>
                <a:latin typeface="Calibri"/>
                <a:ea typeface="Calibri"/>
                <a:cs typeface="Calibri"/>
                <a:sym typeface="Calibri"/>
              </a:rPr>
              <a:t>w</a:t>
            </a:r>
            <a:r>
              <a:rPr lang="en-US" sz="1110">
                <a:solidFill>
                  <a:schemeClr val="dk1"/>
                </a:solidFill>
                <a:latin typeface="Calibri"/>
                <a:ea typeface="Calibri"/>
                <a:cs typeface="Calibri"/>
                <a:sym typeface="Calibri"/>
              </a:rPr>
              <a:t>, and </a:t>
            </a:r>
            <a:r>
              <a:rPr b="1" lang="en-US" sz="1110">
                <a:solidFill>
                  <a:schemeClr val="dk1"/>
                </a:solidFill>
                <a:latin typeface="Calibri"/>
                <a:ea typeface="Calibri"/>
                <a:cs typeface="Calibri"/>
                <a:sym typeface="Calibri"/>
              </a:rPr>
              <a:t>x</a:t>
            </a:r>
            <a:r>
              <a:rPr lang="en-US" sz="1110">
                <a:solidFill>
                  <a:schemeClr val="dk1"/>
                </a:solidFill>
                <a:latin typeface="Calibri"/>
                <a:ea typeface="Calibri"/>
                <a:cs typeface="Calibri"/>
                <a:sym typeface="Calibri"/>
              </a:rPr>
              <a:t> stand for </a:t>
            </a:r>
            <a:r>
              <a:rPr b="1" lang="en-US" sz="1110">
                <a:solidFill>
                  <a:schemeClr val="dk1"/>
                </a:solidFill>
                <a:latin typeface="Calibri"/>
                <a:ea typeface="Calibri"/>
                <a:cs typeface="Calibri"/>
                <a:sym typeface="Calibri"/>
              </a:rPr>
              <a:t>read</a:t>
            </a:r>
            <a:r>
              <a:rPr lang="en-US" sz="1110">
                <a:solidFill>
                  <a:schemeClr val="dk1"/>
                </a:solidFill>
                <a:latin typeface="Calibri"/>
                <a:ea typeface="Calibri"/>
                <a:cs typeface="Calibri"/>
                <a:sym typeface="Calibri"/>
              </a:rPr>
              <a:t>, </a:t>
            </a:r>
            <a:r>
              <a:rPr b="1" lang="en-US" sz="1110">
                <a:solidFill>
                  <a:schemeClr val="dk1"/>
                </a:solidFill>
                <a:latin typeface="Calibri"/>
                <a:ea typeface="Calibri"/>
                <a:cs typeface="Calibri"/>
                <a:sym typeface="Calibri"/>
              </a:rPr>
              <a:t>write</a:t>
            </a:r>
            <a:r>
              <a:rPr lang="en-US" sz="1110">
                <a:solidFill>
                  <a:schemeClr val="dk1"/>
                </a:solidFill>
                <a:latin typeface="Calibri"/>
                <a:ea typeface="Calibri"/>
                <a:cs typeface="Calibri"/>
                <a:sym typeface="Calibri"/>
              </a:rPr>
              <a:t>, and </a:t>
            </a:r>
            <a:r>
              <a:rPr b="1" lang="en-US" sz="1110">
                <a:solidFill>
                  <a:schemeClr val="dk1"/>
                </a:solidFill>
                <a:latin typeface="Calibri"/>
                <a:ea typeface="Calibri"/>
                <a:cs typeface="Calibri"/>
                <a:sym typeface="Calibri"/>
              </a:rPr>
              <a:t>execute</a:t>
            </a:r>
            <a:r>
              <a:rPr lang="en-US" sz="1110">
                <a:solidFill>
                  <a:schemeClr val="dk1"/>
                </a:solidFill>
                <a:latin typeface="Calibri"/>
                <a:ea typeface="Calibri"/>
                <a:cs typeface="Calibri"/>
                <a:sym typeface="Calibri"/>
              </a:rPr>
              <a:t>.</a:t>
            </a:r>
            <a:br>
              <a:rPr lang="en-US" sz="1110">
                <a:solidFill>
                  <a:schemeClr val="dk1"/>
                </a:solidFill>
                <a:latin typeface="Calibri"/>
                <a:ea typeface="Calibri"/>
                <a:cs typeface="Calibri"/>
                <a:sym typeface="Calibri"/>
              </a:rPr>
            </a:br>
            <a:r>
              <a:rPr lang="en-US" sz="1110">
                <a:solidFill>
                  <a:schemeClr val="dk1"/>
                </a:solidFill>
                <a:latin typeface="Calibri"/>
                <a:ea typeface="Calibri"/>
                <a:cs typeface="Calibri"/>
                <a:sym typeface="Calibri"/>
              </a:rPr>
              <a:t>The categories can have all three privileges, just specific ones, or none at all (represented by </a:t>
            </a:r>
            <a:r>
              <a:rPr b="1" lang="en-US" sz="1110">
                <a:solidFill>
                  <a:schemeClr val="dk1"/>
                </a:solidFill>
                <a:latin typeface="Calibri"/>
                <a:ea typeface="Calibri"/>
                <a:cs typeface="Calibri"/>
                <a:sym typeface="Calibri"/>
              </a:rPr>
              <a:t>–</a:t>
            </a:r>
            <a:r>
              <a:rPr lang="en-US" sz="1110">
                <a:solidFill>
                  <a:schemeClr val="dk1"/>
                </a:solidFill>
                <a:latin typeface="Calibri"/>
                <a:ea typeface="Calibri"/>
                <a:cs typeface="Calibri"/>
                <a:sym typeface="Calibri"/>
              </a:rPr>
              <a:t>, for denied).</a:t>
            </a:r>
            <a:endParaRPr/>
          </a:p>
          <a:p>
            <a:pPr indent="0" lvl="0" marL="0" rtl="0" algn="l">
              <a:spcBef>
                <a:spcPts val="0"/>
              </a:spcBef>
              <a:spcAft>
                <a:spcPts val="0"/>
              </a:spcAft>
              <a:buNone/>
            </a:pPr>
            <a:r>
              <a:rPr lang="en-US" sz="1110">
                <a:solidFill>
                  <a:schemeClr val="dk1"/>
                </a:solidFill>
                <a:latin typeface="Calibri"/>
                <a:ea typeface="Calibri"/>
                <a:cs typeface="Calibri"/>
                <a:sym typeface="Calibri"/>
              </a:rPr>
              <a:t>Users that have reading permission can see the content of a file (or files in a directory). However, they cannot modify it (nor add or remove files from a directory). On the other hand, those who have writing privileges can edit (add and remove) files. Finally, being able to execute means the user can run the file. This option is mainly used for running scripts.</a:t>
            </a:r>
            <a:endParaRPr/>
          </a:p>
          <a:p>
            <a:pPr indent="0" lvl="0" marL="0" rtl="0" algn="l">
              <a:spcBef>
                <a:spcPts val="0"/>
              </a:spcBef>
              <a:spcAft>
                <a:spcPts val="0"/>
              </a:spcAft>
              <a:buClr>
                <a:schemeClr val="dk1"/>
              </a:buClr>
              <a:buSzPts val="1110"/>
              <a:buFont typeface="Arial"/>
              <a:buNone/>
            </a:pPr>
            <a:br>
              <a:rPr lang="en-US" sz="1110"/>
            </a:br>
            <a:endParaRPr sz="1110"/>
          </a:p>
        </p:txBody>
      </p:sp>
      <p:sp>
        <p:nvSpPr>
          <p:cNvPr id="408" name="Google Shape;408;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6" name="Google Shape;416;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1" marL="0" marR="0" rtl="0" algn="l">
              <a:lnSpc>
                <a:spcPct val="100000"/>
              </a:lnSpc>
              <a:spcBef>
                <a:spcPts val="0"/>
              </a:spcBef>
              <a:spcAft>
                <a:spcPts val="0"/>
              </a:spcAft>
              <a:buClr>
                <a:schemeClr val="dk1"/>
              </a:buClr>
              <a:buSzPts val="900"/>
              <a:buFont typeface="Calibri"/>
              <a:buNone/>
            </a:pPr>
            <a:r>
              <a:rPr b="1" lang="en-US" sz="900">
                <a:solidFill>
                  <a:schemeClr val="dk1"/>
                </a:solidFill>
                <a:latin typeface="Calibri"/>
                <a:ea typeface="Calibri"/>
                <a:cs typeface="Calibri"/>
                <a:sym typeface="Calibri"/>
              </a:rPr>
              <a:t>Concise audio</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As all Linux users, you will at some point need to modify the permission settings of a file/directory.</a:t>
            </a:r>
            <a:endParaRPr/>
          </a:p>
          <a:p>
            <a:pPr indent="0" lvl="0" marL="0" marR="0" rtl="0" algn="l">
              <a:lnSpc>
                <a:spcPct val="100000"/>
              </a:lnSpc>
              <a:spcBef>
                <a:spcPts val="0"/>
              </a:spcBef>
              <a:spcAft>
                <a:spcPts val="0"/>
              </a:spcAft>
              <a:buClr>
                <a:schemeClr val="dk1"/>
              </a:buClr>
              <a:buSzPts val="1200"/>
              <a:buFont typeface="Calibri"/>
              <a:buNone/>
            </a:pPr>
            <a:r>
              <a:t/>
            </a:r>
            <a:endParaRPr sz="1200"/>
          </a:p>
          <a:p>
            <a:pPr indent="0" lvl="0" marL="0" rtl="0" algn="l">
              <a:spcBef>
                <a:spcPts val="0"/>
              </a:spcBef>
              <a:spcAft>
                <a:spcPts val="0"/>
              </a:spcAft>
              <a:buNone/>
            </a:pPr>
            <a:r>
              <a:rPr lang="en-US" sz="1200"/>
              <a:t>If you own a file, the per-owner permissions apply to you</a:t>
            </a:r>
            <a:endParaRPr/>
          </a:p>
          <a:p>
            <a:pPr indent="0" lvl="0" marL="0" rtl="0" algn="l">
              <a:spcBef>
                <a:spcPts val="0"/>
              </a:spcBef>
              <a:spcAft>
                <a:spcPts val="0"/>
              </a:spcAft>
              <a:buNone/>
            </a:pPr>
            <a:r>
              <a:rPr lang="en-US" sz="1200"/>
              <a:t>Otherwise, if you are in the group that group-owns the file, the per-group permissions apply to you</a:t>
            </a:r>
            <a:endParaRPr/>
          </a:p>
          <a:p>
            <a:pPr indent="0" lvl="0" marL="0" rtl="0" algn="l">
              <a:spcBef>
                <a:spcPts val="0"/>
              </a:spcBef>
              <a:spcAft>
                <a:spcPts val="0"/>
              </a:spcAft>
              <a:buNone/>
            </a:pPr>
            <a:r>
              <a:rPr lang="en-US" sz="1200"/>
              <a:t>If neither of those is the case, the for-everyone-else permissions apply to you</a:t>
            </a:r>
            <a:endParaRPr/>
          </a:p>
          <a:p>
            <a:pPr indent="0" lvl="0" marL="0" marR="0" rtl="0" algn="l">
              <a:lnSpc>
                <a:spcPct val="100000"/>
              </a:lnSpc>
              <a:spcBef>
                <a:spcPts val="0"/>
              </a:spcBef>
              <a:spcAft>
                <a:spcPts val="0"/>
              </a:spcAft>
              <a:buClr>
                <a:schemeClr val="dk1"/>
              </a:buClr>
              <a:buSzPts val="1200"/>
              <a:buFont typeface="Arial"/>
              <a:buNone/>
            </a:pPr>
            <a:r>
              <a:t/>
            </a:r>
            <a:endParaRPr sz="1200"/>
          </a:p>
          <a:p>
            <a:pPr indent="0" lvl="0" marL="0" marR="0" rtl="0" algn="l">
              <a:lnSpc>
                <a:spcPct val="100000"/>
              </a:lnSpc>
              <a:spcBef>
                <a:spcPts val="0"/>
              </a:spcBef>
              <a:spcAft>
                <a:spcPts val="0"/>
              </a:spcAft>
              <a:buClr>
                <a:schemeClr val="dk1"/>
              </a:buClr>
              <a:buSzPts val="1200"/>
              <a:buFont typeface="Arial"/>
              <a:buNone/>
            </a:pPr>
            <a:r>
              <a:t/>
            </a:r>
            <a:endParaRPr sz="1200"/>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t/>
            </a:r>
            <a:endParaRPr/>
          </a:p>
        </p:txBody>
      </p:sp>
      <p:sp>
        <p:nvSpPr>
          <p:cNvPr id="417" name="Google Shape;417;p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5" name="Google Shape;425;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1" marL="0" marR="0" rtl="0" algn="l">
              <a:lnSpc>
                <a:spcPct val="90000"/>
              </a:lnSpc>
              <a:spcBef>
                <a:spcPts val="0"/>
              </a:spcBef>
              <a:spcAft>
                <a:spcPts val="0"/>
              </a:spcAft>
              <a:buClr>
                <a:schemeClr val="dk1"/>
              </a:buClr>
              <a:buSzPts val="832"/>
              <a:buFont typeface="Calibri"/>
              <a:buNone/>
            </a:pPr>
            <a:r>
              <a:rPr b="1" lang="en-US" sz="833">
                <a:solidFill>
                  <a:schemeClr val="dk1"/>
                </a:solidFill>
                <a:latin typeface="Calibri"/>
                <a:ea typeface="Calibri"/>
                <a:cs typeface="Calibri"/>
                <a:sym typeface="Calibri"/>
              </a:rPr>
              <a:t>Concise audio</a:t>
            </a:r>
            <a:endParaRPr/>
          </a:p>
          <a:p>
            <a:pPr indent="0" lvl="0" marL="0" rtl="0" algn="l">
              <a:lnSpc>
                <a:spcPct val="90000"/>
              </a:lnSpc>
              <a:spcBef>
                <a:spcPts val="0"/>
              </a:spcBef>
              <a:spcAft>
                <a:spcPts val="0"/>
              </a:spcAft>
              <a:buNone/>
            </a:pPr>
            <a:r>
              <a:rPr lang="en-US" sz="1110">
                <a:solidFill>
                  <a:schemeClr val="dk1"/>
                </a:solidFill>
                <a:latin typeface="Calibri"/>
                <a:ea typeface="Calibri"/>
                <a:cs typeface="Calibri"/>
                <a:sym typeface="Calibri"/>
              </a:rPr>
              <a:t>As all Linux users, you will at some point need to modify the permission settings of a file or directory. The command that executes such tasks is the </a:t>
            </a:r>
            <a:r>
              <a:rPr b="1" lang="en-US" sz="1110">
                <a:solidFill>
                  <a:schemeClr val="dk1"/>
                </a:solidFill>
                <a:latin typeface="Calibri"/>
                <a:ea typeface="Calibri"/>
                <a:cs typeface="Calibri"/>
                <a:sym typeface="Calibri"/>
              </a:rPr>
              <a:t>chmod</a:t>
            </a:r>
            <a:r>
              <a:rPr lang="en-US" sz="1110">
                <a:solidFill>
                  <a:schemeClr val="dk1"/>
                </a:solidFill>
                <a:latin typeface="Calibri"/>
                <a:ea typeface="Calibri"/>
                <a:cs typeface="Calibri"/>
                <a:sym typeface="Calibri"/>
              </a:rPr>
              <a:t> command. A file’s permissions may be changed only by its owner or by the superuser.</a:t>
            </a:r>
            <a:endParaRPr/>
          </a:p>
          <a:p>
            <a:pPr indent="0" lvl="0" marL="0" rtl="0" algn="l">
              <a:lnSpc>
                <a:spcPct val="90000"/>
              </a:lnSpc>
              <a:spcBef>
                <a:spcPts val="0"/>
              </a:spcBef>
              <a:spcAft>
                <a:spcPts val="0"/>
              </a:spcAft>
              <a:buNone/>
            </a:pPr>
            <a:r>
              <a:rPr lang="en-US" sz="1110">
                <a:solidFill>
                  <a:schemeClr val="dk1"/>
                </a:solidFill>
                <a:latin typeface="Calibri"/>
                <a:ea typeface="Calibri"/>
                <a:cs typeface="Calibri"/>
                <a:sym typeface="Calibri"/>
              </a:rPr>
              <a:t>The </a:t>
            </a:r>
            <a:r>
              <a:rPr b="1" lang="en-US" sz="1110">
                <a:solidFill>
                  <a:schemeClr val="dk1"/>
                </a:solidFill>
                <a:latin typeface="Calibri"/>
                <a:ea typeface="Calibri"/>
                <a:cs typeface="Calibri"/>
                <a:sym typeface="Calibri"/>
              </a:rPr>
              <a:t>chmod</a:t>
            </a:r>
            <a:r>
              <a:rPr lang="en-US" sz="1110">
                <a:solidFill>
                  <a:schemeClr val="dk1"/>
                </a:solidFill>
                <a:latin typeface="Calibri"/>
                <a:ea typeface="Calibri"/>
                <a:cs typeface="Calibri"/>
                <a:sym typeface="Calibri"/>
              </a:rPr>
              <a:t> command, which stands for "change mode," Using the command, we can set permissions (read, write, and execute) on a file or directory for the owner, group, and world.</a:t>
            </a:r>
            <a:endParaRPr/>
          </a:p>
          <a:p>
            <a:pPr indent="0" lvl="0" marL="0" rtl="0" algn="l">
              <a:lnSpc>
                <a:spcPct val="90000"/>
              </a:lnSpc>
              <a:spcBef>
                <a:spcPts val="0"/>
              </a:spcBef>
              <a:spcAft>
                <a:spcPts val="0"/>
              </a:spcAft>
              <a:buNone/>
            </a:pPr>
            <a:r>
              <a:rPr b="1" i="0" lang="en-US" sz="1110">
                <a:solidFill>
                  <a:schemeClr val="dk1"/>
                </a:solidFill>
                <a:latin typeface="Calibri"/>
                <a:ea typeface="Calibri"/>
                <a:cs typeface="Calibri"/>
                <a:sym typeface="Calibri"/>
              </a:rPr>
              <a:t>Syntax:</a:t>
            </a:r>
            <a:endParaRPr b="0" i="0" sz="111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rPr lang="en-US" sz="1110"/>
              <a:t>chmod permissions filename</a:t>
            </a:r>
            <a:endParaRPr/>
          </a:p>
          <a:p>
            <a:pPr indent="0" lvl="0" marL="0" rtl="0" algn="l">
              <a:lnSpc>
                <a:spcPct val="90000"/>
              </a:lnSpc>
              <a:spcBef>
                <a:spcPts val="0"/>
              </a:spcBef>
              <a:spcAft>
                <a:spcPts val="0"/>
              </a:spcAft>
              <a:buNone/>
            </a:pPr>
            <a:r>
              <a:t/>
            </a:r>
            <a:endParaRPr sz="1110"/>
          </a:p>
          <a:p>
            <a:pPr indent="0" lvl="0" marL="0" rtl="0" algn="l">
              <a:lnSpc>
                <a:spcPct val="90000"/>
              </a:lnSpc>
              <a:spcBef>
                <a:spcPts val="0"/>
              </a:spcBef>
              <a:spcAft>
                <a:spcPts val="0"/>
              </a:spcAft>
              <a:buNone/>
            </a:pPr>
            <a:r>
              <a:rPr b="1" i="0" lang="en-US" sz="1110">
                <a:solidFill>
                  <a:schemeClr val="dk1"/>
                </a:solidFill>
                <a:latin typeface="Calibri"/>
                <a:ea typeface="Calibri"/>
                <a:cs typeface="Calibri"/>
                <a:sym typeface="Calibri"/>
              </a:rPr>
              <a:t>There are 2 ways to use the command </a:t>
            </a:r>
            <a:endParaRPr/>
          </a:p>
          <a:p>
            <a:pPr indent="-228600" lvl="0" marL="228600" rtl="0" algn="l">
              <a:lnSpc>
                <a:spcPct val="90000"/>
              </a:lnSpc>
              <a:spcBef>
                <a:spcPts val="0"/>
              </a:spcBef>
              <a:spcAft>
                <a:spcPts val="0"/>
              </a:spcAft>
              <a:buClr>
                <a:schemeClr val="dk1"/>
              </a:buClr>
              <a:buSzPts val="1110"/>
              <a:buFont typeface="Calibri"/>
              <a:buAutoNum type="arabicPeriod"/>
            </a:pPr>
            <a:r>
              <a:rPr b="0" i="0" lang="en-US" sz="1110">
                <a:solidFill>
                  <a:schemeClr val="dk1"/>
                </a:solidFill>
                <a:latin typeface="Calibri"/>
                <a:ea typeface="Calibri"/>
                <a:cs typeface="Calibri"/>
                <a:sym typeface="Calibri"/>
              </a:rPr>
              <a:t>Absolute mode</a:t>
            </a:r>
            <a:endParaRPr/>
          </a:p>
          <a:p>
            <a:pPr indent="-228600" lvl="0" marL="228600" rtl="0" algn="l">
              <a:lnSpc>
                <a:spcPct val="90000"/>
              </a:lnSpc>
              <a:spcBef>
                <a:spcPts val="0"/>
              </a:spcBef>
              <a:spcAft>
                <a:spcPts val="0"/>
              </a:spcAft>
              <a:buClr>
                <a:schemeClr val="dk1"/>
              </a:buClr>
              <a:buSzPts val="1110"/>
              <a:buFont typeface="Calibri"/>
              <a:buAutoNum type="arabicPeriod"/>
            </a:pPr>
            <a:r>
              <a:rPr b="0" i="0" lang="en-US" sz="1110">
                <a:solidFill>
                  <a:schemeClr val="dk1"/>
                </a:solidFill>
                <a:latin typeface="Calibri"/>
                <a:ea typeface="Calibri"/>
                <a:cs typeface="Calibri"/>
                <a:sym typeface="Calibri"/>
              </a:rPr>
              <a:t>Symbolic mode</a:t>
            </a:r>
            <a:endParaRPr/>
          </a:p>
          <a:p>
            <a:pPr indent="0" lvl="0" marL="0" rtl="0" algn="l">
              <a:lnSpc>
                <a:spcPct val="90000"/>
              </a:lnSpc>
              <a:spcBef>
                <a:spcPts val="0"/>
              </a:spcBef>
              <a:spcAft>
                <a:spcPts val="0"/>
              </a:spcAft>
              <a:buNone/>
            </a:pPr>
            <a:r>
              <a:t/>
            </a:r>
            <a:endParaRPr b="1" sz="833"/>
          </a:p>
          <a:p>
            <a:pPr indent="0" lvl="1" marL="0" marR="0" rtl="0" algn="l">
              <a:lnSpc>
                <a:spcPct val="90000"/>
              </a:lnSpc>
              <a:spcBef>
                <a:spcPts val="0"/>
              </a:spcBef>
              <a:spcAft>
                <a:spcPts val="0"/>
              </a:spcAft>
              <a:buClr>
                <a:schemeClr val="dk1"/>
              </a:buClr>
              <a:buSzPts val="832"/>
              <a:buFont typeface="Calibri"/>
              <a:buNone/>
            </a:pPr>
            <a:r>
              <a:rPr b="0" i="0" lang="en-US" sz="833">
                <a:solidFill>
                  <a:schemeClr val="dk1"/>
                </a:solidFill>
                <a:latin typeface="Calibri"/>
                <a:ea typeface="Calibri"/>
                <a:cs typeface="Calibri"/>
                <a:sym typeface="Calibri"/>
              </a:rPr>
              <a:t>Absolute mode:</a:t>
            </a:r>
            <a:endParaRPr/>
          </a:p>
          <a:p>
            <a:pPr indent="0" lvl="1" marL="0" marR="0" rtl="0" algn="l">
              <a:lnSpc>
                <a:spcPct val="90000"/>
              </a:lnSpc>
              <a:spcBef>
                <a:spcPts val="0"/>
              </a:spcBef>
              <a:spcAft>
                <a:spcPts val="0"/>
              </a:spcAft>
              <a:buClr>
                <a:schemeClr val="dk1"/>
              </a:buClr>
              <a:buSzPts val="1110"/>
              <a:buFont typeface="Calibri"/>
              <a:buNone/>
            </a:pPr>
            <a:r>
              <a:rPr b="0" i="0" lang="en-US" sz="1110">
                <a:solidFill>
                  <a:schemeClr val="dk1"/>
                </a:solidFill>
                <a:latin typeface="Calibri"/>
                <a:ea typeface="Calibri"/>
                <a:cs typeface="Calibri"/>
                <a:sym typeface="Calibri"/>
              </a:rPr>
              <a:t>In this mode, file permissions are not represented as characters but a three-digit octal number.</a:t>
            </a:r>
            <a:endParaRPr/>
          </a:p>
          <a:p>
            <a:pPr indent="0" lvl="1" marL="457200" rtl="0" algn="l">
              <a:lnSpc>
                <a:spcPct val="80000"/>
              </a:lnSpc>
              <a:spcBef>
                <a:spcPts val="0"/>
              </a:spcBef>
              <a:spcAft>
                <a:spcPts val="0"/>
              </a:spcAft>
              <a:buNone/>
            </a:pPr>
            <a:r>
              <a:rPr lang="en-US" sz="833"/>
              <a:t>r – 4</a:t>
            </a:r>
            <a:endParaRPr/>
          </a:p>
          <a:p>
            <a:pPr indent="0" lvl="1" marL="457200" rtl="0" algn="l">
              <a:lnSpc>
                <a:spcPct val="80000"/>
              </a:lnSpc>
              <a:spcBef>
                <a:spcPts val="0"/>
              </a:spcBef>
              <a:spcAft>
                <a:spcPts val="0"/>
              </a:spcAft>
              <a:buNone/>
            </a:pPr>
            <a:r>
              <a:rPr lang="en-US" sz="833"/>
              <a:t>w – 2</a:t>
            </a:r>
            <a:endParaRPr/>
          </a:p>
          <a:p>
            <a:pPr indent="0" lvl="1" marL="457200" rtl="0" algn="l">
              <a:lnSpc>
                <a:spcPct val="80000"/>
              </a:lnSpc>
              <a:spcBef>
                <a:spcPts val="0"/>
              </a:spcBef>
              <a:spcAft>
                <a:spcPts val="0"/>
              </a:spcAft>
              <a:buNone/>
            </a:pPr>
            <a:r>
              <a:rPr lang="en-US" sz="833"/>
              <a:t>x – 1</a:t>
            </a:r>
            <a:endParaRPr/>
          </a:p>
          <a:p>
            <a:pPr indent="0" lvl="0" marL="0" rtl="0" algn="l">
              <a:lnSpc>
                <a:spcPct val="80000"/>
              </a:lnSpc>
              <a:spcBef>
                <a:spcPts val="0"/>
              </a:spcBef>
              <a:spcAft>
                <a:spcPts val="0"/>
              </a:spcAft>
              <a:buNone/>
            </a:pPr>
            <a:r>
              <a:rPr lang="en-US" sz="2035"/>
              <a:t>Simple example: you want to set permission on file abc.txt where owner of the file have rwx permissions and group has only read permission and other has none permission.</a:t>
            </a:r>
            <a:endParaRPr/>
          </a:p>
          <a:p>
            <a:pPr indent="0" lvl="1" marL="457200" rtl="0" algn="l">
              <a:lnSpc>
                <a:spcPct val="80000"/>
              </a:lnSpc>
              <a:spcBef>
                <a:spcPts val="0"/>
              </a:spcBef>
              <a:spcAft>
                <a:spcPts val="0"/>
              </a:spcAft>
              <a:buNone/>
            </a:pPr>
            <a:r>
              <a:rPr lang="en-US" sz="1850"/>
              <a:t>$ chmod 740 abc.txt</a:t>
            </a:r>
            <a:endParaRPr/>
          </a:p>
          <a:p>
            <a:pPr indent="0" lvl="1" marL="0" marR="0" rtl="0" algn="l">
              <a:lnSpc>
                <a:spcPct val="90000"/>
              </a:lnSpc>
              <a:spcBef>
                <a:spcPts val="0"/>
              </a:spcBef>
              <a:spcAft>
                <a:spcPts val="0"/>
              </a:spcAft>
              <a:buClr>
                <a:schemeClr val="dk1"/>
              </a:buClr>
              <a:buSzPts val="832"/>
              <a:buFont typeface="Calibri"/>
              <a:buNone/>
            </a:pPr>
            <a:r>
              <a:rPr b="0" i="0" lang="en-US" sz="833">
                <a:solidFill>
                  <a:schemeClr val="dk1"/>
                </a:solidFill>
                <a:latin typeface="Calibri"/>
                <a:ea typeface="Calibri"/>
                <a:cs typeface="Calibri"/>
                <a:sym typeface="Calibri"/>
              </a:rPr>
              <a:t>This is how you can change user permissions in Linux on file by assigning an absolute number.</a:t>
            </a:r>
            <a:endParaRPr sz="740"/>
          </a:p>
          <a:p>
            <a:pPr indent="0" lvl="1" marL="0" marR="0" rtl="0" algn="l">
              <a:lnSpc>
                <a:spcPct val="90000"/>
              </a:lnSpc>
              <a:spcBef>
                <a:spcPts val="0"/>
              </a:spcBef>
              <a:spcAft>
                <a:spcPts val="0"/>
              </a:spcAft>
              <a:buClr>
                <a:schemeClr val="dk1"/>
              </a:buClr>
              <a:buSzPts val="832"/>
              <a:buFont typeface="Calibri"/>
              <a:buNone/>
            </a:pPr>
            <a:r>
              <a:t/>
            </a:r>
            <a:endParaRPr b="0" i="0" sz="833">
              <a:solidFill>
                <a:schemeClr val="dk1"/>
              </a:solidFill>
              <a:latin typeface="Calibri"/>
              <a:ea typeface="Calibri"/>
              <a:cs typeface="Calibri"/>
              <a:sym typeface="Calibri"/>
            </a:endParaRPr>
          </a:p>
          <a:p>
            <a:pPr indent="0" lvl="1" marL="0" marR="0" rtl="0" algn="l">
              <a:lnSpc>
                <a:spcPct val="90000"/>
              </a:lnSpc>
              <a:spcBef>
                <a:spcPts val="0"/>
              </a:spcBef>
              <a:spcAft>
                <a:spcPts val="0"/>
              </a:spcAft>
              <a:buClr>
                <a:schemeClr val="dk1"/>
              </a:buClr>
              <a:buSzPts val="832"/>
              <a:buFont typeface="Calibri"/>
              <a:buNone/>
            </a:pPr>
            <a:r>
              <a:t/>
            </a:r>
            <a:endParaRPr b="1" sz="833">
              <a:solidFill>
                <a:schemeClr val="dk1"/>
              </a:solidFill>
              <a:latin typeface="Calibri"/>
              <a:ea typeface="Calibri"/>
              <a:cs typeface="Calibri"/>
              <a:sym typeface="Calibri"/>
            </a:endParaRPr>
          </a:p>
        </p:txBody>
      </p:sp>
      <p:sp>
        <p:nvSpPr>
          <p:cNvPr id="426" name="Google Shape;426;p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5" name="Google Shape;435;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1" marL="0" marR="0" rtl="0" algn="l">
              <a:lnSpc>
                <a:spcPct val="100000"/>
              </a:lnSpc>
              <a:spcBef>
                <a:spcPts val="0"/>
              </a:spcBef>
              <a:spcAft>
                <a:spcPts val="0"/>
              </a:spcAft>
              <a:buClr>
                <a:schemeClr val="dk1"/>
              </a:buClr>
              <a:buSzPts val="900"/>
              <a:buFont typeface="Calibri"/>
              <a:buNone/>
            </a:pPr>
            <a:r>
              <a:rPr b="1" lang="en-US" sz="900">
                <a:solidFill>
                  <a:schemeClr val="dk1"/>
                </a:solidFill>
                <a:latin typeface="Calibri"/>
                <a:ea typeface="Calibri"/>
                <a:cs typeface="Calibri"/>
                <a:sym typeface="Calibri"/>
              </a:rPr>
              <a:t>Concise audio</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In the Absolute mode, you change permissions for all 3 owners. In symbolic mode, you can modify the permissions of a specific owner. It makes use of mathematical symbols to modify Unix file permissions.</a:t>
            </a:r>
            <a:endParaRPr/>
          </a:p>
          <a:p>
            <a:pPr indent="0" lvl="0" marL="0" rtl="0" algn="l">
              <a:lnSpc>
                <a:spcPct val="90000"/>
              </a:lnSpc>
              <a:spcBef>
                <a:spcPts val="0"/>
              </a:spcBef>
              <a:spcAft>
                <a:spcPts val="0"/>
              </a:spcAft>
              <a:buNone/>
            </a:pPr>
            <a:r>
              <a:rPr lang="en-US" sz="2400"/>
              <a:t>Permissions can be set using letters in the following format:</a:t>
            </a:r>
            <a:endParaRPr/>
          </a:p>
          <a:p>
            <a:pPr indent="0" lvl="1" marL="457200" rtl="0" algn="l">
              <a:lnSpc>
                <a:spcPct val="90000"/>
              </a:lnSpc>
              <a:spcBef>
                <a:spcPts val="0"/>
              </a:spcBef>
              <a:spcAft>
                <a:spcPts val="0"/>
              </a:spcAft>
              <a:buNone/>
            </a:pPr>
            <a:r>
              <a:rPr lang="en-US" sz="2400"/>
              <a:t>[</a:t>
            </a:r>
            <a:r>
              <a:rPr b="1" lang="en-US" sz="2400"/>
              <a:t>ugoa</a:t>
            </a:r>
            <a:r>
              <a:rPr lang="en-US" sz="2400"/>
              <a:t>][</a:t>
            </a:r>
            <a:r>
              <a:rPr b="1" lang="en-US" sz="2400"/>
              <a:t>+=-</a:t>
            </a:r>
            <a:r>
              <a:rPr lang="en-US" sz="2400"/>
              <a:t>][</a:t>
            </a:r>
            <a:r>
              <a:rPr b="1" lang="en-US" sz="2400"/>
              <a:t>rwx</a:t>
            </a:r>
            <a:r>
              <a:rPr lang="en-US" sz="2400"/>
              <a:t>]</a:t>
            </a:r>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To specify permission settings using alphanumerical characters, you’ll need to define accessibility for the user/owner </a:t>
            </a:r>
            <a:r>
              <a:rPr b="1" lang="en-US" sz="1200">
                <a:solidFill>
                  <a:schemeClr val="dk1"/>
                </a:solidFill>
                <a:latin typeface="Calibri"/>
                <a:ea typeface="Calibri"/>
                <a:cs typeface="Calibri"/>
                <a:sym typeface="Calibri"/>
              </a:rPr>
              <a:t>(u)</a:t>
            </a:r>
            <a:r>
              <a:rPr lang="en-US" sz="1200">
                <a:solidFill>
                  <a:schemeClr val="dk1"/>
                </a:solidFill>
                <a:latin typeface="Calibri"/>
                <a:ea typeface="Calibri"/>
                <a:cs typeface="Calibri"/>
                <a:sym typeface="Calibri"/>
              </a:rPr>
              <a:t>, group </a:t>
            </a:r>
            <a:r>
              <a:rPr b="1" lang="en-US" sz="1200">
                <a:solidFill>
                  <a:schemeClr val="dk1"/>
                </a:solidFill>
                <a:latin typeface="Calibri"/>
                <a:ea typeface="Calibri"/>
                <a:cs typeface="Calibri"/>
                <a:sym typeface="Calibri"/>
              </a:rPr>
              <a:t>(g)</a:t>
            </a:r>
            <a:r>
              <a:rPr lang="en-US" sz="1200">
                <a:solidFill>
                  <a:schemeClr val="dk1"/>
                </a:solidFill>
                <a:latin typeface="Calibri"/>
                <a:ea typeface="Calibri"/>
                <a:cs typeface="Calibri"/>
                <a:sym typeface="Calibri"/>
              </a:rPr>
              <a:t>, and others</a:t>
            </a:r>
            <a:r>
              <a:rPr b="1" lang="en-US" sz="1200">
                <a:solidFill>
                  <a:schemeClr val="dk1"/>
                </a:solidFill>
                <a:latin typeface="Calibri"/>
                <a:ea typeface="Calibri"/>
                <a:cs typeface="Calibri"/>
                <a:sym typeface="Calibri"/>
              </a:rPr>
              <a:t> (o)</a:t>
            </a:r>
            <a:r>
              <a:rPr lang="en-US" sz="1200">
                <a:solidFill>
                  <a:schemeClr val="dk1"/>
                </a:solidFill>
                <a:latin typeface="Calibri"/>
                <a:ea typeface="Calibri"/>
                <a:cs typeface="Calibri"/>
                <a:sym typeface="Calibri"/>
              </a:rPr>
              <a:t>, all(</a:t>
            </a:r>
            <a:r>
              <a:rPr b="1" lang="en-US" sz="1200">
                <a:solidFill>
                  <a:schemeClr val="dk1"/>
                </a:solidFill>
                <a:latin typeface="Calibri"/>
                <a:ea typeface="Calibri"/>
                <a:cs typeface="Calibri"/>
                <a:sym typeface="Calibri"/>
              </a:rPr>
              <a:t>a</a:t>
            </a:r>
            <a:r>
              <a:rPr lang="en-US" sz="1200">
                <a:solidFill>
                  <a:schemeClr val="dk1"/>
                </a:solidFill>
                <a:latin typeface="Calibri"/>
                <a:ea typeface="Calibri"/>
                <a:cs typeface="Calibri"/>
                <a:sym typeface="Calibri"/>
              </a:rPr>
              <a:t>)</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1" lang="en-US" sz="1200">
                <a:solidFill>
                  <a:schemeClr val="dk1"/>
                </a:solidFill>
                <a:latin typeface="Calibri"/>
                <a:ea typeface="Calibri"/>
                <a:cs typeface="Calibri"/>
                <a:sym typeface="Calibri"/>
              </a:rPr>
              <a:t>+  </a:t>
            </a:r>
            <a:r>
              <a:rPr lang="en-US" sz="1200">
                <a:solidFill>
                  <a:schemeClr val="dk1"/>
                </a:solidFill>
                <a:latin typeface="Calibri"/>
                <a:ea typeface="Calibri"/>
                <a:cs typeface="Calibri"/>
                <a:sym typeface="Calibri"/>
              </a:rPr>
              <a:t>means</a:t>
            </a:r>
            <a:r>
              <a:rPr b="1" lang="en-US" sz="1200">
                <a:solidFill>
                  <a:schemeClr val="dk1"/>
                </a:solidFill>
                <a:latin typeface="Calibri"/>
                <a:ea typeface="Calibri"/>
                <a:cs typeface="Calibri"/>
                <a:sym typeface="Calibri"/>
              </a:rPr>
              <a:t> </a:t>
            </a:r>
            <a:r>
              <a:rPr lang="en-US" sz="1200">
                <a:solidFill>
                  <a:schemeClr val="dk1"/>
                </a:solidFill>
                <a:latin typeface="Calibri"/>
                <a:ea typeface="Calibri"/>
                <a:cs typeface="Calibri"/>
                <a:sym typeface="Calibri"/>
              </a:rPr>
              <a:t>Adding a permission to a file or directory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b="1" lang="en-US" sz="1200">
                <a:solidFill>
                  <a:schemeClr val="dk1"/>
                </a:solidFill>
                <a:latin typeface="Calibri"/>
                <a:ea typeface="Calibri"/>
                <a:cs typeface="Calibri"/>
                <a:sym typeface="Calibri"/>
              </a:rPr>
              <a:t>–   </a:t>
            </a:r>
            <a:r>
              <a:rPr lang="en-US" sz="1200">
                <a:solidFill>
                  <a:schemeClr val="dk1"/>
                </a:solidFill>
                <a:latin typeface="Calibri"/>
                <a:ea typeface="Calibri"/>
                <a:cs typeface="Calibri"/>
                <a:sym typeface="Calibri"/>
              </a:rPr>
              <a:t>means</a:t>
            </a:r>
            <a:r>
              <a:rPr b="1" lang="en-US" sz="1200">
                <a:solidFill>
                  <a:schemeClr val="dk1"/>
                </a:solidFill>
                <a:latin typeface="Calibri"/>
                <a:ea typeface="Calibri"/>
                <a:cs typeface="Calibri"/>
                <a:sym typeface="Calibri"/>
              </a:rPr>
              <a:t> </a:t>
            </a:r>
            <a:r>
              <a:rPr lang="en-US" sz="1200">
                <a:solidFill>
                  <a:schemeClr val="dk1"/>
                </a:solidFill>
                <a:latin typeface="Calibri"/>
                <a:ea typeface="Calibri"/>
                <a:cs typeface="Calibri"/>
                <a:sym typeface="Calibri"/>
              </a:rPr>
              <a:t>Removes the permission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b="1" lang="en-US" sz="1200">
                <a:solidFill>
                  <a:schemeClr val="dk1"/>
                </a:solidFill>
                <a:latin typeface="Calibri"/>
                <a:ea typeface="Calibri"/>
                <a:cs typeface="Calibri"/>
                <a:sym typeface="Calibri"/>
              </a:rPr>
              <a:t>=  </a:t>
            </a:r>
            <a:r>
              <a:rPr lang="en-US" sz="1200">
                <a:solidFill>
                  <a:schemeClr val="dk1"/>
                </a:solidFill>
                <a:latin typeface="Calibri"/>
                <a:ea typeface="Calibri"/>
                <a:cs typeface="Calibri"/>
                <a:sym typeface="Calibri"/>
              </a:rPr>
              <a:t>means sets the permission and overrides the permissions set earlier.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Type the initial letter for each class, followed by the equal, add, remove </a:t>
            </a:r>
            <a:r>
              <a:rPr b="1" lang="en-US" sz="1200">
                <a:solidFill>
                  <a:schemeClr val="dk1"/>
                </a:solidFill>
                <a:latin typeface="Calibri"/>
                <a:ea typeface="Calibri"/>
                <a:cs typeface="Calibri"/>
                <a:sym typeface="Calibri"/>
              </a:rPr>
              <a:t>(=+-),</a:t>
            </a:r>
            <a:r>
              <a:rPr lang="en-US" sz="1200">
                <a:solidFill>
                  <a:schemeClr val="dk1"/>
                </a:solidFill>
                <a:latin typeface="Calibri"/>
                <a:ea typeface="Calibri"/>
                <a:cs typeface="Calibri"/>
                <a:sym typeface="Calibri"/>
              </a:rPr>
              <a:t> and the first letter of the read </a:t>
            </a:r>
            <a:r>
              <a:rPr b="1" lang="en-US" sz="1200">
                <a:solidFill>
                  <a:schemeClr val="dk1"/>
                </a:solidFill>
                <a:latin typeface="Calibri"/>
                <a:ea typeface="Calibri"/>
                <a:cs typeface="Calibri"/>
                <a:sym typeface="Calibri"/>
              </a:rPr>
              <a:t>(r)</a:t>
            </a:r>
            <a:r>
              <a:rPr lang="en-US" sz="1200">
                <a:solidFill>
                  <a:schemeClr val="dk1"/>
                </a:solidFill>
                <a:latin typeface="Calibri"/>
                <a:ea typeface="Calibri"/>
                <a:cs typeface="Calibri"/>
                <a:sym typeface="Calibri"/>
              </a:rPr>
              <a:t>, write </a:t>
            </a:r>
            <a:r>
              <a:rPr b="1" lang="en-US" sz="1200">
                <a:solidFill>
                  <a:schemeClr val="dk1"/>
                </a:solidFill>
                <a:latin typeface="Calibri"/>
                <a:ea typeface="Calibri"/>
                <a:cs typeface="Calibri"/>
                <a:sym typeface="Calibri"/>
              </a:rPr>
              <a:t>(w)</a:t>
            </a:r>
            <a:r>
              <a:rPr lang="en-US" sz="1200">
                <a:solidFill>
                  <a:schemeClr val="dk1"/>
                </a:solidFill>
                <a:latin typeface="Calibri"/>
                <a:ea typeface="Calibri"/>
                <a:cs typeface="Calibri"/>
                <a:sym typeface="Calibri"/>
              </a:rPr>
              <a:t>, and/or execute </a:t>
            </a:r>
            <a:r>
              <a:rPr b="1" lang="en-US" sz="1200">
                <a:solidFill>
                  <a:schemeClr val="dk1"/>
                </a:solidFill>
                <a:latin typeface="Calibri"/>
                <a:ea typeface="Calibri"/>
                <a:cs typeface="Calibri"/>
                <a:sym typeface="Calibri"/>
              </a:rPr>
              <a:t>(x)</a:t>
            </a:r>
            <a:r>
              <a:rPr lang="en-US" sz="1200">
                <a:solidFill>
                  <a:schemeClr val="dk1"/>
                </a:solidFill>
                <a:latin typeface="Calibri"/>
                <a:ea typeface="Calibri"/>
                <a:cs typeface="Calibri"/>
                <a:sym typeface="Calibri"/>
              </a:rPr>
              <a:t> privileges.</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For example: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chmod  o=rwx  filename, in this example giving all read-write execute permission to the other user.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In this example, chmod g+x filename adds execute permission to the group user.</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436" name="Google Shape;436;p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3" name="Google Shape;443;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1" marL="0" marR="0" rtl="0" algn="l">
              <a:lnSpc>
                <a:spcPct val="90000"/>
              </a:lnSpc>
              <a:spcBef>
                <a:spcPts val="0"/>
              </a:spcBef>
              <a:spcAft>
                <a:spcPts val="0"/>
              </a:spcAft>
              <a:buClr>
                <a:schemeClr val="dk1"/>
              </a:buClr>
              <a:buSzPts val="900"/>
              <a:buFont typeface="Calibri"/>
              <a:buNone/>
            </a:pPr>
            <a:r>
              <a:rPr b="1" lang="en-US" sz="900">
                <a:solidFill>
                  <a:schemeClr val="dk1"/>
                </a:solidFill>
                <a:latin typeface="Calibri"/>
                <a:ea typeface="Calibri"/>
                <a:cs typeface="Calibri"/>
                <a:sym typeface="Calibri"/>
              </a:rPr>
              <a:t>Concise audio</a:t>
            </a:r>
            <a:endParaRPr/>
          </a:p>
          <a:p>
            <a:pPr indent="0" lvl="0" marL="0" rtl="0" algn="l">
              <a:lnSpc>
                <a:spcPct val="90000"/>
              </a:lnSpc>
              <a:spcBef>
                <a:spcPts val="0"/>
              </a:spcBef>
              <a:spcAft>
                <a:spcPts val="0"/>
              </a:spcAft>
              <a:buNone/>
            </a:pPr>
            <a:r>
              <a:rPr lang="en-US"/>
              <a:t>In Linux, the default permission for a file or directory is determined by the umask value of the user's shell. The umask is a 3-digit octal number that represents the permissions that are not allowed for new files and directories created by a user.</a:t>
            </a:r>
            <a:endParaRPr/>
          </a:p>
          <a:p>
            <a:pPr indent="0" lvl="0" marL="0" rtl="0" algn="l">
              <a:lnSpc>
                <a:spcPct val="90000"/>
              </a:lnSpc>
              <a:spcBef>
                <a:spcPts val="0"/>
              </a:spcBef>
              <a:spcAft>
                <a:spcPts val="0"/>
              </a:spcAft>
              <a:buNone/>
            </a:pPr>
            <a:r>
              <a:t/>
            </a:r>
            <a:endParaRPr/>
          </a:p>
          <a:p>
            <a:pPr indent="0" lvl="0" marL="0" rtl="0" algn="l">
              <a:lnSpc>
                <a:spcPct val="90000"/>
              </a:lnSpc>
              <a:spcBef>
                <a:spcPts val="0"/>
              </a:spcBef>
              <a:spcAft>
                <a:spcPts val="0"/>
              </a:spcAft>
              <a:buNone/>
            </a:pPr>
            <a:r>
              <a:rPr lang="en-US"/>
              <a:t>When a new file or directory is created, the permissions are calculated based on the default permission bits (read, write, and execute) of the file or directory and the umask value. The default permission bits for files are typically 666, which means the owner, group, and other users can read and write the file. The default permission bits for directories are typically 777, which means the owner, group, and other users can read, write, and execute the directory.</a:t>
            </a:r>
            <a:endParaRPr/>
          </a:p>
          <a:p>
            <a:pPr indent="0" lvl="0" marL="0" rtl="0" algn="l">
              <a:lnSpc>
                <a:spcPct val="90000"/>
              </a:lnSpc>
              <a:spcBef>
                <a:spcPts val="0"/>
              </a:spcBef>
              <a:spcAft>
                <a:spcPts val="0"/>
              </a:spcAft>
              <a:buNone/>
            </a:pPr>
            <a:r>
              <a:t/>
            </a:r>
            <a:endParaRPr/>
          </a:p>
          <a:p>
            <a:pPr indent="0" lvl="0" marL="0" rtl="0" algn="l">
              <a:lnSpc>
                <a:spcPct val="90000"/>
              </a:lnSpc>
              <a:spcBef>
                <a:spcPts val="0"/>
              </a:spcBef>
              <a:spcAft>
                <a:spcPts val="0"/>
              </a:spcAft>
              <a:buNone/>
            </a:pPr>
            <a:r>
              <a:rPr lang="en-US"/>
              <a:t>The umask value is then subtracted from the default permission bits to determine the actual permission bits for the new file or directory. For example, if the umask value is 022, the permission bits for a new file would be 644 (666 - 022), which means the owner can read and write the file, while the group and other users can only read the file. The permission bits for a new directory would be 755 (777 - 022), which means the owner can read, write, and execute the directory, while the group and other users can only read and execute the directory.</a:t>
            </a:r>
            <a:endParaRPr/>
          </a:p>
          <a:p>
            <a:pPr indent="0" lvl="0" marL="0" rtl="0" algn="l">
              <a:lnSpc>
                <a:spcPct val="90000"/>
              </a:lnSpc>
              <a:spcBef>
                <a:spcPts val="0"/>
              </a:spcBef>
              <a:spcAft>
                <a:spcPts val="0"/>
              </a:spcAft>
              <a:buNone/>
            </a:pPr>
            <a:r>
              <a:t/>
            </a:r>
            <a:endParaRPr/>
          </a:p>
          <a:p>
            <a:pPr indent="0" lvl="0" marL="0" rtl="0" algn="l">
              <a:lnSpc>
                <a:spcPct val="90000"/>
              </a:lnSpc>
              <a:spcBef>
                <a:spcPts val="0"/>
              </a:spcBef>
              <a:spcAft>
                <a:spcPts val="0"/>
              </a:spcAft>
              <a:buNone/>
            </a:pPr>
            <a:r>
              <a:rPr lang="en-US" sz="1200"/>
              <a:t>The umask command allows you to affect the default permissions on files and directories you create.</a:t>
            </a:r>
            <a:endParaRPr/>
          </a:p>
          <a:p>
            <a:pPr indent="0" lvl="0" marL="0" rtl="0" algn="l">
              <a:lnSpc>
                <a:spcPct val="90000"/>
              </a:lnSpc>
              <a:spcBef>
                <a:spcPts val="0"/>
              </a:spcBef>
              <a:spcAft>
                <a:spcPts val="0"/>
              </a:spcAft>
              <a:buNone/>
            </a:pPr>
            <a:r>
              <a:rPr lang="en-US"/>
              <a:t>The following table is used to calculate the value of umask for setting up default permissions for new files or directories.</a:t>
            </a:r>
            <a:endParaRPr/>
          </a:p>
          <a:p>
            <a:pPr indent="0" lvl="0" marL="0" rtl="0" algn="l">
              <a:lnSpc>
                <a:spcPct val="90000"/>
              </a:lnSpc>
              <a:spcBef>
                <a:spcPts val="0"/>
              </a:spcBef>
              <a:spcAft>
                <a:spcPts val="0"/>
              </a:spcAft>
              <a:buNone/>
            </a:pPr>
            <a:r>
              <a:rPr lang="en-US"/>
              <a:t>For example to set the default permission of directory as :</a:t>
            </a:r>
            <a:endParaRPr/>
          </a:p>
          <a:p>
            <a:pPr indent="0" lvl="0" marL="0" rtl="0" algn="l">
              <a:lnSpc>
                <a:spcPct val="90000"/>
              </a:lnSpc>
              <a:spcBef>
                <a:spcPts val="0"/>
              </a:spcBef>
              <a:spcAft>
                <a:spcPts val="0"/>
              </a:spcAft>
              <a:buNone/>
            </a:pPr>
            <a:r>
              <a:rPr lang="en-US"/>
              <a:t>Owner – rwx</a:t>
            </a:r>
            <a:endParaRPr/>
          </a:p>
          <a:p>
            <a:pPr indent="0" lvl="0" marL="0" rtl="0" algn="l">
              <a:lnSpc>
                <a:spcPct val="90000"/>
              </a:lnSpc>
              <a:spcBef>
                <a:spcPts val="0"/>
              </a:spcBef>
              <a:spcAft>
                <a:spcPts val="0"/>
              </a:spcAft>
              <a:buNone/>
            </a:pPr>
            <a:r>
              <a:rPr lang="en-US"/>
              <a:t>Group Owner – r</a:t>
            </a:r>
            <a:endParaRPr/>
          </a:p>
          <a:p>
            <a:pPr indent="0" lvl="0" marL="0" rtl="0" algn="l">
              <a:lnSpc>
                <a:spcPct val="90000"/>
              </a:lnSpc>
              <a:spcBef>
                <a:spcPts val="0"/>
              </a:spcBef>
              <a:spcAft>
                <a:spcPts val="0"/>
              </a:spcAft>
              <a:buNone/>
            </a:pPr>
            <a:r>
              <a:rPr lang="en-US"/>
              <a:t>Others – no permissions</a:t>
            </a:r>
            <a:endParaRPr/>
          </a:p>
          <a:p>
            <a:pPr indent="0" lvl="0" marL="0" rtl="0" algn="l">
              <a:lnSpc>
                <a:spcPct val="90000"/>
              </a:lnSpc>
              <a:spcBef>
                <a:spcPts val="0"/>
              </a:spcBef>
              <a:spcAft>
                <a:spcPts val="0"/>
              </a:spcAft>
              <a:buNone/>
            </a:pPr>
            <a:r>
              <a:rPr lang="en-US"/>
              <a:t>The following umask command will set the resulting default permission for directory </a:t>
            </a:r>
            <a:endParaRPr/>
          </a:p>
          <a:p>
            <a:pPr indent="0" lvl="0" marL="0" rtl="0" algn="l">
              <a:lnSpc>
                <a:spcPct val="90000"/>
              </a:lnSpc>
              <a:spcBef>
                <a:spcPts val="0"/>
              </a:spcBef>
              <a:spcAft>
                <a:spcPts val="0"/>
              </a:spcAft>
              <a:buNone/>
            </a:pPr>
            <a:r>
              <a:rPr lang="en-US"/>
              <a:t>#umask 047</a:t>
            </a:r>
            <a:endParaRPr/>
          </a:p>
        </p:txBody>
      </p:sp>
      <p:sp>
        <p:nvSpPr>
          <p:cNvPr id="444" name="Google Shape;444;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1" name="Google Shape;451;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Permissions are a crucial part of Linux. The chmod command is typically used to set and modify simple permissions. </a:t>
            </a:r>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However, i</a:t>
            </a:r>
            <a:r>
              <a:rPr lang="en-US"/>
              <a:t>n Linux, there are three special permissions that can be set on files and directories in addition to the standard read, write, and execute permissions. </a:t>
            </a:r>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These special permissions are known as SUID, SGID, and the "sticky bit." When applied to a particular executable, special permissions run with the permissions of the owner of the file or the group.</a:t>
            </a:r>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 In other words, it elevates the user’s privileges to those of the owner, typically root, temporarily when using that executable. However, incorrect usage of special permissions can become a serious threat. In fact, in the field of cyber security, it is used as a potential vulnerability to escalate privileges on a machine. So use it wisely and very, very carefully.</a:t>
            </a:r>
            <a:endParaRPr/>
          </a:p>
          <a:p>
            <a:pPr indent="0" lvl="0" marL="0" marR="0" rtl="0" algn="l">
              <a:lnSpc>
                <a:spcPct val="100000"/>
              </a:lnSpc>
              <a:spcBef>
                <a:spcPts val="0"/>
              </a:spcBef>
              <a:spcAft>
                <a:spcPts val="0"/>
              </a:spcAft>
              <a:buClr>
                <a:schemeClr val="dk1"/>
              </a:buClr>
              <a:buSzPts val="1200"/>
              <a:buFont typeface="Calibri"/>
              <a:buNone/>
            </a:pPr>
            <a:r>
              <a:rPr lang="en-US"/>
              <a:t>Lets discuss each special permission one by one</a:t>
            </a:r>
            <a:endParaRPr/>
          </a:p>
        </p:txBody>
      </p:sp>
      <p:sp>
        <p:nvSpPr>
          <p:cNvPr id="452" name="Google Shape;452;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9" name="Google Shape;459;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1" marL="0" marR="0" rtl="0" algn="l">
              <a:lnSpc>
                <a:spcPct val="90000"/>
              </a:lnSpc>
              <a:spcBef>
                <a:spcPts val="0"/>
              </a:spcBef>
              <a:spcAft>
                <a:spcPts val="0"/>
              </a:spcAft>
              <a:buClr>
                <a:schemeClr val="dk1"/>
              </a:buClr>
              <a:buSzPts val="900"/>
              <a:buFont typeface="Calibri"/>
              <a:buNone/>
            </a:pPr>
            <a:r>
              <a:rPr b="1" lang="en-US" sz="900">
                <a:solidFill>
                  <a:schemeClr val="dk1"/>
                </a:solidFill>
                <a:latin typeface="Calibri"/>
                <a:ea typeface="Calibri"/>
                <a:cs typeface="Calibri"/>
                <a:sym typeface="Calibri"/>
              </a:rPr>
              <a:t>Concise audio</a:t>
            </a:r>
            <a:endParaRPr/>
          </a:p>
          <a:p>
            <a:pPr indent="0" lvl="0" marL="0" rtl="0" algn="l">
              <a:lnSpc>
                <a:spcPct val="90000"/>
              </a:lnSpc>
              <a:spcBef>
                <a:spcPts val="0"/>
              </a:spcBef>
              <a:spcAft>
                <a:spcPts val="0"/>
              </a:spcAft>
              <a:buNone/>
            </a:pPr>
            <a:r>
              <a:t/>
            </a:r>
            <a:endParaRPr b="1" i="0" sz="12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rPr lang="en-US" sz="1200">
                <a:solidFill>
                  <a:schemeClr val="dk1"/>
                </a:solidFill>
                <a:latin typeface="Calibri"/>
                <a:ea typeface="Calibri"/>
                <a:cs typeface="Calibri"/>
                <a:sym typeface="Calibri"/>
              </a:rPr>
              <a:t>SUID, or Set Owner User ID, is a permission bit flag that applies to executables. SUID allows an alternate user to run an executable with the same permissions as the owner of the file instead of the permissions of the alternate user.</a:t>
            </a:r>
            <a:endParaRPr/>
          </a:p>
          <a:p>
            <a:pPr indent="0" lvl="0" marL="0" rtl="0" algn="l">
              <a:lnSpc>
                <a:spcPct val="90000"/>
              </a:lnSpc>
              <a:spcBef>
                <a:spcPts val="0"/>
              </a:spcBef>
              <a:spcAft>
                <a:spcPts val="0"/>
              </a:spcAft>
              <a:buNone/>
            </a:pPr>
            <a:r>
              <a:t/>
            </a:r>
            <a:endParaRPr sz="12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rPr lang="en-US" sz="1200">
                <a:solidFill>
                  <a:schemeClr val="dk1"/>
                </a:solidFill>
                <a:latin typeface="Calibri"/>
                <a:ea typeface="Calibri"/>
                <a:cs typeface="Calibri"/>
                <a:sym typeface="Calibri"/>
              </a:rPr>
              <a:t>For example, let’s take the passwd command. The passwd command is used to change a user’s password. Now, if we look at the file in detail, we’ll notice that instead of an x which stands for executing, there will be an "s". The "s" here stands for SUID. You will further note that the file belongs to root user. This technically means that only root user has permission to execute it; however, you will note that everyone can execute the command. As such, with the SUID permissions set.</a:t>
            </a:r>
            <a:endParaRPr/>
          </a:p>
          <a:p>
            <a:pPr indent="0" lvl="0" marL="0" rtl="0" algn="l">
              <a:lnSpc>
                <a:spcPct val="90000"/>
              </a:lnSpc>
              <a:spcBef>
                <a:spcPts val="0"/>
              </a:spcBef>
              <a:spcAft>
                <a:spcPts val="0"/>
              </a:spcAft>
              <a:buNone/>
            </a:pPr>
            <a:r>
              <a:rPr lang="en-US" sz="1200">
                <a:solidFill>
                  <a:schemeClr val="dk1"/>
                </a:solidFill>
                <a:latin typeface="Calibri"/>
                <a:ea typeface="Calibri"/>
                <a:cs typeface="Calibri"/>
                <a:sym typeface="Calibri"/>
              </a:rPr>
              <a:t>Now user who executes “passwd” command will be able to change his password because SUID permission is set, therefore when user execute this command, then the command gets executed with the privilege of the root.</a:t>
            </a:r>
            <a:endParaRPr/>
          </a:p>
          <a:p>
            <a:pPr indent="0" lvl="0" marL="0" rtl="0" algn="l">
              <a:lnSpc>
                <a:spcPct val="90000"/>
              </a:lnSpc>
              <a:spcBef>
                <a:spcPts val="0"/>
              </a:spcBef>
              <a:spcAft>
                <a:spcPts val="0"/>
              </a:spcAft>
              <a:buNone/>
            </a:pPr>
            <a:r>
              <a:t/>
            </a:r>
            <a:endParaRPr sz="12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rPr lang="en-US" sz="1200">
                <a:solidFill>
                  <a:schemeClr val="dk1"/>
                </a:solidFill>
                <a:latin typeface="Calibri"/>
                <a:ea typeface="Calibri"/>
                <a:cs typeface="Calibri"/>
                <a:sym typeface="Calibri"/>
              </a:rPr>
              <a:t>SUID is not something to be taken lightly, and as such, one must be very careful when assigning it. In fact, there are special attacks in cyber security that aim precisely at executables running on SUID.</a:t>
            </a:r>
            <a:endParaRPr/>
          </a:p>
          <a:p>
            <a:pPr indent="0" lvl="0" marL="0" rtl="0" algn="l">
              <a:lnSpc>
                <a:spcPct val="90000"/>
              </a:lnSpc>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rPr lang="en-US"/>
              <a:t>To set the SUID permission on a file, you can use the command:</a:t>
            </a:r>
            <a:endParaRPr sz="12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rPr lang="en-US" sz="1200">
                <a:solidFill>
                  <a:schemeClr val="dk1"/>
                </a:solidFill>
                <a:latin typeface="Calibri"/>
                <a:ea typeface="Calibri"/>
                <a:cs typeface="Calibri"/>
                <a:sym typeface="Calibri"/>
              </a:rPr>
              <a:t>    chmod u+s executable</a:t>
            </a:r>
            <a:endParaRPr/>
          </a:p>
          <a:p>
            <a:pPr indent="0" lvl="0" marL="0" rtl="0" algn="l">
              <a:lnSpc>
                <a:spcPct val="90000"/>
              </a:lnSpc>
              <a:spcBef>
                <a:spcPts val="0"/>
              </a:spcBef>
              <a:spcAft>
                <a:spcPts val="0"/>
              </a:spcAft>
              <a:buNone/>
            </a:pPr>
            <a:r>
              <a:rPr lang="en-US" sz="1200">
                <a:solidFill>
                  <a:schemeClr val="dk1"/>
                </a:solidFill>
                <a:latin typeface="Calibri"/>
                <a:ea typeface="Calibri"/>
                <a:cs typeface="Calibri"/>
                <a:sym typeface="Calibri"/>
              </a:rPr>
              <a:t>Now here, there are times when you might see a capital "S". The capital "S" means that the file isn’t executable yet.</a:t>
            </a:r>
            <a:endParaRPr/>
          </a:p>
          <a:p>
            <a:pPr indent="0" lvl="0" marL="0" rtl="0" algn="l">
              <a:lnSpc>
                <a:spcPct val="90000"/>
              </a:lnSpc>
              <a:spcBef>
                <a:spcPts val="0"/>
              </a:spcBef>
              <a:spcAft>
                <a:spcPts val="0"/>
              </a:spcAft>
              <a:buNone/>
            </a:pPr>
            <a:r>
              <a:rPr lang="en-US" sz="1200">
                <a:solidFill>
                  <a:schemeClr val="dk1"/>
                </a:solidFill>
                <a:latin typeface="Calibri"/>
                <a:ea typeface="Calibri"/>
                <a:cs typeface="Calibri"/>
                <a:sym typeface="Calibri"/>
              </a:rPr>
              <a:t>To revoke the SUID rights, type:</a:t>
            </a:r>
            <a:endParaRPr/>
          </a:p>
          <a:p>
            <a:pPr indent="0" lvl="0" marL="0" rtl="0" algn="l">
              <a:lnSpc>
                <a:spcPct val="90000"/>
              </a:lnSpc>
              <a:spcBef>
                <a:spcPts val="0"/>
              </a:spcBef>
              <a:spcAft>
                <a:spcPts val="0"/>
              </a:spcAft>
              <a:buNone/>
            </a:pPr>
            <a:r>
              <a:rPr lang="en-US" sz="1200">
                <a:solidFill>
                  <a:schemeClr val="dk1"/>
                </a:solidFill>
                <a:latin typeface="Calibri"/>
                <a:ea typeface="Calibri"/>
                <a:cs typeface="Calibri"/>
                <a:sym typeface="Calibri"/>
              </a:rPr>
              <a:t>chmod u-s script</a:t>
            </a:r>
            <a:endParaRPr sz="1200">
              <a:solidFill>
                <a:schemeClr val="dk1"/>
              </a:solidFill>
              <a:latin typeface="Calibri"/>
              <a:ea typeface="Calibri"/>
              <a:cs typeface="Calibri"/>
              <a:sym typeface="Calibri"/>
            </a:endParaRPr>
          </a:p>
        </p:txBody>
      </p:sp>
      <p:sp>
        <p:nvSpPr>
          <p:cNvPr id="460" name="Google Shape;460;p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0" name="Google Shape;470;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1" marL="0" marR="0" rtl="0" algn="l">
              <a:lnSpc>
                <a:spcPct val="100000"/>
              </a:lnSpc>
              <a:spcBef>
                <a:spcPts val="0"/>
              </a:spcBef>
              <a:spcAft>
                <a:spcPts val="0"/>
              </a:spcAft>
              <a:buClr>
                <a:schemeClr val="dk1"/>
              </a:buClr>
              <a:buSzPts val="900"/>
              <a:buFont typeface="Calibri"/>
              <a:buNone/>
            </a:pPr>
            <a:r>
              <a:rPr b="1" lang="en-US" sz="900">
                <a:solidFill>
                  <a:schemeClr val="dk1"/>
                </a:solidFill>
                <a:latin typeface="Calibri"/>
                <a:ea typeface="Calibri"/>
                <a:cs typeface="Calibri"/>
                <a:sym typeface="Calibri"/>
              </a:rPr>
              <a:t>Concise audio</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SGID is similar to SUID. In the SUID, the executable in question runs with the privileges of the owner of the file. In the SGID, if it’s an executable, then it runs with the permissions of the group. If it’s a directory, it results in all new files and directories created to belong to the group.</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To set the SGID using the numeric method: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chmod g+s executable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example: chmod g+s script</a:t>
            </a:r>
            <a:endParaRPr/>
          </a:p>
          <a:p>
            <a:pPr indent="0" lvl="0" marL="0" marR="0" rtl="0" algn="l">
              <a:lnSpc>
                <a:spcPct val="100000"/>
              </a:lnSpc>
              <a:spcBef>
                <a:spcPts val="0"/>
              </a:spcBef>
              <a:spcAft>
                <a:spcPts val="0"/>
              </a:spcAft>
              <a:buClr>
                <a:schemeClr val="dk1"/>
              </a:buClr>
              <a:buSzPts val="1200"/>
              <a:buFont typeface="Calibri"/>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t/>
            </a:r>
            <a:endParaRPr/>
          </a:p>
        </p:txBody>
      </p:sp>
      <p:sp>
        <p:nvSpPr>
          <p:cNvPr id="471" name="Google Shape;471;p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8" name="Google Shape;478;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1" marL="0" marR="0" rtl="0" algn="l">
              <a:lnSpc>
                <a:spcPct val="100000"/>
              </a:lnSpc>
              <a:spcBef>
                <a:spcPts val="0"/>
              </a:spcBef>
              <a:spcAft>
                <a:spcPts val="0"/>
              </a:spcAft>
              <a:buClr>
                <a:schemeClr val="dk1"/>
              </a:buClr>
              <a:buSzPts val="900"/>
              <a:buFont typeface="Calibri"/>
              <a:buNone/>
            </a:pPr>
            <a:r>
              <a:rPr b="1" lang="en-US" sz="900">
                <a:solidFill>
                  <a:schemeClr val="dk1"/>
                </a:solidFill>
                <a:latin typeface="Calibri"/>
                <a:ea typeface="Calibri"/>
                <a:cs typeface="Calibri"/>
                <a:sym typeface="Calibri"/>
              </a:rPr>
              <a:t>Concise audio</a:t>
            </a:r>
            <a:endParaRPr/>
          </a:p>
          <a:p>
            <a:pPr indent="0" lvl="0" marL="0" rtl="0" algn="l">
              <a:spcBef>
                <a:spcPts val="0"/>
              </a:spcBef>
              <a:spcAft>
                <a:spcPts val="0"/>
              </a:spcAft>
              <a:buNone/>
            </a:pPr>
            <a:r>
              <a:t/>
            </a:r>
            <a:endParaRPr b="1" i="0" sz="1200">
              <a:solidFill>
                <a:schemeClr val="dk1"/>
              </a:solidFill>
              <a:latin typeface="Calibri"/>
              <a:ea typeface="Calibri"/>
              <a:cs typeface="Calibri"/>
              <a:sym typeface="Calibri"/>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Sticky Bits</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Sticky bits apply to directories. When sticky bits are set on a particular directory, any user who has access to the directory and its contents can only delete their own files and cannot delete files belonging to someone else. Sticky bits are typically used when using a shared folder. </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No one person can delete another’s file within the shared folder even if the permission is 777</a:t>
            </a:r>
            <a:endParaRPr/>
          </a:p>
          <a:p>
            <a:pPr indent="0" lvl="0" marL="0" rtl="0" algn="l">
              <a:spcBef>
                <a:spcPts val="0"/>
              </a:spcBef>
              <a:spcAft>
                <a:spcPts val="0"/>
              </a:spcAft>
              <a:buNone/>
            </a:pPr>
            <a:r>
              <a:rPr lang="en-US"/>
              <a:t>This is useful for shared directories, such as /tmp, where users need to be able to create and edit their own files, but should not be able to modify files owned by other users.</a:t>
            </a:r>
            <a:endParaRPr b="0" i="0"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b="0" i="0" lang="en-US" sz="1200">
                <a:solidFill>
                  <a:schemeClr val="dk1"/>
                </a:solidFill>
                <a:latin typeface="Calibri"/>
                <a:ea typeface="Calibri"/>
                <a:cs typeface="Calibri"/>
                <a:sym typeface="Calibri"/>
              </a:rPr>
              <a:t>Following command can be used to set sticky bit on any dirrectory</a:t>
            </a:r>
            <a:endParaRPr b="0" i="0"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b="0" i="0" lang="en-US" sz="1200">
                <a:solidFill>
                  <a:schemeClr val="dk1"/>
                </a:solidFill>
                <a:latin typeface="Calibri"/>
                <a:ea typeface="Calibri"/>
                <a:cs typeface="Calibri"/>
                <a:sym typeface="Calibri"/>
              </a:rPr>
              <a:t>example: chmod o+t /tmp/newuser</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t/>
            </a:r>
            <a:endParaRPr/>
          </a:p>
        </p:txBody>
      </p:sp>
      <p:sp>
        <p:nvSpPr>
          <p:cNvPr id="479" name="Google Shape;479;p3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8" name="Google Shape;488;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171450" lvl="1" marL="171450" marR="0" rtl="0" algn="l">
              <a:lnSpc>
                <a:spcPct val="80000"/>
              </a:lnSpc>
              <a:spcBef>
                <a:spcPts val="0"/>
              </a:spcBef>
              <a:spcAft>
                <a:spcPts val="0"/>
              </a:spcAft>
              <a:buClr>
                <a:schemeClr val="dk1"/>
              </a:buClr>
              <a:buSzPts val="630"/>
              <a:buFont typeface="Arial"/>
              <a:buChar char="•"/>
            </a:pPr>
            <a:r>
              <a:rPr b="1" lang="en-US" sz="630">
                <a:solidFill>
                  <a:schemeClr val="dk1"/>
                </a:solidFill>
                <a:latin typeface="Calibri"/>
                <a:ea typeface="Calibri"/>
                <a:cs typeface="Calibri"/>
                <a:sym typeface="Calibri"/>
              </a:rPr>
              <a:t>Concise audio</a:t>
            </a:r>
            <a:endParaRPr sz="840"/>
          </a:p>
          <a:p>
            <a:pPr indent="0" lvl="0" marL="0" rtl="0" algn="l">
              <a:lnSpc>
                <a:spcPct val="80000"/>
              </a:lnSpc>
              <a:spcBef>
                <a:spcPts val="0"/>
              </a:spcBef>
              <a:spcAft>
                <a:spcPts val="0"/>
              </a:spcAft>
              <a:buNone/>
            </a:pPr>
            <a:r>
              <a:t/>
            </a:r>
            <a:endParaRPr sz="840"/>
          </a:p>
          <a:p>
            <a:pPr indent="0" lvl="0" marL="0" rtl="0" algn="l">
              <a:lnSpc>
                <a:spcPct val="80000"/>
              </a:lnSpc>
              <a:spcBef>
                <a:spcPts val="0"/>
              </a:spcBef>
              <a:spcAft>
                <a:spcPts val="0"/>
              </a:spcAft>
              <a:buNone/>
            </a:pPr>
            <a:r>
              <a:rPr lang="en-US" sz="840"/>
              <a:t>In this session, </a:t>
            </a:r>
            <a:r>
              <a:rPr lang="en-US" sz="840">
                <a:latin typeface="Gill Sans"/>
                <a:ea typeface="Gill Sans"/>
                <a:cs typeface="Gill Sans"/>
                <a:sym typeface="Gill Sans"/>
              </a:rPr>
              <a:t>you have learned that: </a:t>
            </a:r>
            <a:endParaRPr/>
          </a:p>
          <a:p>
            <a:pPr indent="0" lvl="0" marL="0" rtl="0" algn="l">
              <a:lnSpc>
                <a:spcPct val="80000"/>
              </a:lnSpc>
              <a:spcBef>
                <a:spcPts val="0"/>
              </a:spcBef>
              <a:spcAft>
                <a:spcPts val="0"/>
              </a:spcAft>
              <a:buNone/>
            </a:pPr>
            <a:r>
              <a:t/>
            </a:r>
            <a:endParaRPr sz="840">
              <a:latin typeface="Gill Sans"/>
              <a:ea typeface="Gill Sans"/>
              <a:cs typeface="Gill Sans"/>
              <a:sym typeface="Gill Sans"/>
            </a:endParaRPr>
          </a:p>
          <a:p>
            <a:pPr indent="-118110" lvl="0" marL="171450" rtl="0" algn="l">
              <a:lnSpc>
                <a:spcPct val="80000"/>
              </a:lnSpc>
              <a:spcBef>
                <a:spcPts val="0"/>
              </a:spcBef>
              <a:spcAft>
                <a:spcPts val="0"/>
              </a:spcAft>
              <a:buClr>
                <a:schemeClr val="dk1"/>
              </a:buClr>
              <a:buSzPts val="840"/>
              <a:buFont typeface="Arial"/>
              <a:buNone/>
            </a:pPr>
            <a:r>
              <a:t/>
            </a:r>
            <a:endParaRPr sz="840">
              <a:latin typeface="Gill Sans"/>
              <a:ea typeface="Gill Sans"/>
              <a:cs typeface="Gill Sans"/>
              <a:sym typeface="Gill Sans"/>
            </a:endParaRPr>
          </a:p>
          <a:p>
            <a:pPr indent="0" lvl="0" marL="0" marR="0" rtl="0" algn="l">
              <a:lnSpc>
                <a:spcPct val="80000"/>
              </a:lnSpc>
              <a:spcBef>
                <a:spcPts val="0"/>
              </a:spcBef>
              <a:spcAft>
                <a:spcPts val="0"/>
              </a:spcAft>
              <a:buClr>
                <a:schemeClr val="dk1"/>
              </a:buClr>
              <a:buSzPts val="839"/>
              <a:buFont typeface="Arial"/>
              <a:buNone/>
            </a:pPr>
            <a:r>
              <a:rPr b="1" lang="en-US" sz="840">
                <a:latin typeface="Gill Sans"/>
                <a:ea typeface="Gill Sans"/>
                <a:cs typeface="Gill Sans"/>
                <a:sym typeface="Gill Sans"/>
              </a:rPr>
              <a:t>Manage file permission to different  users</a:t>
            </a:r>
            <a:endParaRPr/>
          </a:p>
          <a:p>
            <a:pPr indent="-285750" lvl="0" marL="285750" rtl="0" algn="l">
              <a:lnSpc>
                <a:spcPct val="80000"/>
              </a:lnSpc>
              <a:spcBef>
                <a:spcPts val="0"/>
              </a:spcBef>
              <a:spcAft>
                <a:spcPts val="0"/>
              </a:spcAft>
              <a:buClr>
                <a:schemeClr val="dk1"/>
              </a:buClr>
              <a:buSzPts val="839"/>
              <a:buFont typeface="Arial"/>
              <a:buChar char="•"/>
            </a:pPr>
            <a:r>
              <a:rPr b="0" lang="en-US" sz="840">
                <a:latin typeface="Gill Sans"/>
                <a:ea typeface="Gill Sans"/>
                <a:cs typeface="Gill Sans"/>
                <a:sym typeface="Gill Sans"/>
              </a:rPr>
              <a:t>The owner of a file can change the permissions for user (u), group (g), or others (o) by adding (+) or subtracting (-) the read, write, and execute permissions.</a:t>
            </a:r>
            <a:endParaRPr/>
          </a:p>
          <a:p>
            <a:pPr indent="-232410" lvl="0" marL="285750" rtl="0" algn="l">
              <a:lnSpc>
                <a:spcPct val="80000"/>
              </a:lnSpc>
              <a:spcBef>
                <a:spcPts val="0"/>
              </a:spcBef>
              <a:spcAft>
                <a:spcPts val="0"/>
              </a:spcAft>
              <a:buClr>
                <a:schemeClr val="dk1"/>
              </a:buClr>
              <a:buSzPts val="840"/>
              <a:buFont typeface="Arial"/>
              <a:buNone/>
            </a:pPr>
            <a:r>
              <a:t/>
            </a:r>
            <a:endParaRPr b="0" sz="840">
              <a:latin typeface="Gill Sans"/>
              <a:ea typeface="Gill Sans"/>
              <a:cs typeface="Gill Sans"/>
              <a:sym typeface="Gill Sans"/>
            </a:endParaRPr>
          </a:p>
          <a:p>
            <a:pPr indent="-285750" lvl="0" marL="285750" rtl="0" algn="l">
              <a:lnSpc>
                <a:spcPct val="80000"/>
              </a:lnSpc>
              <a:spcBef>
                <a:spcPts val="0"/>
              </a:spcBef>
              <a:spcAft>
                <a:spcPts val="0"/>
              </a:spcAft>
              <a:buClr>
                <a:schemeClr val="dk1"/>
              </a:buClr>
              <a:buSzPts val="839"/>
              <a:buFont typeface="Arial"/>
              <a:buChar char="•"/>
            </a:pPr>
            <a:r>
              <a:rPr b="0" lang="en-US" sz="840">
                <a:latin typeface="Gill Sans"/>
                <a:ea typeface="Gill Sans"/>
                <a:cs typeface="Gill Sans"/>
                <a:sym typeface="Gill Sans"/>
              </a:rPr>
              <a:t>The permissions can be changed using chmod command</a:t>
            </a:r>
            <a:endParaRPr/>
          </a:p>
          <a:p>
            <a:pPr indent="-285750" lvl="0" marL="285750" rtl="0" algn="l">
              <a:lnSpc>
                <a:spcPct val="80000"/>
              </a:lnSpc>
              <a:spcBef>
                <a:spcPts val="0"/>
              </a:spcBef>
              <a:spcAft>
                <a:spcPts val="0"/>
              </a:spcAft>
              <a:buClr>
                <a:schemeClr val="dk1"/>
              </a:buClr>
              <a:buSzPts val="840"/>
              <a:buFont typeface="Arial"/>
              <a:buNone/>
            </a:pPr>
            <a:r>
              <a:t/>
            </a:r>
            <a:endParaRPr b="0" sz="840">
              <a:latin typeface="Gill Sans"/>
              <a:ea typeface="Gill Sans"/>
              <a:cs typeface="Gill Sans"/>
              <a:sym typeface="Gill Sans"/>
            </a:endParaRPr>
          </a:p>
          <a:p>
            <a:pPr indent="-285750" lvl="0" marL="285750" rtl="0" algn="l">
              <a:lnSpc>
                <a:spcPct val="80000"/>
              </a:lnSpc>
              <a:spcBef>
                <a:spcPts val="0"/>
              </a:spcBef>
              <a:spcAft>
                <a:spcPts val="0"/>
              </a:spcAft>
              <a:buClr>
                <a:schemeClr val="dk1"/>
              </a:buClr>
              <a:buSzPts val="840"/>
              <a:buFont typeface="Arial"/>
              <a:buNone/>
            </a:pPr>
            <a:r>
              <a:t/>
            </a:r>
            <a:endParaRPr b="0" sz="840">
              <a:latin typeface="Gill Sans"/>
              <a:ea typeface="Gill Sans"/>
              <a:cs typeface="Gill Sans"/>
              <a:sym typeface="Gill Sans"/>
            </a:endParaRPr>
          </a:p>
          <a:p>
            <a:pPr indent="0" lvl="0" marL="0" marR="0" rtl="0" algn="l">
              <a:lnSpc>
                <a:spcPct val="80000"/>
              </a:lnSpc>
              <a:spcBef>
                <a:spcPts val="0"/>
              </a:spcBef>
              <a:spcAft>
                <a:spcPts val="0"/>
              </a:spcAft>
              <a:buClr>
                <a:schemeClr val="dk1"/>
              </a:buClr>
              <a:buSzPts val="839"/>
              <a:buFont typeface="Arial"/>
              <a:buNone/>
            </a:pPr>
            <a:r>
              <a:rPr b="1" lang="en-US" sz="840">
                <a:latin typeface="Gill Sans"/>
                <a:ea typeface="Gill Sans"/>
                <a:cs typeface="Gill Sans"/>
                <a:sym typeface="Gill Sans"/>
              </a:rPr>
              <a:t>Understand Structure of Linux file system</a:t>
            </a:r>
            <a:endParaRPr/>
          </a:p>
          <a:p>
            <a:pPr indent="0" lvl="0" marL="0" rtl="0" algn="l">
              <a:lnSpc>
                <a:spcPct val="80000"/>
              </a:lnSpc>
              <a:spcBef>
                <a:spcPts val="0"/>
              </a:spcBef>
              <a:spcAft>
                <a:spcPts val="0"/>
              </a:spcAft>
              <a:buNone/>
            </a:pPr>
            <a:r>
              <a:t/>
            </a:r>
            <a:endParaRPr sz="840">
              <a:solidFill>
                <a:schemeClr val="dk1"/>
              </a:solidFill>
              <a:latin typeface="Calibri"/>
              <a:ea typeface="Calibri"/>
              <a:cs typeface="Calibri"/>
              <a:sym typeface="Calibri"/>
            </a:endParaRPr>
          </a:p>
          <a:p>
            <a:pPr indent="0" lvl="1" marL="457200" rtl="0" algn="l">
              <a:lnSpc>
                <a:spcPct val="80000"/>
              </a:lnSpc>
              <a:spcBef>
                <a:spcPts val="0"/>
              </a:spcBef>
              <a:spcAft>
                <a:spcPts val="0"/>
              </a:spcAft>
              <a:buNone/>
            </a:pPr>
            <a:r>
              <a:rPr lang="en-US" sz="840">
                <a:solidFill>
                  <a:schemeClr val="dk1"/>
                </a:solidFill>
                <a:latin typeface="Calibri"/>
                <a:ea typeface="Calibri"/>
                <a:cs typeface="Calibri"/>
                <a:sym typeface="Calibri"/>
              </a:rPr>
              <a:t>A file system is a way that an operating system stores, retrieves, and organizes files on a disk. Linux files are stored in a single-rooted, hierarchical file system.</a:t>
            </a:r>
            <a:endParaRPr/>
          </a:p>
          <a:p>
            <a:pPr indent="0" lvl="1" marL="457200" rtl="0" algn="l">
              <a:lnSpc>
                <a:spcPct val="80000"/>
              </a:lnSpc>
              <a:spcBef>
                <a:spcPts val="0"/>
              </a:spcBef>
              <a:spcAft>
                <a:spcPts val="0"/>
              </a:spcAft>
              <a:buNone/>
            </a:pPr>
            <a:r>
              <a:rPr lang="en-US" sz="840">
                <a:solidFill>
                  <a:schemeClr val="dk1"/>
                </a:solidFill>
                <a:latin typeface="Calibri"/>
                <a:ea typeface="Calibri"/>
                <a:cs typeface="Calibri"/>
                <a:sym typeface="Calibri"/>
              </a:rPr>
              <a:t>There are three broad categories of files in Linux.</a:t>
            </a:r>
            <a:endParaRPr/>
          </a:p>
          <a:p>
            <a:pPr indent="0" lvl="1" marL="457200" rtl="0" algn="l">
              <a:lnSpc>
                <a:spcPct val="80000"/>
              </a:lnSpc>
              <a:spcBef>
                <a:spcPts val="0"/>
              </a:spcBef>
              <a:spcAft>
                <a:spcPts val="0"/>
              </a:spcAft>
              <a:buNone/>
            </a:pPr>
            <a:r>
              <a:rPr lang="en-US" sz="840">
                <a:solidFill>
                  <a:schemeClr val="dk1"/>
                </a:solidFill>
                <a:latin typeface="Calibri"/>
                <a:ea typeface="Calibri"/>
                <a:cs typeface="Calibri"/>
                <a:sym typeface="Calibri"/>
              </a:rPr>
              <a:t>General Files: These are ordinary files made up of binary or ASCII data. These are regular files such as documents, images, audio and video files, etc.</a:t>
            </a:r>
            <a:endParaRPr/>
          </a:p>
          <a:p>
            <a:pPr indent="0" lvl="1" marL="457200" rtl="0" algn="l">
              <a:lnSpc>
                <a:spcPct val="80000"/>
              </a:lnSpc>
              <a:spcBef>
                <a:spcPts val="0"/>
              </a:spcBef>
              <a:spcAft>
                <a:spcPts val="0"/>
              </a:spcAft>
              <a:buNone/>
            </a:pPr>
            <a:r>
              <a:rPr lang="en-US" sz="840">
                <a:solidFill>
                  <a:schemeClr val="dk1"/>
                </a:solidFill>
                <a:latin typeface="Calibri"/>
                <a:ea typeface="Calibri"/>
                <a:cs typeface="Calibri"/>
                <a:sym typeface="Calibri"/>
              </a:rPr>
              <a:t>Directory Files: In Linux, directories are also categorized as files since they also serve as storage space for other files and folders.</a:t>
            </a:r>
            <a:endParaRPr/>
          </a:p>
          <a:p>
            <a:pPr indent="0" lvl="1" marL="457200" rtl="0" algn="l">
              <a:lnSpc>
                <a:spcPct val="80000"/>
              </a:lnSpc>
              <a:spcBef>
                <a:spcPts val="0"/>
              </a:spcBef>
              <a:spcAft>
                <a:spcPts val="0"/>
              </a:spcAft>
              <a:buNone/>
            </a:pPr>
            <a:r>
              <a:rPr lang="en-US" sz="840">
                <a:solidFill>
                  <a:schemeClr val="dk1"/>
                </a:solidFill>
                <a:latin typeface="Calibri"/>
                <a:ea typeface="Calibri"/>
                <a:cs typeface="Calibri"/>
                <a:sym typeface="Calibri"/>
              </a:rPr>
              <a:t>Device Files: These are special files that provide an interface to device drivers, which enable the usability of hardware devices on the system such as mice, keyboards, USB devices, hard drives, etc. These are found in the /dev directory.</a:t>
            </a:r>
            <a:endParaRPr/>
          </a:p>
          <a:p>
            <a:pPr indent="0" lvl="0" marL="0" rtl="0" algn="l">
              <a:lnSpc>
                <a:spcPct val="80000"/>
              </a:lnSpc>
              <a:spcBef>
                <a:spcPts val="0"/>
              </a:spcBef>
              <a:spcAft>
                <a:spcPts val="0"/>
              </a:spcAft>
              <a:buNone/>
            </a:pPr>
            <a:r>
              <a:t/>
            </a:r>
            <a:endParaRPr b="0" i="0" sz="84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t/>
            </a:r>
            <a:endParaRPr b="0" i="0" sz="840">
              <a:solidFill>
                <a:schemeClr val="dk1"/>
              </a:solidFill>
              <a:latin typeface="Calibri"/>
              <a:ea typeface="Calibri"/>
              <a:cs typeface="Calibri"/>
              <a:sym typeface="Calibri"/>
            </a:endParaRPr>
          </a:p>
          <a:p>
            <a:pPr indent="0" lvl="0" marL="0" marR="0" rtl="0" algn="l">
              <a:lnSpc>
                <a:spcPct val="80000"/>
              </a:lnSpc>
              <a:spcBef>
                <a:spcPts val="0"/>
              </a:spcBef>
              <a:spcAft>
                <a:spcPts val="0"/>
              </a:spcAft>
              <a:buClr>
                <a:schemeClr val="dk1"/>
              </a:buClr>
              <a:buSzPts val="839"/>
              <a:buFont typeface="Gill Sans"/>
              <a:buNone/>
            </a:pPr>
            <a:r>
              <a:rPr b="1" lang="en-US" sz="840">
                <a:latin typeface="Gill Sans"/>
                <a:ea typeface="Gill Sans"/>
                <a:cs typeface="Gill Sans"/>
                <a:sym typeface="Gill Sans"/>
              </a:rPr>
              <a:t>Know how to change the permission of any file</a:t>
            </a:r>
            <a:endParaRPr/>
          </a:p>
          <a:p>
            <a:pPr indent="-342900" lvl="0" marL="342900" rtl="0" algn="l">
              <a:lnSpc>
                <a:spcPct val="80000"/>
              </a:lnSpc>
              <a:spcBef>
                <a:spcPts val="0"/>
              </a:spcBef>
              <a:spcAft>
                <a:spcPts val="0"/>
              </a:spcAft>
              <a:buClr>
                <a:schemeClr val="dk1"/>
              </a:buClr>
              <a:buSzPts val="839"/>
              <a:buFont typeface="Arial"/>
              <a:buChar char="•"/>
            </a:pPr>
            <a:r>
              <a:rPr b="0" lang="en-US" sz="840"/>
              <a:t>As all Linux users, you will at some point need to modify the permission settings of a file or directory. The command that executes such tasks is the chmod command. A file’s permissions may be changed only by its owner or by the superuser.</a:t>
            </a:r>
            <a:endParaRPr/>
          </a:p>
          <a:p>
            <a:pPr indent="-342900" lvl="0" marL="342900" rtl="0" algn="l">
              <a:lnSpc>
                <a:spcPct val="80000"/>
              </a:lnSpc>
              <a:spcBef>
                <a:spcPts val="0"/>
              </a:spcBef>
              <a:spcAft>
                <a:spcPts val="0"/>
              </a:spcAft>
              <a:buClr>
                <a:schemeClr val="dk1"/>
              </a:buClr>
              <a:buSzPts val="839"/>
              <a:buFont typeface="Arial"/>
              <a:buChar char="•"/>
            </a:pPr>
            <a:r>
              <a:rPr b="0" lang="en-US" sz="840"/>
              <a:t>The chmod command, which stands for "change mode," Using the command, we can set permissions (read, write, and execute) on a file or directory for the owner, group, and world.</a:t>
            </a:r>
            <a:endParaRPr/>
          </a:p>
          <a:p>
            <a:pPr indent="0" lvl="0" marL="0" marR="0" rtl="0" algn="l">
              <a:lnSpc>
                <a:spcPct val="80000"/>
              </a:lnSpc>
              <a:spcBef>
                <a:spcPts val="0"/>
              </a:spcBef>
              <a:spcAft>
                <a:spcPts val="0"/>
              </a:spcAft>
              <a:buClr>
                <a:schemeClr val="dk1"/>
              </a:buClr>
              <a:buSzPts val="839"/>
              <a:buFont typeface="Gill Sans"/>
              <a:buNone/>
            </a:pPr>
            <a:r>
              <a:rPr b="1" lang="en-US" sz="840">
                <a:latin typeface="Gill Sans"/>
                <a:ea typeface="Gill Sans"/>
                <a:cs typeface="Gill Sans"/>
                <a:sym typeface="Gill Sans"/>
              </a:rPr>
              <a:t>Do some special permission</a:t>
            </a:r>
            <a:endParaRPr/>
          </a:p>
          <a:p>
            <a:pPr indent="0" lvl="0" marL="0" rtl="0" algn="l">
              <a:lnSpc>
                <a:spcPct val="80000"/>
              </a:lnSpc>
              <a:spcBef>
                <a:spcPts val="0"/>
              </a:spcBef>
              <a:spcAft>
                <a:spcPts val="0"/>
              </a:spcAft>
              <a:buNone/>
            </a:pPr>
            <a:r>
              <a:t/>
            </a:r>
            <a:endParaRPr sz="840">
              <a:solidFill>
                <a:schemeClr val="dk1"/>
              </a:solidFill>
              <a:latin typeface="Calibri"/>
              <a:ea typeface="Calibri"/>
              <a:cs typeface="Calibri"/>
              <a:sym typeface="Calibri"/>
            </a:endParaRPr>
          </a:p>
          <a:p>
            <a:pPr indent="0" lvl="1" marL="457200" rtl="0" algn="l">
              <a:lnSpc>
                <a:spcPct val="80000"/>
              </a:lnSpc>
              <a:spcBef>
                <a:spcPts val="0"/>
              </a:spcBef>
              <a:spcAft>
                <a:spcPts val="0"/>
              </a:spcAft>
              <a:buNone/>
            </a:pPr>
            <a:r>
              <a:rPr lang="en-US" sz="840">
                <a:solidFill>
                  <a:schemeClr val="dk1"/>
                </a:solidFill>
                <a:latin typeface="Calibri"/>
                <a:ea typeface="Calibri"/>
                <a:cs typeface="Calibri"/>
                <a:sym typeface="Calibri"/>
              </a:rPr>
              <a:t>Special permissions make up a fourth access level in addition to user, group, and others. Special permissions allow for additional privileges over the standard permission sets (as the name suggests). There is a special permission option for each access level discussed previously. </a:t>
            </a:r>
            <a:r>
              <a:rPr b="1" lang="en-US" sz="840">
                <a:solidFill>
                  <a:schemeClr val="dk1"/>
                </a:solidFill>
                <a:latin typeface="Calibri"/>
                <a:ea typeface="Calibri"/>
                <a:cs typeface="Calibri"/>
                <a:sym typeface="Calibri"/>
              </a:rPr>
              <a:t> </a:t>
            </a:r>
            <a:endParaRPr sz="840">
              <a:solidFill>
                <a:schemeClr val="dk1"/>
              </a:solidFill>
              <a:latin typeface="Calibri"/>
              <a:ea typeface="Calibri"/>
              <a:cs typeface="Calibri"/>
              <a:sym typeface="Calibri"/>
            </a:endParaRPr>
          </a:p>
          <a:p>
            <a:pPr indent="0" lvl="1" marL="457200" rtl="0" algn="l">
              <a:lnSpc>
                <a:spcPct val="80000"/>
              </a:lnSpc>
              <a:spcBef>
                <a:spcPts val="0"/>
              </a:spcBef>
              <a:spcAft>
                <a:spcPts val="0"/>
              </a:spcAft>
              <a:buNone/>
            </a:pPr>
            <a:r>
              <a:rPr lang="en-US" sz="840">
                <a:solidFill>
                  <a:schemeClr val="dk1"/>
                </a:solidFill>
                <a:latin typeface="Calibri"/>
                <a:ea typeface="Calibri"/>
                <a:cs typeface="Calibri"/>
                <a:sym typeface="Calibri"/>
              </a:rPr>
              <a:t> </a:t>
            </a:r>
            <a:endParaRPr/>
          </a:p>
          <a:p>
            <a:pPr indent="0" lvl="0" marL="0" rtl="0" algn="l">
              <a:lnSpc>
                <a:spcPct val="80000"/>
              </a:lnSpc>
              <a:spcBef>
                <a:spcPts val="0"/>
              </a:spcBef>
              <a:spcAft>
                <a:spcPts val="0"/>
              </a:spcAft>
              <a:buNone/>
            </a:pPr>
            <a:r>
              <a:t/>
            </a:r>
            <a:endParaRPr b="0" i="0" sz="840">
              <a:solidFill>
                <a:schemeClr val="dk1"/>
              </a:solidFill>
              <a:latin typeface="Calibri"/>
              <a:ea typeface="Calibri"/>
              <a:cs typeface="Calibri"/>
              <a:sym typeface="Calibri"/>
            </a:endParaRPr>
          </a:p>
          <a:p>
            <a:pPr indent="0" lvl="0" marL="0" marR="0" rtl="0" algn="l">
              <a:lnSpc>
                <a:spcPct val="80000"/>
              </a:lnSpc>
              <a:spcBef>
                <a:spcPts val="0"/>
              </a:spcBef>
              <a:spcAft>
                <a:spcPts val="0"/>
              </a:spcAft>
              <a:buClr>
                <a:schemeClr val="dk1"/>
              </a:buClr>
              <a:buSzPts val="840"/>
              <a:buFont typeface="Arial"/>
              <a:buNone/>
            </a:pPr>
            <a:r>
              <a:t/>
            </a:r>
            <a:endParaRPr b="1" sz="840">
              <a:latin typeface="Gill Sans"/>
              <a:ea typeface="Gill Sans"/>
              <a:cs typeface="Gill Sans"/>
              <a:sym typeface="Gill Sans"/>
            </a:endParaRPr>
          </a:p>
          <a:p>
            <a:pPr indent="0" lvl="0" marL="0" marR="0" rtl="0" algn="l">
              <a:lnSpc>
                <a:spcPct val="80000"/>
              </a:lnSpc>
              <a:spcBef>
                <a:spcPts val="0"/>
              </a:spcBef>
              <a:spcAft>
                <a:spcPts val="0"/>
              </a:spcAft>
              <a:buClr>
                <a:schemeClr val="dk1"/>
              </a:buClr>
              <a:buSzPts val="840"/>
              <a:buFont typeface="Arial"/>
              <a:buNone/>
            </a:pPr>
            <a:r>
              <a:t/>
            </a:r>
            <a:endParaRPr sz="840">
              <a:latin typeface="Gill Sans"/>
              <a:ea typeface="Gill Sans"/>
              <a:cs typeface="Gill Sans"/>
              <a:sym typeface="Gill Sans"/>
            </a:endParaRPr>
          </a:p>
          <a:p>
            <a:pPr indent="0" lvl="0" marL="0" rtl="0" algn="l">
              <a:lnSpc>
                <a:spcPct val="80000"/>
              </a:lnSpc>
              <a:spcBef>
                <a:spcPts val="0"/>
              </a:spcBef>
              <a:spcAft>
                <a:spcPts val="0"/>
              </a:spcAft>
              <a:buClr>
                <a:schemeClr val="dk1"/>
              </a:buClr>
              <a:buSzPts val="840"/>
              <a:buFont typeface="Arial"/>
              <a:buNone/>
            </a:pPr>
            <a:r>
              <a:t/>
            </a:r>
            <a:endParaRPr sz="840">
              <a:latin typeface="Gill Sans"/>
              <a:ea typeface="Gill Sans"/>
              <a:cs typeface="Gill Sans"/>
              <a:sym typeface="Gill Sans"/>
            </a:endParaRPr>
          </a:p>
          <a:p>
            <a:pPr indent="0" lvl="0" marL="0" rtl="0" algn="l">
              <a:lnSpc>
                <a:spcPct val="80000"/>
              </a:lnSpc>
              <a:spcBef>
                <a:spcPts val="0"/>
              </a:spcBef>
              <a:spcAft>
                <a:spcPts val="0"/>
              </a:spcAft>
              <a:buNone/>
            </a:pPr>
            <a:r>
              <a:rPr lang="en-US" sz="840"/>
              <a:t>In the next chapter, let us learn more about</a:t>
            </a:r>
            <a:endParaRPr sz="840"/>
          </a:p>
        </p:txBody>
      </p:sp>
      <p:sp>
        <p:nvSpPr>
          <p:cNvPr id="489" name="Google Shape;489;p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8" name="Google Shape;498;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4" name="Google Shape;504;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lang="en-US" sz="1200"/>
              <a:t>Audio: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It is time for a quick knowledge check.</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Read the question carefully and answer.</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Select the correct option and then click or tap Submit.</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b="1" sz="1200">
              <a:solidFill>
                <a:schemeClr val="dk1"/>
              </a:solidFill>
              <a:latin typeface="Calibri"/>
              <a:ea typeface="Calibri"/>
              <a:cs typeface="Calibri"/>
              <a:sym typeface="Calibri"/>
            </a:endParaRPr>
          </a:p>
          <a:p>
            <a:pPr indent="0" lvl="0" marL="0" rtl="0" algn="l">
              <a:spcBef>
                <a:spcPts val="0"/>
              </a:spcBef>
              <a:spcAft>
                <a:spcPts val="0"/>
              </a:spcAft>
              <a:buNone/>
            </a:pPr>
            <a:r>
              <a:t/>
            </a:r>
            <a:endParaRPr b="1" sz="1200">
              <a:solidFill>
                <a:schemeClr val="dk1"/>
              </a:solidFill>
              <a:latin typeface="Calibri"/>
              <a:ea typeface="Calibri"/>
              <a:cs typeface="Calibri"/>
              <a:sym typeface="Calibri"/>
            </a:endParaRPr>
          </a:p>
          <a:p>
            <a:pPr indent="0" lvl="0" marL="0" rtl="0" algn="l">
              <a:spcBef>
                <a:spcPts val="0"/>
              </a:spcBef>
              <a:spcAft>
                <a:spcPts val="0"/>
              </a:spcAft>
              <a:buNone/>
            </a:pPr>
            <a:r>
              <a:rPr b="0" lang="en-US" sz="1200">
                <a:solidFill>
                  <a:schemeClr val="dk1"/>
                </a:solidFill>
                <a:latin typeface="Calibri"/>
                <a:ea typeface="Calibri"/>
                <a:cs typeface="Calibri"/>
                <a:sym typeface="Calibri"/>
              </a:rPr>
              <a:t>Key for Q1: C</a:t>
            </a:r>
            <a:endParaRPr b="0"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b="0" lang="en-US"/>
              <a:t>Complexity Q1: (Easy/Medium/Hard): Easy</a:t>
            </a:r>
            <a:endParaRPr b="0"/>
          </a:p>
          <a:p>
            <a:pPr indent="0" lvl="0" marL="0" rtl="0" algn="l">
              <a:spcBef>
                <a:spcPts val="0"/>
              </a:spcBef>
              <a:spcAft>
                <a:spcPts val="0"/>
              </a:spcAft>
              <a:buNone/>
            </a:pPr>
            <a:r>
              <a:t/>
            </a:r>
            <a:endParaRPr b="0"/>
          </a:p>
          <a:p>
            <a:pPr indent="0" lvl="0" marL="0" rtl="0" algn="l">
              <a:spcBef>
                <a:spcPts val="0"/>
              </a:spcBef>
              <a:spcAft>
                <a:spcPts val="0"/>
              </a:spcAft>
              <a:buNone/>
            </a:pPr>
            <a:r>
              <a:rPr b="0" lang="en-US" sz="1200">
                <a:solidFill>
                  <a:schemeClr val="dk1"/>
                </a:solidFill>
                <a:latin typeface="Calibri"/>
                <a:ea typeface="Calibri"/>
                <a:cs typeface="Calibri"/>
                <a:sym typeface="Calibri"/>
              </a:rPr>
              <a:t>Key for Q2: C</a:t>
            </a:r>
            <a:endParaRPr b="0"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b="0" lang="en-US"/>
              <a:t>Complexity Q1: (Easy/Medium/Hard): Medium</a:t>
            </a:r>
            <a:endParaRPr b="0"/>
          </a:p>
        </p:txBody>
      </p:sp>
      <p:sp>
        <p:nvSpPr>
          <p:cNvPr id="505" name="Google Shape;505;p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1" name="Google Shape;511;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lang="en-US" sz="1200"/>
              <a:t>Audio: </a:t>
            </a:r>
            <a:endParaRPr/>
          </a:p>
          <a:p>
            <a:pPr indent="0" lvl="0" marL="0" rtl="0" algn="l">
              <a:spcBef>
                <a:spcPts val="0"/>
              </a:spcBef>
              <a:spcAft>
                <a:spcPts val="0"/>
              </a:spcAft>
              <a:buNone/>
            </a:pPr>
            <a:r>
              <a:t/>
            </a:r>
            <a:endParaRPr b="0" sz="1200">
              <a:solidFill>
                <a:schemeClr val="dk1"/>
              </a:solidFill>
              <a:latin typeface="Calibri"/>
              <a:ea typeface="Calibri"/>
              <a:cs typeface="Calibri"/>
              <a:sym typeface="Calibri"/>
            </a:endParaRPr>
          </a:p>
          <a:p>
            <a:pPr indent="0" lvl="0" marL="0" rtl="0" algn="l">
              <a:spcBef>
                <a:spcPts val="0"/>
              </a:spcBef>
              <a:spcAft>
                <a:spcPts val="0"/>
              </a:spcAft>
              <a:buNone/>
            </a:pPr>
            <a:r>
              <a:rPr b="0" lang="en-US" sz="1200">
                <a:solidFill>
                  <a:schemeClr val="dk1"/>
                </a:solidFill>
                <a:latin typeface="Calibri"/>
                <a:ea typeface="Calibri"/>
                <a:cs typeface="Calibri"/>
                <a:sym typeface="Calibri"/>
              </a:rPr>
              <a:t>Key for Q3: A</a:t>
            </a:r>
            <a:endParaRPr b="0"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b="0" lang="en-US"/>
              <a:t>Complexity Q1: (Easy/Medium/Hard): Medium</a:t>
            </a:r>
            <a:endParaRPr b="0"/>
          </a:p>
          <a:p>
            <a:pPr indent="0" lvl="0" marL="0" rtl="0" algn="l">
              <a:spcBef>
                <a:spcPts val="0"/>
              </a:spcBef>
              <a:spcAft>
                <a:spcPts val="0"/>
              </a:spcAft>
              <a:buNone/>
            </a:pPr>
            <a:r>
              <a:t/>
            </a:r>
            <a:endParaRPr b="0"/>
          </a:p>
          <a:p>
            <a:pPr indent="0" lvl="0" marL="0" rtl="0" algn="l">
              <a:spcBef>
                <a:spcPts val="0"/>
              </a:spcBef>
              <a:spcAft>
                <a:spcPts val="0"/>
              </a:spcAft>
              <a:buNone/>
            </a:pPr>
            <a:r>
              <a:rPr b="0" lang="en-US" sz="1200">
                <a:solidFill>
                  <a:schemeClr val="dk1"/>
                </a:solidFill>
                <a:latin typeface="Calibri"/>
                <a:ea typeface="Calibri"/>
                <a:cs typeface="Calibri"/>
                <a:sym typeface="Calibri"/>
              </a:rPr>
              <a:t>Key for Q4: C</a:t>
            </a:r>
            <a:endParaRPr b="0"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b="0" lang="en-US"/>
              <a:t>Complexity Q1: (Easy/Medium/Hard):EASY</a:t>
            </a:r>
            <a:endParaRPr b="0"/>
          </a:p>
          <a:p>
            <a:pPr indent="0" lvl="0" marL="0" marR="0" rtl="0" algn="l">
              <a:lnSpc>
                <a:spcPct val="100000"/>
              </a:lnSpc>
              <a:spcBef>
                <a:spcPts val="0"/>
              </a:spcBef>
              <a:spcAft>
                <a:spcPts val="0"/>
              </a:spcAft>
              <a:buClr>
                <a:schemeClr val="dk1"/>
              </a:buClr>
              <a:buSzPts val="1200"/>
              <a:buFont typeface="Calibri"/>
              <a:buNone/>
            </a:pPr>
            <a:r>
              <a:t/>
            </a:r>
            <a:endParaRPr/>
          </a:p>
        </p:txBody>
      </p:sp>
      <p:sp>
        <p:nvSpPr>
          <p:cNvPr id="512" name="Google Shape;512;p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8" name="Google Shape;518;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lang="en-US" sz="1200"/>
              <a:t>Audio: </a:t>
            </a:r>
            <a:endParaRPr/>
          </a:p>
          <a:p>
            <a:pPr indent="0" lvl="0" marL="0" rtl="0" algn="l">
              <a:spcBef>
                <a:spcPts val="0"/>
              </a:spcBef>
              <a:spcAft>
                <a:spcPts val="0"/>
              </a:spcAft>
              <a:buNone/>
            </a:pPr>
            <a:r>
              <a:t/>
            </a:r>
            <a:endParaRPr b="1" sz="1200">
              <a:solidFill>
                <a:schemeClr val="dk1"/>
              </a:solidFill>
              <a:latin typeface="Calibri"/>
              <a:ea typeface="Calibri"/>
              <a:cs typeface="Calibri"/>
              <a:sym typeface="Calibri"/>
            </a:endParaRPr>
          </a:p>
          <a:p>
            <a:pPr indent="0" lvl="0" marL="0" rtl="0" algn="l">
              <a:spcBef>
                <a:spcPts val="0"/>
              </a:spcBef>
              <a:spcAft>
                <a:spcPts val="0"/>
              </a:spcAft>
              <a:buNone/>
            </a:pPr>
            <a:r>
              <a:rPr b="0" lang="en-US" sz="1200">
                <a:solidFill>
                  <a:schemeClr val="dk1"/>
                </a:solidFill>
                <a:latin typeface="Calibri"/>
                <a:ea typeface="Calibri"/>
                <a:cs typeface="Calibri"/>
                <a:sym typeface="Calibri"/>
              </a:rPr>
              <a:t>Key for Q5: D</a:t>
            </a:r>
            <a:endParaRPr b="0"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b="0" lang="en-US"/>
              <a:t>Complexity Q5: (Easy/Medium/Hard):EASY</a:t>
            </a:r>
            <a:endParaRPr b="0"/>
          </a:p>
          <a:p>
            <a:pPr indent="0" lvl="0" marL="0" rtl="0" algn="l">
              <a:spcBef>
                <a:spcPts val="0"/>
              </a:spcBef>
              <a:spcAft>
                <a:spcPts val="0"/>
              </a:spcAft>
              <a:buNone/>
            </a:pPr>
            <a:r>
              <a:t/>
            </a:r>
            <a:endParaRPr b="0"/>
          </a:p>
          <a:p>
            <a:pPr indent="0" lvl="0" marL="0" rtl="0" algn="l">
              <a:spcBef>
                <a:spcPts val="0"/>
              </a:spcBef>
              <a:spcAft>
                <a:spcPts val="0"/>
              </a:spcAft>
              <a:buNone/>
            </a:pPr>
            <a:r>
              <a:rPr b="0" lang="en-US" sz="1200">
                <a:solidFill>
                  <a:schemeClr val="dk1"/>
                </a:solidFill>
                <a:latin typeface="Calibri"/>
                <a:ea typeface="Calibri"/>
                <a:cs typeface="Calibri"/>
                <a:sym typeface="Calibri"/>
              </a:rPr>
              <a:t>Key for Q6: B</a:t>
            </a:r>
            <a:endParaRPr b="0"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b="0" lang="en-US"/>
              <a:t>Complexity Q6: (Easy/Medium/Hard):EASY</a:t>
            </a:r>
            <a:endParaRPr b="0"/>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Key- Q5: True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Key-Q6: A</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519" name="Google Shape;519;p3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27" name="Shape 27"/>
        <p:cNvGrpSpPr/>
        <p:nvPr/>
      </p:nvGrpSpPr>
      <p:grpSpPr>
        <a:xfrm>
          <a:off x="0" y="0"/>
          <a:ext cx="0" cy="0"/>
          <a:chOff x="0" y="0"/>
          <a:chExt cx="0" cy="0"/>
        </a:xfrm>
      </p:grpSpPr>
      <p:sp>
        <p:nvSpPr>
          <p:cNvPr id="28" name="Google Shape;28;p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32" name="Shape 32"/>
        <p:cNvGrpSpPr/>
        <p:nvPr/>
      </p:nvGrpSpPr>
      <p:grpSpPr>
        <a:xfrm>
          <a:off x="0" y="0"/>
          <a:ext cx="0" cy="0"/>
          <a:chOff x="0" y="0"/>
          <a:chExt cx="0" cy="0"/>
        </a:xfrm>
      </p:grpSpPr>
      <p:sp>
        <p:nvSpPr>
          <p:cNvPr id="33" name="Google Shape;33;p45"/>
          <p:cNvSpPr txBox="1"/>
          <p:nvPr>
            <p:ph type="title"/>
          </p:nvPr>
        </p:nvSpPr>
        <p:spPr>
          <a:xfrm>
            <a:off x="533400" y="381000"/>
            <a:ext cx="80772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45"/>
          <p:cNvSpPr txBox="1"/>
          <p:nvPr>
            <p:ph idx="1" type="body"/>
          </p:nvPr>
        </p:nvSpPr>
        <p:spPr>
          <a:xfrm>
            <a:off x="533400" y="1981200"/>
            <a:ext cx="3962400" cy="42672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5" name="Google Shape;35;p45"/>
          <p:cNvSpPr txBox="1"/>
          <p:nvPr>
            <p:ph idx="2" type="body"/>
          </p:nvPr>
        </p:nvSpPr>
        <p:spPr>
          <a:xfrm>
            <a:off x="4648200" y="1981200"/>
            <a:ext cx="3962400" cy="42672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6" name="Google Shape;36;p45"/>
          <p:cNvSpPr txBox="1"/>
          <p:nvPr>
            <p:ph idx="11" type="ftr"/>
          </p:nvPr>
        </p:nvSpPr>
        <p:spPr>
          <a:xfrm>
            <a:off x="1524000" y="6172200"/>
            <a:ext cx="3962400" cy="4572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rgbClr val="888888"/>
                </a:solidFill>
                <a:latin typeface="Calibri"/>
                <a:ea typeface="Calibri"/>
                <a:cs typeface="Calibri"/>
                <a:sym typeface="Calibri"/>
              </a:defRPr>
            </a:lvl1pPr>
            <a:lvl2pPr indent="0" lvl="1" marL="0" marR="0" algn="r">
              <a:spcBef>
                <a:spcPts val="0"/>
              </a:spcBef>
              <a:buNone/>
              <a:defRPr b="0" i="0" sz="1200" u="none" cap="none" strike="noStrike">
                <a:solidFill>
                  <a:srgbClr val="888888"/>
                </a:solidFill>
                <a:latin typeface="Calibri"/>
                <a:ea typeface="Calibri"/>
                <a:cs typeface="Calibri"/>
                <a:sym typeface="Calibri"/>
              </a:defRPr>
            </a:lvl2pPr>
            <a:lvl3pPr indent="0" lvl="2" marL="0" marR="0" algn="r">
              <a:spcBef>
                <a:spcPts val="0"/>
              </a:spcBef>
              <a:buNone/>
              <a:defRPr b="0" i="0" sz="1200" u="none" cap="none" strike="noStrike">
                <a:solidFill>
                  <a:srgbClr val="888888"/>
                </a:solidFill>
                <a:latin typeface="Calibri"/>
                <a:ea typeface="Calibri"/>
                <a:cs typeface="Calibri"/>
                <a:sym typeface="Calibri"/>
              </a:defRPr>
            </a:lvl3pPr>
            <a:lvl4pPr indent="0" lvl="3" marL="0" marR="0" algn="r">
              <a:spcBef>
                <a:spcPts val="0"/>
              </a:spcBef>
              <a:buNone/>
              <a:defRPr b="0" i="0" sz="1200" u="none" cap="none" strike="noStrike">
                <a:solidFill>
                  <a:srgbClr val="888888"/>
                </a:solidFill>
                <a:latin typeface="Calibri"/>
                <a:ea typeface="Calibri"/>
                <a:cs typeface="Calibri"/>
                <a:sym typeface="Calibri"/>
              </a:defRPr>
            </a:lvl4pPr>
            <a:lvl5pPr indent="0" lvl="4" marL="0" marR="0" algn="r">
              <a:spcBef>
                <a:spcPts val="0"/>
              </a:spcBef>
              <a:buNone/>
              <a:defRPr b="0" i="0" sz="1200" u="none" cap="none" strike="noStrike">
                <a:solidFill>
                  <a:srgbClr val="888888"/>
                </a:solidFill>
                <a:latin typeface="Calibri"/>
                <a:ea typeface="Calibri"/>
                <a:cs typeface="Calibri"/>
                <a:sym typeface="Calibri"/>
              </a:defRPr>
            </a:lvl5pPr>
            <a:lvl6pPr indent="0" lvl="5" marL="0" marR="0" algn="r">
              <a:spcBef>
                <a:spcPts val="0"/>
              </a:spcBef>
              <a:buNone/>
              <a:defRPr b="0" i="0" sz="1200" u="none" cap="none" strike="noStrike">
                <a:solidFill>
                  <a:srgbClr val="888888"/>
                </a:solidFill>
                <a:latin typeface="Calibri"/>
                <a:ea typeface="Calibri"/>
                <a:cs typeface="Calibri"/>
                <a:sym typeface="Calibri"/>
              </a:defRPr>
            </a:lvl6pPr>
            <a:lvl7pPr indent="0" lvl="6" marL="0" marR="0" algn="r">
              <a:spcBef>
                <a:spcPts val="0"/>
              </a:spcBef>
              <a:buNone/>
              <a:defRPr b="0" i="0" sz="1200" u="none" cap="none" strike="noStrike">
                <a:solidFill>
                  <a:srgbClr val="888888"/>
                </a:solidFill>
                <a:latin typeface="Calibri"/>
                <a:ea typeface="Calibri"/>
                <a:cs typeface="Calibri"/>
                <a:sym typeface="Calibri"/>
              </a:defRPr>
            </a:lvl7pPr>
            <a:lvl8pPr indent="0" lvl="7" marL="0" marR="0" algn="r">
              <a:spcBef>
                <a:spcPts val="0"/>
              </a:spcBef>
              <a:buNone/>
              <a:defRPr b="0" i="0" sz="1200" u="none" cap="none" strike="noStrike">
                <a:solidFill>
                  <a:srgbClr val="888888"/>
                </a:solidFill>
                <a:latin typeface="Calibri"/>
                <a:ea typeface="Calibri"/>
                <a:cs typeface="Calibri"/>
                <a:sym typeface="Calibri"/>
              </a:defRPr>
            </a:lvl8pPr>
            <a:lvl9pPr indent="0" lvl="8" marL="0" marR="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8" name="Shape 38"/>
        <p:cNvGrpSpPr/>
        <p:nvPr/>
      </p:nvGrpSpPr>
      <p:grpSpPr>
        <a:xfrm>
          <a:off x="0" y="0"/>
          <a:ext cx="0" cy="0"/>
          <a:chOff x="0" y="0"/>
          <a:chExt cx="0" cy="0"/>
        </a:xfrm>
      </p:grpSpPr>
      <p:sp>
        <p:nvSpPr>
          <p:cNvPr id="39" name="Google Shape;39;p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4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1" name="Google Shape;41;p4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2" name="Google Shape;42;p4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4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7" name="Shape 47"/>
        <p:cNvGrpSpPr/>
        <p:nvPr/>
      </p:nvGrpSpPr>
      <p:grpSpPr>
        <a:xfrm>
          <a:off x="0" y="0"/>
          <a:ext cx="0" cy="0"/>
          <a:chOff x="0" y="0"/>
          <a:chExt cx="0" cy="0"/>
        </a:xfrm>
      </p:grpSpPr>
      <p:sp>
        <p:nvSpPr>
          <p:cNvPr id="48" name="Google Shape;48;p4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4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50" name="Google Shape;50;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3" name="Shape 53"/>
        <p:cNvGrpSpPr/>
        <p:nvPr/>
      </p:nvGrpSpPr>
      <p:grpSpPr>
        <a:xfrm>
          <a:off x="0" y="0"/>
          <a:ext cx="0" cy="0"/>
          <a:chOff x="0" y="0"/>
          <a:chExt cx="0" cy="0"/>
        </a:xfrm>
      </p:grpSpPr>
      <p:sp>
        <p:nvSpPr>
          <p:cNvPr id="54" name="Google Shape;54;p4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4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56" name="Google Shape;56;p4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57" name="Google Shape;57;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 name="Shape 60"/>
        <p:cNvGrpSpPr/>
        <p:nvPr/>
      </p:nvGrpSpPr>
      <p:grpSpPr>
        <a:xfrm>
          <a:off x="0" y="0"/>
          <a:ext cx="0" cy="0"/>
          <a:chOff x="0" y="0"/>
          <a:chExt cx="0" cy="0"/>
        </a:xfrm>
      </p:grpSpPr>
      <p:sp>
        <p:nvSpPr>
          <p:cNvPr id="61" name="Google Shape;61;p4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152400" lvl="0" marL="228600" marR="0" algn="r">
              <a:spcBef>
                <a:spcPts val="0"/>
              </a:spcBef>
              <a:buClr>
                <a:srgbClr val="888888"/>
              </a:buClr>
              <a:buSzPts val="1200"/>
              <a:buFont typeface="Calibri"/>
              <a:buNone/>
              <a:defRPr sz="1200">
                <a:solidFill>
                  <a:srgbClr val="888888"/>
                </a:solidFill>
                <a:latin typeface="Calibri"/>
                <a:ea typeface="Calibri"/>
                <a:cs typeface="Calibri"/>
                <a:sym typeface="Calibri"/>
              </a:defRPr>
            </a:lvl1pPr>
            <a:lvl2pPr indent="-152400" lvl="1" marL="228600" marR="0" algn="r">
              <a:spcBef>
                <a:spcPts val="0"/>
              </a:spcBef>
              <a:buClr>
                <a:srgbClr val="888888"/>
              </a:buClr>
              <a:buSzPts val="1200"/>
              <a:buFont typeface="Calibri"/>
              <a:buNone/>
              <a:defRPr sz="1200">
                <a:solidFill>
                  <a:srgbClr val="888888"/>
                </a:solidFill>
                <a:latin typeface="Calibri"/>
                <a:ea typeface="Calibri"/>
                <a:cs typeface="Calibri"/>
                <a:sym typeface="Calibri"/>
              </a:defRPr>
            </a:lvl2pPr>
            <a:lvl3pPr indent="-152400" lvl="2" marL="228600" marR="0" algn="r">
              <a:spcBef>
                <a:spcPts val="0"/>
              </a:spcBef>
              <a:buClr>
                <a:srgbClr val="888888"/>
              </a:buClr>
              <a:buSzPts val="1200"/>
              <a:buFont typeface="Calibri"/>
              <a:buNone/>
              <a:defRPr sz="1200">
                <a:solidFill>
                  <a:srgbClr val="888888"/>
                </a:solidFill>
                <a:latin typeface="Calibri"/>
                <a:ea typeface="Calibri"/>
                <a:cs typeface="Calibri"/>
                <a:sym typeface="Calibri"/>
              </a:defRPr>
            </a:lvl3pPr>
            <a:lvl4pPr indent="-152400" lvl="3" marL="228600" marR="0" algn="r">
              <a:spcBef>
                <a:spcPts val="0"/>
              </a:spcBef>
              <a:buClr>
                <a:srgbClr val="888888"/>
              </a:buClr>
              <a:buSzPts val="1200"/>
              <a:buFont typeface="Calibri"/>
              <a:buNone/>
              <a:defRPr sz="1200">
                <a:solidFill>
                  <a:srgbClr val="888888"/>
                </a:solidFill>
                <a:latin typeface="Calibri"/>
                <a:ea typeface="Calibri"/>
                <a:cs typeface="Calibri"/>
                <a:sym typeface="Calibri"/>
              </a:defRPr>
            </a:lvl4pPr>
            <a:lvl5pPr indent="-152400" lvl="4" marL="228600" marR="0" algn="r">
              <a:spcBef>
                <a:spcPts val="0"/>
              </a:spcBef>
              <a:buClr>
                <a:srgbClr val="888888"/>
              </a:buClr>
              <a:buSzPts val="1200"/>
              <a:buFont typeface="Calibri"/>
              <a:buNone/>
              <a:defRPr sz="1200">
                <a:solidFill>
                  <a:srgbClr val="888888"/>
                </a:solidFill>
                <a:latin typeface="Calibri"/>
                <a:ea typeface="Calibri"/>
                <a:cs typeface="Calibri"/>
                <a:sym typeface="Calibri"/>
              </a:defRPr>
            </a:lvl5pPr>
            <a:lvl6pPr indent="-152400" lvl="5" marL="228600" marR="0" algn="r">
              <a:spcBef>
                <a:spcPts val="0"/>
              </a:spcBef>
              <a:buClr>
                <a:srgbClr val="888888"/>
              </a:buClr>
              <a:buSzPts val="1200"/>
              <a:buFont typeface="Calibri"/>
              <a:buNone/>
              <a:defRPr sz="1200">
                <a:solidFill>
                  <a:srgbClr val="888888"/>
                </a:solidFill>
                <a:latin typeface="Calibri"/>
                <a:ea typeface="Calibri"/>
                <a:cs typeface="Calibri"/>
                <a:sym typeface="Calibri"/>
              </a:defRPr>
            </a:lvl6pPr>
            <a:lvl7pPr indent="-152400" lvl="6" marL="228600" marR="0" algn="r">
              <a:spcBef>
                <a:spcPts val="0"/>
              </a:spcBef>
              <a:buClr>
                <a:srgbClr val="888888"/>
              </a:buClr>
              <a:buSzPts val="1200"/>
              <a:buFont typeface="Calibri"/>
              <a:buNone/>
              <a:defRPr sz="1200">
                <a:solidFill>
                  <a:srgbClr val="888888"/>
                </a:solidFill>
                <a:latin typeface="Calibri"/>
                <a:ea typeface="Calibri"/>
                <a:cs typeface="Calibri"/>
                <a:sym typeface="Calibri"/>
              </a:defRPr>
            </a:lvl7pPr>
            <a:lvl8pPr indent="-152400" lvl="7" marL="228600" marR="0" algn="r">
              <a:spcBef>
                <a:spcPts val="0"/>
              </a:spcBef>
              <a:buClr>
                <a:srgbClr val="888888"/>
              </a:buClr>
              <a:buSzPts val="1200"/>
              <a:buFont typeface="Calibri"/>
              <a:buNone/>
              <a:defRPr sz="1200">
                <a:solidFill>
                  <a:srgbClr val="888888"/>
                </a:solidFill>
                <a:latin typeface="Calibri"/>
                <a:ea typeface="Calibri"/>
                <a:cs typeface="Calibri"/>
                <a:sym typeface="Calibri"/>
              </a:defRPr>
            </a:lvl8pPr>
            <a:lvl9pPr indent="-152400" lvl="8" marL="228600" marR="0" algn="r">
              <a:spcBef>
                <a:spcPts val="0"/>
              </a:spcBef>
              <a:buClr>
                <a:srgbClr val="888888"/>
              </a:buClr>
              <a:buSzPts val="1200"/>
              <a:buFont typeface="Calibri"/>
              <a:buNone/>
              <a:defRPr sz="1200">
                <a:solidFill>
                  <a:srgbClr val="888888"/>
                </a:solidFill>
                <a:latin typeface="Calibri"/>
                <a:ea typeface="Calibri"/>
                <a:cs typeface="Calibri"/>
                <a:sym typeface="Calibri"/>
              </a:defRPr>
            </a:lvl9pPr>
          </a:lstStyle>
          <a:p>
            <a:pPr indent="-228600" lvl="0" marL="228600" rtl="0" algn="r">
              <a:spcBef>
                <a:spcPts val="0"/>
              </a:spcBef>
              <a:spcAft>
                <a:spcPts val="0"/>
              </a:spcAft>
              <a:buClr>
                <a:srgbClr val="888888"/>
              </a:buClr>
              <a:buSzPts val="1200"/>
              <a:buFont typeface="Calibri"/>
              <a:buAutoNum type="arabicPeriod"/>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5" name="Shape 65"/>
        <p:cNvGrpSpPr/>
        <p:nvPr/>
      </p:nvGrpSpPr>
      <p:grpSpPr>
        <a:xfrm>
          <a:off x="0" y="0"/>
          <a:ext cx="0" cy="0"/>
          <a:chOff x="0" y="0"/>
          <a:chExt cx="0" cy="0"/>
        </a:xfrm>
      </p:grpSpPr>
      <p:sp>
        <p:nvSpPr>
          <p:cNvPr id="66" name="Google Shape;66;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9" name="Shape 69"/>
        <p:cNvGrpSpPr/>
        <p:nvPr/>
      </p:nvGrpSpPr>
      <p:grpSpPr>
        <a:xfrm>
          <a:off x="0" y="0"/>
          <a:ext cx="0" cy="0"/>
          <a:chOff x="0" y="0"/>
          <a:chExt cx="0" cy="0"/>
        </a:xfrm>
      </p:grpSpPr>
      <p:sp>
        <p:nvSpPr>
          <p:cNvPr id="70" name="Google Shape;70;p5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5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72" name="Google Shape;72;p5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73" name="Google Shape;73;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6" name="Shape 76"/>
        <p:cNvGrpSpPr/>
        <p:nvPr/>
      </p:nvGrpSpPr>
      <p:grpSpPr>
        <a:xfrm>
          <a:off x="0" y="0"/>
          <a:ext cx="0" cy="0"/>
          <a:chOff x="0" y="0"/>
          <a:chExt cx="0" cy="0"/>
        </a:xfrm>
      </p:grpSpPr>
      <p:sp>
        <p:nvSpPr>
          <p:cNvPr id="77" name="Google Shape;77;p5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52"/>
          <p:cNvSpPr/>
          <p:nvPr>
            <p:ph idx="2" type="pic"/>
          </p:nvPr>
        </p:nvSpPr>
        <p:spPr>
          <a:xfrm>
            <a:off x="1792288" y="612775"/>
            <a:ext cx="5486400" cy="4114800"/>
          </a:xfrm>
          <a:prstGeom prst="rect">
            <a:avLst/>
          </a:prstGeom>
          <a:noFill/>
          <a:ln>
            <a:noFill/>
          </a:ln>
        </p:spPr>
      </p:sp>
      <p:sp>
        <p:nvSpPr>
          <p:cNvPr id="79" name="Google Shape;79;p5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80" name="Google Shape;80;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3" name="Shape 83"/>
        <p:cNvGrpSpPr/>
        <p:nvPr/>
      </p:nvGrpSpPr>
      <p:grpSpPr>
        <a:xfrm>
          <a:off x="0" y="0"/>
          <a:ext cx="0" cy="0"/>
          <a:chOff x="0" y="0"/>
          <a:chExt cx="0" cy="0"/>
        </a:xfrm>
      </p:grpSpPr>
      <p:sp>
        <p:nvSpPr>
          <p:cNvPr id="84" name="Google Shape;84;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5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6" name="Google Shape;86;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9" name="Shape 89"/>
        <p:cNvGrpSpPr/>
        <p:nvPr/>
      </p:nvGrpSpPr>
      <p:grpSpPr>
        <a:xfrm>
          <a:off x="0" y="0"/>
          <a:ext cx="0" cy="0"/>
          <a:chOff x="0" y="0"/>
          <a:chExt cx="0" cy="0"/>
        </a:xfrm>
      </p:grpSpPr>
      <p:sp>
        <p:nvSpPr>
          <p:cNvPr id="90" name="Google Shape;90;p5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5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2" name="Google Shape;92;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1" name="Shape 101"/>
        <p:cNvGrpSpPr/>
        <p:nvPr/>
      </p:nvGrpSpPr>
      <p:grpSpPr>
        <a:xfrm>
          <a:off x="0" y="0"/>
          <a:ext cx="0" cy="0"/>
          <a:chOff x="0" y="0"/>
          <a:chExt cx="0" cy="0"/>
        </a:xfrm>
      </p:grpSpPr>
      <p:sp>
        <p:nvSpPr>
          <p:cNvPr id="102" name="Google Shape;102;p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3" name="Google Shape;103;p4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4" name="Google Shape;104;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7" name="Shape 107"/>
        <p:cNvGrpSpPr/>
        <p:nvPr/>
      </p:nvGrpSpPr>
      <p:grpSpPr>
        <a:xfrm>
          <a:off x="0" y="0"/>
          <a:ext cx="0" cy="0"/>
          <a:chOff x="0" y="0"/>
          <a:chExt cx="0" cy="0"/>
        </a:xfrm>
      </p:grpSpPr>
      <p:sp>
        <p:nvSpPr>
          <p:cNvPr id="108" name="Google Shape;108;p5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9" name="Google Shape;109;p5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10" name="Google Shape;110;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3" name="Shape 113"/>
        <p:cNvGrpSpPr/>
        <p:nvPr/>
      </p:nvGrpSpPr>
      <p:grpSpPr>
        <a:xfrm>
          <a:off x="0" y="0"/>
          <a:ext cx="0" cy="0"/>
          <a:chOff x="0" y="0"/>
          <a:chExt cx="0" cy="0"/>
        </a:xfrm>
      </p:grpSpPr>
      <p:sp>
        <p:nvSpPr>
          <p:cNvPr id="114" name="Google Shape;114;p5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 name="Google Shape;115;p5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116" name="Google Shape;116;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9" name="Shape 119"/>
        <p:cNvGrpSpPr/>
        <p:nvPr/>
      </p:nvGrpSpPr>
      <p:grpSpPr>
        <a:xfrm>
          <a:off x="0" y="0"/>
          <a:ext cx="0" cy="0"/>
          <a:chOff x="0" y="0"/>
          <a:chExt cx="0" cy="0"/>
        </a:xfrm>
      </p:grpSpPr>
      <p:sp>
        <p:nvSpPr>
          <p:cNvPr id="120" name="Google Shape;120;p5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1" name="Google Shape;121;p5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22" name="Google Shape;122;p5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23" name="Google Shape;123;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6" name="Shape 126"/>
        <p:cNvGrpSpPr/>
        <p:nvPr/>
      </p:nvGrpSpPr>
      <p:grpSpPr>
        <a:xfrm>
          <a:off x="0" y="0"/>
          <a:ext cx="0" cy="0"/>
          <a:chOff x="0" y="0"/>
          <a:chExt cx="0" cy="0"/>
        </a:xfrm>
      </p:grpSpPr>
      <p:sp>
        <p:nvSpPr>
          <p:cNvPr id="127" name="Google Shape;127;p5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8" name="Google Shape;128;p5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29" name="Google Shape;129;p5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30" name="Google Shape;130;p5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31" name="Google Shape;131;p5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32" name="Google Shape;132;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5" name="Shape 135"/>
        <p:cNvGrpSpPr/>
        <p:nvPr/>
      </p:nvGrpSpPr>
      <p:grpSpPr>
        <a:xfrm>
          <a:off x="0" y="0"/>
          <a:ext cx="0" cy="0"/>
          <a:chOff x="0" y="0"/>
          <a:chExt cx="0" cy="0"/>
        </a:xfrm>
      </p:grpSpPr>
      <p:sp>
        <p:nvSpPr>
          <p:cNvPr id="136" name="Google Shape;136;p5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7" name="Google Shape;137;p5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0" name="Shape 140"/>
        <p:cNvGrpSpPr/>
        <p:nvPr/>
      </p:nvGrpSpPr>
      <p:grpSpPr>
        <a:xfrm>
          <a:off x="0" y="0"/>
          <a:ext cx="0" cy="0"/>
          <a:chOff x="0" y="0"/>
          <a:chExt cx="0" cy="0"/>
        </a:xfrm>
      </p:grpSpPr>
      <p:sp>
        <p:nvSpPr>
          <p:cNvPr id="141" name="Google Shape;141;p6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6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6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44" name="Shape 144"/>
        <p:cNvGrpSpPr/>
        <p:nvPr/>
      </p:nvGrpSpPr>
      <p:grpSpPr>
        <a:xfrm>
          <a:off x="0" y="0"/>
          <a:ext cx="0" cy="0"/>
          <a:chOff x="0" y="0"/>
          <a:chExt cx="0" cy="0"/>
        </a:xfrm>
      </p:grpSpPr>
      <p:sp>
        <p:nvSpPr>
          <p:cNvPr id="145" name="Google Shape;145;p6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6" name="Google Shape;146;p6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147" name="Google Shape;147;p6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48" name="Google Shape;148;p6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p6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6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51" name="Shape 151"/>
        <p:cNvGrpSpPr/>
        <p:nvPr/>
      </p:nvGrpSpPr>
      <p:grpSpPr>
        <a:xfrm>
          <a:off x="0" y="0"/>
          <a:ext cx="0" cy="0"/>
          <a:chOff x="0" y="0"/>
          <a:chExt cx="0" cy="0"/>
        </a:xfrm>
      </p:grpSpPr>
      <p:sp>
        <p:nvSpPr>
          <p:cNvPr id="152" name="Google Shape;152;p6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3" name="Google Shape;153;p62"/>
          <p:cNvSpPr/>
          <p:nvPr>
            <p:ph idx="2" type="pic"/>
          </p:nvPr>
        </p:nvSpPr>
        <p:spPr>
          <a:xfrm>
            <a:off x="1792288" y="612775"/>
            <a:ext cx="5486400" cy="4114800"/>
          </a:xfrm>
          <a:prstGeom prst="rect">
            <a:avLst/>
          </a:prstGeom>
          <a:noFill/>
          <a:ln>
            <a:noFill/>
          </a:ln>
        </p:spPr>
      </p:sp>
      <p:sp>
        <p:nvSpPr>
          <p:cNvPr id="154" name="Google Shape;154;p6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55" name="Google Shape;155;p6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6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p6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58" name="Shape 158"/>
        <p:cNvGrpSpPr/>
        <p:nvPr/>
      </p:nvGrpSpPr>
      <p:grpSpPr>
        <a:xfrm>
          <a:off x="0" y="0"/>
          <a:ext cx="0" cy="0"/>
          <a:chOff x="0" y="0"/>
          <a:chExt cx="0" cy="0"/>
        </a:xfrm>
      </p:grpSpPr>
      <p:sp>
        <p:nvSpPr>
          <p:cNvPr id="159" name="Google Shape;159;p6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0" name="Google Shape;160;p6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61" name="Google Shape;161;p6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p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3" name="Google Shape;163;p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64" name="Shape 164"/>
        <p:cNvGrpSpPr/>
        <p:nvPr/>
      </p:nvGrpSpPr>
      <p:grpSpPr>
        <a:xfrm>
          <a:off x="0" y="0"/>
          <a:ext cx="0" cy="0"/>
          <a:chOff x="0" y="0"/>
          <a:chExt cx="0" cy="0"/>
        </a:xfrm>
      </p:grpSpPr>
      <p:sp>
        <p:nvSpPr>
          <p:cNvPr id="165" name="Google Shape;165;p6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6" name="Google Shape;166;p6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67" name="Google Shape;167;p6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8" name="Google Shape;168;p6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9" name="Google Shape;169;p6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3.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2" Type="http://schemas.openxmlformats.org/officeDocument/2006/relationships/theme" Target="../theme/theme1.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r>
              <a:rPr lang="en-US"/>
              <a:t>1</a:t>
            </a:r>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5" name="Shape 95"/>
        <p:cNvGrpSpPr/>
        <p:nvPr/>
      </p:nvGrpSpPr>
      <p:grpSpPr>
        <a:xfrm>
          <a:off x="0" y="0"/>
          <a:ext cx="0" cy="0"/>
          <a:chOff x="0" y="0"/>
          <a:chExt cx="0" cy="0"/>
        </a:xfrm>
      </p:grpSpPr>
      <p:sp>
        <p:nvSpPr>
          <p:cNvPr id="96" name="Google Shape;96;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7" name="Google Shape;97;p4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98" name="Google Shape;98;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9" name="Google Shape;99;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0" name="Google Shape;100;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image" Target="../media/image30.jpg"/><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vmlDrawing" Target="../drawings/vmlDrawing1.vml"/><Relationship Id="rId4" Type="http://schemas.openxmlformats.org/officeDocument/2006/relationships/oleObject" Target="../embeddings/oleObject1.bin"/><Relationship Id="rId9" Type="http://schemas.openxmlformats.org/officeDocument/2006/relationships/image" Target="../media/image25.png"/><Relationship Id="rId5" Type="http://schemas.openxmlformats.org/officeDocument/2006/relationships/oleObject" Target="../embeddings/oleObject1.bin"/><Relationship Id="rId6" Type="http://schemas.openxmlformats.org/officeDocument/2006/relationships/image" Target="../media/image23.png"/><Relationship Id="rId7" Type="http://schemas.openxmlformats.org/officeDocument/2006/relationships/oleObject" Target="../embeddings/oleObject2.bin"/><Relationship Id="rId8" Type="http://schemas.openxmlformats.org/officeDocument/2006/relationships/oleObject" Target="../embeddings/oleObject2.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2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 Id="rId3" Type="http://schemas.openxmlformats.org/officeDocument/2006/relationships/image" Target="../media/image2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2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1.png"/><Relationship Id="rId4" Type="http://schemas.openxmlformats.org/officeDocument/2006/relationships/image" Target="../media/image2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pic>
        <p:nvPicPr>
          <p:cNvPr descr="Office binder 3d illustration office binders background 3d rendering" id="175" name="Google Shape;175;p1"/>
          <p:cNvPicPr preferRelativeResize="0"/>
          <p:nvPr/>
        </p:nvPicPr>
        <p:blipFill rotWithShape="1">
          <a:blip r:embed="rId3">
            <a:alphaModFix/>
          </a:blip>
          <a:srcRect b="0" l="0" r="0" t="0"/>
          <a:stretch/>
        </p:blipFill>
        <p:spPr>
          <a:xfrm>
            <a:off x="0" y="0"/>
            <a:ext cx="9144000" cy="5949280"/>
          </a:xfrm>
          <a:prstGeom prst="rect">
            <a:avLst/>
          </a:prstGeom>
          <a:noFill/>
          <a:ln>
            <a:noFill/>
          </a:ln>
        </p:spPr>
      </p:pic>
      <p:sp>
        <p:nvSpPr>
          <p:cNvPr id="176" name="Google Shape;176;p1"/>
          <p:cNvSpPr txBox="1"/>
          <p:nvPr>
            <p:ph type="ctrTitle"/>
          </p:nvPr>
        </p:nvSpPr>
        <p:spPr>
          <a:xfrm>
            <a:off x="0" y="4437112"/>
            <a:ext cx="9144000" cy="280432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Calibri"/>
              <a:buNone/>
            </a:pPr>
            <a:r>
              <a:rPr b="1" lang="en-US" sz="3600"/>
              <a:t>The Linux File System and Permissions</a:t>
            </a:r>
            <a:endParaRPr b="1" sz="3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
          <p:cNvSpPr txBox="1"/>
          <p:nvPr>
            <p:ph type="title"/>
          </p:nvPr>
        </p:nvSpPr>
        <p:spPr>
          <a:xfrm>
            <a:off x="457200" y="274638"/>
            <a:ext cx="8229600" cy="101122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366092"/>
              </a:buClr>
              <a:buSzPts val="3200"/>
              <a:buFont typeface="Gill Sans"/>
              <a:buNone/>
            </a:pPr>
            <a:r>
              <a:rPr b="1" lang="en-US" sz="3200">
                <a:solidFill>
                  <a:srgbClr val="366092"/>
                </a:solidFill>
                <a:latin typeface="Gill Sans"/>
                <a:ea typeface="Gill Sans"/>
                <a:cs typeface="Gill Sans"/>
                <a:sym typeface="Gill Sans"/>
              </a:rPr>
              <a:t>Learning Objectives</a:t>
            </a:r>
            <a:endParaRPr b="1" sz="3200">
              <a:solidFill>
                <a:srgbClr val="366092"/>
              </a:solidFill>
              <a:latin typeface="Gill Sans"/>
              <a:ea typeface="Gill Sans"/>
              <a:cs typeface="Gill Sans"/>
              <a:sym typeface="Gill Sans"/>
            </a:endParaRPr>
          </a:p>
        </p:txBody>
      </p:sp>
      <p:sp>
        <p:nvSpPr>
          <p:cNvPr id="183" name="Google Shape;183;p2"/>
          <p:cNvSpPr txBox="1"/>
          <p:nvPr>
            <p:ph idx="1" type="body"/>
          </p:nvPr>
        </p:nvSpPr>
        <p:spPr>
          <a:xfrm>
            <a:off x="428596" y="357166"/>
            <a:ext cx="8072494" cy="650083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200"/>
              <a:buNone/>
            </a:pPr>
            <a:r>
              <a:t/>
            </a:r>
            <a:endParaRPr sz="2200"/>
          </a:p>
          <a:p>
            <a:pPr indent="0" lvl="0" marL="0" rtl="0" algn="l">
              <a:spcBef>
                <a:spcPts val="440"/>
              </a:spcBef>
              <a:spcAft>
                <a:spcPts val="0"/>
              </a:spcAft>
              <a:buClr>
                <a:schemeClr val="dk1"/>
              </a:buClr>
              <a:buSzPts val="2200"/>
              <a:buNone/>
            </a:pPr>
            <a:r>
              <a:t/>
            </a:r>
            <a:endParaRPr sz="2200"/>
          </a:p>
          <a:p>
            <a:pPr indent="0" lvl="0" marL="0" rtl="0" algn="l">
              <a:spcBef>
                <a:spcPts val="480"/>
              </a:spcBef>
              <a:spcAft>
                <a:spcPts val="0"/>
              </a:spcAft>
              <a:buClr>
                <a:schemeClr val="dk1"/>
              </a:buClr>
              <a:buSzPts val="2400"/>
              <a:buNone/>
            </a:pPr>
            <a:r>
              <a:rPr lang="en-US" sz="2400"/>
              <a:t>By the end of this module, you will be able to understand:</a:t>
            </a:r>
            <a:endParaRPr/>
          </a:p>
          <a:p>
            <a:pPr indent="0" lvl="0" marL="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US" sz="2400"/>
              <a:t>The structure of Linux file system</a:t>
            </a:r>
            <a:endParaRPr/>
          </a:p>
          <a:p>
            <a:pPr indent="-342900" lvl="0" marL="342900" rtl="0" algn="l">
              <a:spcBef>
                <a:spcPts val="480"/>
              </a:spcBef>
              <a:spcAft>
                <a:spcPts val="0"/>
              </a:spcAft>
              <a:buClr>
                <a:schemeClr val="dk1"/>
              </a:buClr>
              <a:buSzPts val="2400"/>
              <a:buChar char="•"/>
            </a:pPr>
            <a:r>
              <a:rPr lang="en-US" sz="2400"/>
              <a:t>Various types of Linux file system</a:t>
            </a:r>
            <a:endParaRPr/>
          </a:p>
          <a:p>
            <a:pPr indent="-342900" lvl="0" marL="342900" rtl="0" algn="l">
              <a:spcBef>
                <a:spcPts val="480"/>
              </a:spcBef>
              <a:spcAft>
                <a:spcPts val="0"/>
              </a:spcAft>
              <a:buClr>
                <a:schemeClr val="dk1"/>
              </a:buClr>
              <a:buSzPts val="2400"/>
              <a:buChar char="•"/>
            </a:pPr>
            <a:r>
              <a:rPr lang="en-US" sz="2400"/>
              <a:t>What is the file system permission in Linux</a:t>
            </a:r>
            <a:endParaRPr/>
          </a:p>
          <a:p>
            <a:pPr indent="-342900" lvl="0" marL="342900" rtl="0" algn="l">
              <a:spcBef>
                <a:spcPts val="480"/>
              </a:spcBef>
              <a:spcAft>
                <a:spcPts val="0"/>
              </a:spcAft>
              <a:buClr>
                <a:schemeClr val="dk1"/>
              </a:buClr>
              <a:buSzPts val="2400"/>
              <a:buChar char="•"/>
            </a:pPr>
            <a:r>
              <a:rPr lang="en-US" sz="2400"/>
              <a:t>How to set or change the permission of any file or directory</a:t>
            </a:r>
            <a:endParaRPr/>
          </a:p>
          <a:p>
            <a:pPr indent="-342900" lvl="0" marL="342900" rtl="0" algn="l">
              <a:spcBef>
                <a:spcPts val="480"/>
              </a:spcBef>
              <a:spcAft>
                <a:spcPts val="0"/>
              </a:spcAft>
              <a:buClr>
                <a:schemeClr val="dk1"/>
              </a:buClr>
              <a:buSzPts val="2400"/>
              <a:buChar char="•"/>
            </a:pPr>
            <a:r>
              <a:rPr lang="en-US" sz="2400"/>
              <a:t>About some special permission in Linux</a:t>
            </a:r>
            <a:endParaRPr/>
          </a:p>
          <a:p>
            <a:pPr indent="-342900" lvl="0" marL="342900" rtl="0" algn="l">
              <a:spcBef>
                <a:spcPts val="480"/>
              </a:spcBef>
              <a:spcAft>
                <a:spcPts val="0"/>
              </a:spcAft>
              <a:buClr>
                <a:schemeClr val="dk1"/>
              </a:buClr>
              <a:buSzPts val="2400"/>
              <a:buNone/>
            </a:pPr>
            <a:r>
              <a:t/>
            </a:r>
            <a:endParaRPr sz="2400"/>
          </a:p>
        </p:txBody>
      </p:sp>
      <p:sp>
        <p:nvSpPr>
          <p:cNvPr id="184" name="Google Shape;184;p2"/>
          <p:cNvSpPr txBox="1"/>
          <p:nvPr>
            <p:ph idx="11" type="ftr"/>
          </p:nvPr>
        </p:nvSpPr>
        <p:spPr>
          <a:xfrm>
            <a:off x="0" y="6356350"/>
            <a:ext cx="9144000" cy="50165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Blended Learning Program, IEEE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
          <p:cNvSpPr txBox="1"/>
          <p:nvPr>
            <p:ph type="ctrTitle"/>
          </p:nvPr>
        </p:nvSpPr>
        <p:spPr>
          <a:xfrm>
            <a:off x="500034" y="127896"/>
            <a:ext cx="8215370" cy="155679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366092"/>
              </a:buClr>
              <a:buSzPts val="3200"/>
              <a:buFont typeface="Gill Sans"/>
              <a:buNone/>
            </a:pPr>
            <a:r>
              <a:rPr b="1" lang="en-US" sz="3200">
                <a:solidFill>
                  <a:srgbClr val="366092"/>
                </a:solidFill>
                <a:latin typeface="Gill Sans"/>
                <a:ea typeface="Gill Sans"/>
                <a:cs typeface="Gill Sans"/>
                <a:sym typeface="Gill Sans"/>
              </a:rPr>
              <a:t>Introduction to File system </a:t>
            </a:r>
            <a:endParaRPr b="1" sz="3200">
              <a:solidFill>
                <a:srgbClr val="366092"/>
              </a:solidFill>
              <a:latin typeface="Gill Sans"/>
              <a:ea typeface="Gill Sans"/>
              <a:cs typeface="Gill Sans"/>
              <a:sym typeface="Gill Sans"/>
            </a:endParaRPr>
          </a:p>
        </p:txBody>
      </p:sp>
      <p:sp>
        <p:nvSpPr>
          <p:cNvPr id="191" name="Google Shape;191;p3"/>
          <p:cNvSpPr txBox="1"/>
          <p:nvPr/>
        </p:nvSpPr>
        <p:spPr>
          <a:xfrm>
            <a:off x="0" y="1928802"/>
            <a:ext cx="8715404" cy="192882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cap="none" strike="noStrike">
              <a:solidFill>
                <a:schemeClr val="dk1"/>
              </a:solidFill>
              <a:latin typeface="Calibri"/>
              <a:ea typeface="Calibri"/>
              <a:cs typeface="Calibri"/>
              <a:sym typeface="Calibri"/>
            </a:endParaRPr>
          </a:p>
        </p:txBody>
      </p:sp>
      <p:sp>
        <p:nvSpPr>
          <p:cNvPr id="192" name="Google Shape;192;p3"/>
          <p:cNvSpPr/>
          <p:nvPr/>
        </p:nvSpPr>
        <p:spPr>
          <a:xfrm>
            <a:off x="214282" y="1785926"/>
            <a:ext cx="4717758" cy="4339650"/>
          </a:xfrm>
          <a:prstGeom prst="rect">
            <a:avLst/>
          </a:prstGeom>
          <a:noFill/>
          <a:ln>
            <a:noFill/>
          </a:ln>
        </p:spPr>
        <p:txBody>
          <a:bodyPr anchorCtr="0" anchor="t" bIns="45700" lIns="91425" spcFirstLastPara="1" rIns="91425" wrap="square" tIns="45700">
            <a:spAutoFit/>
          </a:bodyPr>
          <a:lstStyle/>
          <a:p>
            <a:pPr indent="-80010" lvl="0" marL="0" marR="0" rtl="0" algn="just">
              <a:spcBef>
                <a:spcPts val="0"/>
              </a:spcBef>
              <a:spcAft>
                <a:spcPts val="0"/>
              </a:spcAft>
              <a:buClr>
                <a:schemeClr val="dk1"/>
              </a:buClr>
              <a:buSzPts val="1260"/>
              <a:buFont typeface="Noto Sans Symbols"/>
              <a:buChar char="●"/>
            </a:pPr>
            <a:r>
              <a:rPr b="0" i="0" lang="en-US" sz="2800" u="none" cap="none" strike="noStrike">
                <a:solidFill>
                  <a:schemeClr val="dk1"/>
                </a:solidFill>
                <a:latin typeface="Calibri"/>
                <a:ea typeface="Calibri"/>
                <a:cs typeface="Calibri"/>
                <a:sym typeface="Calibri"/>
              </a:rPr>
              <a:t>What is File System?</a:t>
            </a:r>
            <a:endParaRPr/>
          </a:p>
          <a:p>
            <a:pPr indent="-80010" lvl="1" marL="457200" marR="0" rtl="0" algn="just">
              <a:spcBef>
                <a:spcPts val="0"/>
              </a:spcBef>
              <a:spcAft>
                <a:spcPts val="0"/>
              </a:spcAft>
              <a:buClr>
                <a:schemeClr val="dk1"/>
              </a:buClr>
              <a:buSzPts val="1260"/>
              <a:buFont typeface="Noto Sans Symbols"/>
              <a:buChar char="●"/>
            </a:pPr>
            <a:r>
              <a:rPr b="0" i="0" lang="en-US" sz="2800" u="none" cap="none" strike="noStrike">
                <a:solidFill>
                  <a:schemeClr val="dk1"/>
                </a:solidFill>
                <a:latin typeface="Calibri"/>
                <a:ea typeface="Calibri"/>
                <a:cs typeface="Calibri"/>
                <a:sym typeface="Calibri"/>
              </a:rPr>
              <a:t> Way that an OS store, retrive and organizes files on disk.</a:t>
            </a:r>
            <a:endParaRPr/>
          </a:p>
          <a:p>
            <a:pPr indent="-80010" lvl="0" marL="0" marR="0" rtl="0" algn="just">
              <a:spcBef>
                <a:spcPts val="0"/>
              </a:spcBef>
              <a:spcAft>
                <a:spcPts val="0"/>
              </a:spcAft>
              <a:buClr>
                <a:schemeClr val="dk1"/>
              </a:buClr>
              <a:buSzPts val="1260"/>
              <a:buFont typeface="Noto Sans Symbols"/>
              <a:buChar char="●"/>
            </a:pPr>
            <a:r>
              <a:rPr b="0" i="0" lang="en-US" sz="2800" u="none" cap="none" strike="noStrike">
                <a:solidFill>
                  <a:schemeClr val="dk1"/>
                </a:solidFill>
                <a:latin typeface="Calibri"/>
                <a:ea typeface="Calibri"/>
                <a:cs typeface="Calibri"/>
                <a:sym typeface="Calibri"/>
              </a:rPr>
              <a:t>Linux files are stored in a single rooted, hierarchical file system and on the top of hierarchy is / - the root directory.</a:t>
            </a:r>
            <a:endParaRPr/>
          </a:p>
          <a:p>
            <a:pPr indent="0" lvl="0" marL="0" marR="0" rtl="0" algn="just">
              <a:spcBef>
                <a:spcPts val="0"/>
              </a:spcBef>
              <a:spcAft>
                <a:spcPts val="0"/>
              </a:spcAft>
              <a:buClr>
                <a:schemeClr val="dk1"/>
              </a:buClr>
              <a:buSzPts val="1080"/>
              <a:buFont typeface="Noto Sans Symbols"/>
              <a:buNone/>
            </a:pPr>
            <a:r>
              <a:t/>
            </a:r>
            <a:endParaRPr b="0" i="0" sz="2400" u="none" cap="none" strike="noStrike">
              <a:solidFill>
                <a:schemeClr val="dk1"/>
              </a:solidFill>
              <a:latin typeface="Calibri"/>
              <a:ea typeface="Calibri"/>
              <a:cs typeface="Calibri"/>
              <a:sym typeface="Calibri"/>
            </a:endParaRPr>
          </a:p>
        </p:txBody>
      </p:sp>
      <p:pic>
        <p:nvPicPr>
          <p:cNvPr descr="C:\Users\isea\Downloads\linux.jpg" id="193" name="Google Shape;193;p3"/>
          <p:cNvPicPr preferRelativeResize="0"/>
          <p:nvPr/>
        </p:nvPicPr>
        <p:blipFill rotWithShape="1">
          <a:blip r:embed="rId3">
            <a:alphaModFix/>
          </a:blip>
          <a:srcRect b="0" l="0" r="0" t="0"/>
          <a:stretch/>
        </p:blipFill>
        <p:spPr>
          <a:xfrm>
            <a:off x="5148064" y="1916832"/>
            <a:ext cx="3603501" cy="453650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pic>
        <p:nvPicPr>
          <p:cNvPr descr="Free vector privacy policy concept illustration" id="199" name="Google Shape;199;p4"/>
          <p:cNvPicPr preferRelativeResize="0"/>
          <p:nvPr/>
        </p:nvPicPr>
        <p:blipFill rotWithShape="1">
          <a:blip r:embed="rId3">
            <a:alphaModFix/>
          </a:blip>
          <a:srcRect b="0" l="0" r="0" t="0"/>
          <a:stretch/>
        </p:blipFill>
        <p:spPr>
          <a:xfrm>
            <a:off x="3829422" y="1268760"/>
            <a:ext cx="5314578" cy="5314578"/>
          </a:xfrm>
          <a:prstGeom prst="rect">
            <a:avLst/>
          </a:prstGeom>
          <a:noFill/>
          <a:ln>
            <a:noFill/>
          </a:ln>
        </p:spPr>
      </p:pic>
      <p:sp>
        <p:nvSpPr>
          <p:cNvPr id="200" name="Google Shape;200;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File System Types</a:t>
            </a:r>
            <a:endParaRPr/>
          </a:p>
        </p:txBody>
      </p:sp>
      <p:sp>
        <p:nvSpPr>
          <p:cNvPr id="201" name="Google Shape;201;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Blended Learning Program, IEEE                                                                       </a:t>
            </a:r>
            <a:endParaRPr/>
          </a:p>
        </p:txBody>
      </p:sp>
      <p:sp>
        <p:nvSpPr>
          <p:cNvPr id="202" name="Google Shape;202;p4"/>
          <p:cNvSpPr/>
          <p:nvPr/>
        </p:nvSpPr>
        <p:spPr>
          <a:xfrm>
            <a:off x="467544" y="2060848"/>
            <a:ext cx="3600400" cy="3785652"/>
          </a:xfrm>
          <a:prstGeom prst="rect">
            <a:avLst/>
          </a:prstGeom>
          <a:noFill/>
          <a:ln>
            <a:noFill/>
          </a:ln>
        </p:spPr>
        <p:txBody>
          <a:bodyPr anchorCtr="0" anchor="t" bIns="45700" lIns="91425" spcFirstLastPara="1" rIns="91425" wrap="square" tIns="45700">
            <a:spAutoFit/>
          </a:bodyPr>
          <a:lstStyle/>
          <a:p>
            <a:pPr indent="-68580" lvl="0" marL="0" marR="0" rtl="0" algn="just">
              <a:spcBef>
                <a:spcPts val="0"/>
              </a:spcBef>
              <a:spcAft>
                <a:spcPts val="0"/>
              </a:spcAft>
              <a:buClr>
                <a:schemeClr val="dk1"/>
              </a:buClr>
              <a:buSzPts val="1080"/>
              <a:buFont typeface="Noto Sans Symbols"/>
              <a:buChar char="●"/>
            </a:pPr>
            <a:r>
              <a:rPr b="0" i="0" lang="en-US" sz="2400" u="none" cap="none" strike="noStrike">
                <a:solidFill>
                  <a:schemeClr val="dk1"/>
                </a:solidFill>
                <a:latin typeface="Calibri"/>
                <a:ea typeface="Calibri"/>
                <a:cs typeface="Calibri"/>
                <a:sym typeface="Calibri"/>
              </a:rPr>
              <a:t>File systems come in many different flavors depending on our specific needs. </a:t>
            </a:r>
            <a:endParaRPr/>
          </a:p>
          <a:p>
            <a:pPr indent="-68580" lvl="0" marL="0" marR="0" rtl="0" algn="just">
              <a:spcBef>
                <a:spcPts val="0"/>
              </a:spcBef>
              <a:spcAft>
                <a:spcPts val="0"/>
              </a:spcAft>
              <a:buClr>
                <a:schemeClr val="dk1"/>
              </a:buClr>
              <a:buSzPts val="1080"/>
              <a:buFont typeface="Noto Sans Symbols"/>
              <a:buChar char="●"/>
            </a:pPr>
            <a:r>
              <a:rPr b="0" i="0" lang="en-US" sz="2400" u="none" cap="none" strike="noStrike">
                <a:solidFill>
                  <a:schemeClr val="dk1"/>
                </a:solidFill>
                <a:latin typeface="Calibri"/>
                <a:ea typeface="Calibri"/>
                <a:cs typeface="Calibri"/>
                <a:sym typeface="Calibri"/>
              </a:rPr>
              <a:t>Windows</a:t>
            </a:r>
            <a:endParaRPr/>
          </a:p>
          <a:p>
            <a:pPr indent="-68580" lvl="1" marL="457200" marR="0" rtl="0" algn="just">
              <a:spcBef>
                <a:spcPts val="0"/>
              </a:spcBef>
              <a:spcAft>
                <a:spcPts val="0"/>
              </a:spcAft>
              <a:buClr>
                <a:schemeClr val="dk1"/>
              </a:buClr>
              <a:buSzPts val="1080"/>
              <a:buFont typeface="Noto Sans Symbols"/>
              <a:buChar char="●"/>
            </a:pPr>
            <a:r>
              <a:rPr b="0" i="0" lang="en-US" sz="2400" u="none" cap="none" strike="noStrike">
                <a:solidFill>
                  <a:schemeClr val="dk1"/>
                </a:solidFill>
                <a:latin typeface="Calibri"/>
                <a:ea typeface="Calibri"/>
                <a:cs typeface="Calibri"/>
                <a:sym typeface="Calibri"/>
              </a:rPr>
              <a:t>NTFS, FAT, FAT16, or FAT32 </a:t>
            </a:r>
            <a:endParaRPr/>
          </a:p>
          <a:p>
            <a:pPr indent="-68580" lvl="0" marL="0" marR="0" rtl="0" algn="just">
              <a:spcBef>
                <a:spcPts val="0"/>
              </a:spcBef>
              <a:spcAft>
                <a:spcPts val="0"/>
              </a:spcAft>
              <a:buClr>
                <a:schemeClr val="dk1"/>
              </a:buClr>
              <a:buSzPts val="1080"/>
              <a:buFont typeface="Noto Sans Symbols"/>
              <a:buChar char="●"/>
            </a:pPr>
            <a:r>
              <a:rPr b="0" i="0" lang="en-US" sz="2400" u="none" cap="none" strike="noStrike">
                <a:solidFill>
                  <a:schemeClr val="dk1"/>
                </a:solidFill>
                <a:latin typeface="Calibri"/>
                <a:ea typeface="Calibri"/>
                <a:cs typeface="Calibri"/>
                <a:sym typeface="Calibri"/>
              </a:rPr>
              <a:t>For Macintosh</a:t>
            </a:r>
            <a:endParaRPr/>
          </a:p>
          <a:p>
            <a:pPr indent="-68580" lvl="1" marL="457200" marR="0" rtl="0" algn="just">
              <a:spcBef>
                <a:spcPts val="0"/>
              </a:spcBef>
              <a:spcAft>
                <a:spcPts val="0"/>
              </a:spcAft>
              <a:buClr>
                <a:schemeClr val="dk1"/>
              </a:buClr>
              <a:buSzPts val="1080"/>
              <a:buFont typeface="Noto Sans Symbols"/>
              <a:buChar char="●"/>
            </a:pPr>
            <a:r>
              <a:rPr b="0" i="0" lang="en-US" sz="2400" u="none" cap="none" strike="noStrike">
                <a:solidFill>
                  <a:schemeClr val="dk1"/>
                </a:solidFill>
                <a:latin typeface="Calibri"/>
                <a:ea typeface="Calibri"/>
                <a:cs typeface="Calibri"/>
                <a:sym typeface="Calibri"/>
              </a:rPr>
              <a:t>HFS</a:t>
            </a:r>
            <a:endParaRPr/>
          </a:p>
          <a:p>
            <a:pPr indent="-68580" lvl="0" marL="0" marR="0" rtl="0" algn="just">
              <a:spcBef>
                <a:spcPts val="0"/>
              </a:spcBef>
              <a:spcAft>
                <a:spcPts val="0"/>
              </a:spcAft>
              <a:buClr>
                <a:schemeClr val="dk1"/>
              </a:buClr>
              <a:buSzPts val="1080"/>
              <a:buFont typeface="Noto Sans Symbols"/>
              <a:buChar char="●"/>
            </a:pPr>
            <a:r>
              <a:rPr b="0" i="0" lang="en-US" sz="2400" u="none" cap="none" strike="noStrike">
                <a:solidFill>
                  <a:schemeClr val="dk1"/>
                </a:solidFill>
                <a:latin typeface="Calibri"/>
                <a:ea typeface="Calibri"/>
                <a:cs typeface="Calibri"/>
                <a:sym typeface="Calibri"/>
              </a:rPr>
              <a:t>Linux</a:t>
            </a:r>
            <a:endParaRPr/>
          </a:p>
          <a:p>
            <a:pPr indent="-68580" lvl="1" marL="457200" marR="0" rtl="0" algn="just">
              <a:spcBef>
                <a:spcPts val="0"/>
              </a:spcBef>
              <a:spcAft>
                <a:spcPts val="0"/>
              </a:spcAft>
              <a:buClr>
                <a:schemeClr val="dk1"/>
              </a:buClr>
              <a:buSzPts val="1080"/>
              <a:buFont typeface="Noto Sans Symbols"/>
              <a:buChar char="●"/>
            </a:pPr>
            <a:r>
              <a:rPr b="0" i="0" lang="en-US" sz="2400" u="none" cap="none" strike="noStrike">
                <a:solidFill>
                  <a:schemeClr val="dk1"/>
                </a:solidFill>
                <a:latin typeface="Calibri"/>
                <a:ea typeface="Calibri"/>
                <a:cs typeface="Calibri"/>
                <a:sym typeface="Calibri"/>
              </a:rPr>
              <a:t>Ext2/3/4,XFS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pic>
        <p:nvPicPr>
          <p:cNvPr descr="Icon of a yellow folder" id="208" name="Google Shape;208;p5"/>
          <p:cNvPicPr preferRelativeResize="0"/>
          <p:nvPr/>
        </p:nvPicPr>
        <p:blipFill rotWithShape="1">
          <a:blip r:embed="rId3">
            <a:alphaModFix/>
          </a:blip>
          <a:srcRect b="0" l="0" r="0" t="0"/>
          <a:stretch/>
        </p:blipFill>
        <p:spPr>
          <a:xfrm>
            <a:off x="3203848" y="2708920"/>
            <a:ext cx="5940152" cy="4149080"/>
          </a:xfrm>
          <a:prstGeom prst="rect">
            <a:avLst/>
          </a:prstGeom>
          <a:noFill/>
          <a:ln>
            <a:noFill/>
          </a:ln>
        </p:spPr>
      </p:pic>
      <p:sp>
        <p:nvSpPr>
          <p:cNvPr id="209" name="Google Shape;209;p5"/>
          <p:cNvSpPr txBox="1"/>
          <p:nvPr>
            <p:ph type="title"/>
          </p:nvPr>
        </p:nvSpPr>
        <p:spPr>
          <a:xfrm>
            <a:off x="0" y="785794"/>
            <a:ext cx="9144000" cy="79957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366092"/>
              </a:buClr>
              <a:buSzPts val="3200"/>
              <a:buFont typeface="Gill Sans"/>
              <a:buNone/>
            </a:pPr>
            <a:r>
              <a:rPr b="1" lang="en-US" sz="3200">
                <a:solidFill>
                  <a:srgbClr val="366092"/>
                </a:solidFill>
                <a:latin typeface="Gill Sans"/>
                <a:ea typeface="Gill Sans"/>
                <a:cs typeface="Gill Sans"/>
                <a:sym typeface="Gill Sans"/>
              </a:rPr>
              <a:t>Ext – Extended File System</a:t>
            </a:r>
            <a:endParaRPr sz="3200">
              <a:latin typeface="Gill Sans"/>
              <a:ea typeface="Gill Sans"/>
              <a:cs typeface="Gill Sans"/>
              <a:sym typeface="Gill Sans"/>
            </a:endParaRPr>
          </a:p>
        </p:txBody>
      </p:sp>
      <p:sp>
        <p:nvSpPr>
          <p:cNvPr id="210" name="Google Shape;210;p5"/>
          <p:cNvSpPr txBox="1"/>
          <p:nvPr>
            <p:ph idx="1" type="body"/>
          </p:nvPr>
        </p:nvSpPr>
        <p:spPr>
          <a:xfrm>
            <a:off x="285720" y="1412776"/>
            <a:ext cx="8435280" cy="425132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None/>
            </a:pPr>
            <a:r>
              <a:t/>
            </a:r>
            <a:endParaRPr sz="2400">
              <a:latin typeface="Gill Sans"/>
              <a:ea typeface="Gill Sans"/>
              <a:cs typeface="Gill Sans"/>
              <a:sym typeface="Gill Sans"/>
            </a:endParaRPr>
          </a:p>
          <a:p>
            <a:pPr indent="-342900" lvl="0" marL="342900" rtl="0" algn="l">
              <a:spcBef>
                <a:spcPts val="480"/>
              </a:spcBef>
              <a:spcAft>
                <a:spcPts val="0"/>
              </a:spcAft>
              <a:buClr>
                <a:schemeClr val="dk1"/>
              </a:buClr>
              <a:buSzPts val="2400"/>
              <a:buChar char="•"/>
            </a:pPr>
            <a:r>
              <a:rPr lang="en-US" sz="2400"/>
              <a:t>Extended File System also called as first extended file system (Ext1)</a:t>
            </a:r>
            <a:endParaRPr/>
          </a:p>
          <a:p>
            <a:pPr indent="-342900" lvl="0" marL="342900" rtl="0" algn="l">
              <a:spcBef>
                <a:spcPts val="480"/>
              </a:spcBef>
              <a:spcAft>
                <a:spcPts val="0"/>
              </a:spcAft>
              <a:buClr>
                <a:schemeClr val="dk1"/>
              </a:buClr>
              <a:buSzPts val="2400"/>
              <a:buChar char="•"/>
            </a:pPr>
            <a:r>
              <a:rPr lang="en-US" sz="2400"/>
              <a:t>Released in April 1992 and added to Linux 0.96c. </a:t>
            </a:r>
            <a:endParaRPr/>
          </a:p>
          <a:p>
            <a:pPr indent="-342900" lvl="0" marL="342900" rtl="0" algn="l">
              <a:spcBef>
                <a:spcPts val="480"/>
              </a:spcBef>
              <a:spcAft>
                <a:spcPts val="0"/>
              </a:spcAft>
              <a:buClr>
                <a:schemeClr val="dk1"/>
              </a:buClr>
              <a:buSzPts val="2400"/>
              <a:buChar char="•"/>
            </a:pPr>
            <a:r>
              <a:rPr lang="en-US" sz="2400"/>
              <a:t>Limitations</a:t>
            </a:r>
            <a:endParaRPr/>
          </a:p>
          <a:p>
            <a:pPr indent="-285750" lvl="1" marL="742950" rtl="0" algn="l">
              <a:spcBef>
                <a:spcPts val="400"/>
              </a:spcBef>
              <a:spcAft>
                <a:spcPts val="0"/>
              </a:spcAft>
              <a:buClr>
                <a:schemeClr val="dk1"/>
              </a:buClr>
              <a:buSzPts val="2000"/>
              <a:buChar char="–"/>
            </a:pPr>
            <a:r>
              <a:rPr lang="en-US" sz="2000"/>
              <a:t>No Journaling</a:t>
            </a:r>
            <a:endParaRPr/>
          </a:p>
          <a:p>
            <a:pPr indent="-285750" lvl="1" marL="742950" rtl="0" algn="l">
              <a:spcBef>
                <a:spcPts val="400"/>
              </a:spcBef>
              <a:spcAft>
                <a:spcPts val="0"/>
              </a:spcAft>
              <a:buClr>
                <a:schemeClr val="dk1"/>
              </a:buClr>
              <a:buSzPts val="2000"/>
              <a:buChar char="–"/>
            </a:pPr>
            <a:r>
              <a:rPr lang="en-US" sz="2000"/>
              <a:t>No symbolic links</a:t>
            </a:r>
            <a:endParaRPr/>
          </a:p>
          <a:p>
            <a:pPr indent="-285750" lvl="1" marL="742950" rtl="0" algn="l">
              <a:spcBef>
                <a:spcPts val="400"/>
              </a:spcBef>
              <a:spcAft>
                <a:spcPts val="0"/>
              </a:spcAft>
              <a:buClr>
                <a:schemeClr val="dk1"/>
              </a:buClr>
              <a:buSzPts val="2000"/>
              <a:buChar char="–"/>
            </a:pPr>
            <a:r>
              <a:rPr lang="en-US" sz="2000"/>
              <a:t>Max file Size is 2 GB</a:t>
            </a:r>
            <a:endParaRPr/>
          </a:p>
          <a:p>
            <a:pPr indent="-285750" lvl="1" marL="742950" rtl="0" algn="l">
              <a:spcBef>
                <a:spcPts val="400"/>
              </a:spcBef>
              <a:spcAft>
                <a:spcPts val="0"/>
              </a:spcAft>
              <a:buClr>
                <a:schemeClr val="dk1"/>
              </a:buClr>
              <a:buSzPts val="2000"/>
              <a:buChar char="–"/>
            </a:pPr>
            <a:r>
              <a:rPr lang="en-US" sz="2000"/>
              <a:t>No extended attributes</a:t>
            </a:r>
            <a:endParaRPr/>
          </a:p>
          <a:p>
            <a:pPr indent="-158750" lvl="1" marL="742950" rtl="0" algn="l">
              <a:spcBef>
                <a:spcPts val="400"/>
              </a:spcBef>
              <a:spcAft>
                <a:spcPts val="0"/>
              </a:spcAft>
              <a:buClr>
                <a:schemeClr val="dk1"/>
              </a:buClr>
              <a:buSzPts val="2000"/>
              <a:buNone/>
            </a:pPr>
            <a:r>
              <a:t/>
            </a:r>
            <a:endParaRPr sz="2000"/>
          </a:p>
          <a:p>
            <a:pPr indent="-342900" lvl="0" marL="342900" rtl="0" algn="l">
              <a:lnSpc>
                <a:spcPct val="183333"/>
              </a:lnSpc>
              <a:spcBef>
                <a:spcPts val="480"/>
              </a:spcBef>
              <a:spcAft>
                <a:spcPts val="0"/>
              </a:spcAft>
              <a:buClr>
                <a:srgbClr val="366092"/>
              </a:buClr>
              <a:buSzPts val="2400"/>
              <a:buNone/>
            </a:pPr>
            <a:r>
              <a:t/>
            </a:r>
            <a:endParaRPr sz="2400"/>
          </a:p>
        </p:txBody>
      </p:sp>
      <p:sp>
        <p:nvSpPr>
          <p:cNvPr id="211" name="Google Shape;21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Blended Learning Program, IEEE                                                                       </a:t>
            </a:r>
            <a:endParaRPr/>
          </a:p>
        </p:txBody>
      </p:sp>
      <p:pic>
        <p:nvPicPr>
          <p:cNvPr descr="Displaying IEE-14-PIM-258_BLP_Type_Treatment-LAB-final-CMYK-OL-01.png" id="212" name="Google Shape;212;p5"/>
          <p:cNvPicPr preferRelativeResize="0"/>
          <p:nvPr/>
        </p:nvPicPr>
        <p:blipFill rotWithShape="1">
          <a:blip r:embed="rId4">
            <a:alphaModFix/>
          </a:blip>
          <a:srcRect b="0" l="0" r="0" t="0"/>
          <a:stretch/>
        </p:blipFill>
        <p:spPr>
          <a:xfrm>
            <a:off x="-252536" y="6202693"/>
            <a:ext cx="1872208" cy="65530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pic>
        <p:nvPicPr>
          <p:cNvPr descr="Free photo file folder document paper ui icon sign or symbol 3d rendering" id="218" name="Google Shape;218;p6"/>
          <p:cNvPicPr preferRelativeResize="0"/>
          <p:nvPr/>
        </p:nvPicPr>
        <p:blipFill rotWithShape="1">
          <a:blip r:embed="rId3">
            <a:alphaModFix/>
          </a:blip>
          <a:srcRect b="0" l="0" r="0" t="0"/>
          <a:stretch/>
        </p:blipFill>
        <p:spPr>
          <a:xfrm>
            <a:off x="3851920" y="2060848"/>
            <a:ext cx="5292079" cy="3755901"/>
          </a:xfrm>
          <a:prstGeom prst="rect">
            <a:avLst/>
          </a:prstGeom>
          <a:noFill/>
          <a:ln>
            <a:noFill/>
          </a:ln>
        </p:spPr>
      </p:pic>
      <p:sp>
        <p:nvSpPr>
          <p:cNvPr id="219" name="Google Shape;219;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366092"/>
              </a:buClr>
              <a:buSzPts val="2900"/>
              <a:buFont typeface="Gill Sans"/>
              <a:buNone/>
            </a:pPr>
            <a:r>
              <a:rPr b="1" lang="en-US" sz="2900">
                <a:solidFill>
                  <a:srgbClr val="366092"/>
                </a:solidFill>
                <a:latin typeface="Gill Sans"/>
                <a:ea typeface="Gill Sans"/>
                <a:cs typeface="Gill Sans"/>
                <a:sym typeface="Gill Sans"/>
              </a:rPr>
              <a:t>ext2 - Second Extended Filesystem</a:t>
            </a:r>
            <a:endParaRPr b="1" sz="2900">
              <a:solidFill>
                <a:srgbClr val="366092"/>
              </a:solidFill>
              <a:latin typeface="Gill Sans"/>
              <a:ea typeface="Gill Sans"/>
              <a:cs typeface="Gill Sans"/>
              <a:sym typeface="Gill Sans"/>
            </a:endParaRPr>
          </a:p>
        </p:txBody>
      </p:sp>
      <p:sp>
        <p:nvSpPr>
          <p:cNvPr id="220" name="Google Shape;220;p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None/>
            </a:pPr>
            <a:r>
              <a:rPr lang="en-US"/>
              <a:t>    </a:t>
            </a:r>
            <a:r>
              <a:rPr lang="en-US" sz="2400"/>
              <a:t>• Developed by Remi Card in January 1993</a:t>
            </a:r>
            <a:br>
              <a:rPr lang="en-US" sz="2400"/>
            </a:br>
            <a:r>
              <a:rPr lang="en-US" sz="2400"/>
              <a:t>• Replacement for extended file system</a:t>
            </a:r>
            <a:br>
              <a:rPr lang="en-US" sz="2400"/>
            </a:br>
            <a:r>
              <a:rPr lang="en-US" sz="2400"/>
              <a:t>• Key Features</a:t>
            </a:r>
            <a:endParaRPr/>
          </a:p>
          <a:p>
            <a:pPr indent="-285750" lvl="1" marL="742950" rtl="0" algn="l">
              <a:spcBef>
                <a:spcPts val="400"/>
              </a:spcBef>
              <a:spcAft>
                <a:spcPts val="0"/>
              </a:spcAft>
              <a:buClr>
                <a:schemeClr val="dk1"/>
              </a:buClr>
              <a:buSzPts val="2000"/>
              <a:buChar char="–"/>
            </a:pPr>
            <a:r>
              <a:rPr lang="en-US" sz="2000"/>
              <a:t>File permissions</a:t>
            </a:r>
            <a:endParaRPr/>
          </a:p>
          <a:p>
            <a:pPr indent="-285750" lvl="1" marL="742950" rtl="0" algn="l">
              <a:spcBef>
                <a:spcPts val="400"/>
              </a:spcBef>
              <a:spcAft>
                <a:spcPts val="0"/>
              </a:spcAft>
              <a:buClr>
                <a:schemeClr val="dk1"/>
              </a:buClr>
              <a:buSzPts val="2000"/>
              <a:buChar char="–"/>
            </a:pPr>
            <a:r>
              <a:rPr lang="en-US" sz="2000"/>
              <a:t>Large file support</a:t>
            </a:r>
            <a:endParaRPr/>
          </a:p>
          <a:p>
            <a:pPr indent="-285750" lvl="1" marL="742950" rtl="0" algn="l">
              <a:spcBef>
                <a:spcPts val="400"/>
              </a:spcBef>
              <a:spcAft>
                <a:spcPts val="0"/>
              </a:spcAft>
              <a:buClr>
                <a:schemeClr val="dk1"/>
              </a:buClr>
              <a:buSzPts val="2000"/>
              <a:buChar char="–"/>
            </a:pPr>
            <a:r>
              <a:rPr lang="en-US" sz="2000"/>
              <a:t>Large volume support</a:t>
            </a:r>
            <a:endParaRPr/>
          </a:p>
          <a:p>
            <a:pPr indent="-285750" lvl="1" marL="742950" rtl="0" algn="l">
              <a:spcBef>
                <a:spcPts val="400"/>
              </a:spcBef>
              <a:spcAft>
                <a:spcPts val="0"/>
              </a:spcAft>
              <a:buClr>
                <a:schemeClr val="dk1"/>
              </a:buClr>
              <a:buSzPts val="2000"/>
              <a:buChar char="–"/>
            </a:pPr>
            <a:r>
              <a:rPr lang="en-US" sz="2000"/>
              <a:t>Maximum Number of files : 10^18</a:t>
            </a:r>
            <a:endParaRPr/>
          </a:p>
          <a:p>
            <a:pPr indent="-285750" lvl="1" marL="742950" rtl="0" algn="l">
              <a:spcBef>
                <a:spcPts val="400"/>
              </a:spcBef>
              <a:spcAft>
                <a:spcPts val="0"/>
              </a:spcAft>
              <a:buClr>
                <a:schemeClr val="dk1"/>
              </a:buClr>
              <a:buSzPts val="2000"/>
              <a:buChar char="–"/>
            </a:pPr>
            <a:r>
              <a:rPr lang="en-US" sz="2000"/>
              <a:t>Directory Indexing</a:t>
            </a:r>
            <a:endParaRPr/>
          </a:p>
          <a:p>
            <a:pPr indent="-285750" lvl="1" marL="742950" rtl="0" algn="l">
              <a:spcBef>
                <a:spcPts val="400"/>
              </a:spcBef>
              <a:spcAft>
                <a:spcPts val="0"/>
              </a:spcAft>
              <a:buClr>
                <a:schemeClr val="dk1"/>
              </a:buClr>
              <a:buSzPts val="2000"/>
              <a:buChar char="–"/>
            </a:pPr>
            <a:r>
              <a:rPr lang="en-US" sz="2000"/>
              <a:t>Online Resizing</a:t>
            </a:r>
            <a:endParaRPr/>
          </a:p>
          <a:p>
            <a:pPr indent="-158750" lvl="1" marL="742950" rtl="0" algn="l">
              <a:spcBef>
                <a:spcPts val="400"/>
              </a:spcBef>
              <a:spcAft>
                <a:spcPts val="0"/>
              </a:spcAft>
              <a:buClr>
                <a:schemeClr val="dk1"/>
              </a:buClr>
              <a:buSzPts val="2000"/>
              <a:buNone/>
            </a:pPr>
            <a:r>
              <a:t/>
            </a:r>
            <a:endParaRPr sz="2000"/>
          </a:p>
          <a:p>
            <a:pPr indent="-342900" lvl="0" marL="342900" rtl="0" algn="l">
              <a:spcBef>
                <a:spcPts val="480"/>
              </a:spcBef>
              <a:spcAft>
                <a:spcPts val="0"/>
              </a:spcAft>
              <a:buClr>
                <a:schemeClr val="dk1"/>
              </a:buClr>
              <a:buSzPts val="2400"/>
              <a:buNone/>
            </a:pPr>
            <a:r>
              <a:t/>
            </a:r>
            <a:endParaRPr sz="2400"/>
          </a:p>
        </p:txBody>
      </p:sp>
      <p:sp>
        <p:nvSpPr>
          <p:cNvPr id="221" name="Google Shape;221;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Blended Learning Program, IEEE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pic>
        <p:nvPicPr>
          <p:cNvPr descr="Folder" id="227" name="Google Shape;227;p7"/>
          <p:cNvPicPr preferRelativeResize="0"/>
          <p:nvPr/>
        </p:nvPicPr>
        <p:blipFill rotWithShape="1">
          <a:blip r:embed="rId3">
            <a:alphaModFix/>
          </a:blip>
          <a:srcRect b="0" l="0" r="0" t="0"/>
          <a:stretch/>
        </p:blipFill>
        <p:spPr>
          <a:xfrm>
            <a:off x="1691680" y="1556792"/>
            <a:ext cx="5724525" cy="4954538"/>
          </a:xfrm>
          <a:prstGeom prst="rect">
            <a:avLst/>
          </a:prstGeom>
          <a:noFill/>
          <a:ln>
            <a:noFill/>
          </a:ln>
        </p:spPr>
      </p:pic>
      <p:sp>
        <p:nvSpPr>
          <p:cNvPr id="228" name="Google Shape;228;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366092"/>
              </a:buClr>
              <a:buSzPts val="2900"/>
              <a:buFont typeface="Gill Sans"/>
              <a:buNone/>
            </a:pPr>
            <a:r>
              <a:rPr b="1" lang="en-US" sz="2900">
                <a:solidFill>
                  <a:srgbClr val="366092"/>
                </a:solidFill>
                <a:latin typeface="Gill Sans"/>
                <a:ea typeface="Gill Sans"/>
                <a:cs typeface="Gill Sans"/>
                <a:sym typeface="Gill Sans"/>
              </a:rPr>
              <a:t>ext3 - Third Extended Filesystem</a:t>
            </a:r>
            <a:endParaRPr b="1" sz="2900">
              <a:solidFill>
                <a:srgbClr val="366092"/>
              </a:solidFill>
              <a:latin typeface="Gill Sans"/>
              <a:ea typeface="Gill Sans"/>
              <a:cs typeface="Gill Sans"/>
              <a:sym typeface="Gill Sans"/>
            </a:endParaRPr>
          </a:p>
        </p:txBody>
      </p:sp>
      <p:sp>
        <p:nvSpPr>
          <p:cNvPr id="229" name="Google Shape;229;p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600"/>
              <a:buNone/>
            </a:pPr>
            <a:r>
              <a:rPr lang="en-US" sz="2600"/>
              <a:t>     </a:t>
            </a:r>
            <a:r>
              <a:rPr lang="en-US" sz="2400"/>
              <a:t>• Developed by Stephen Tweedie in November 2001 </a:t>
            </a:r>
            <a:br>
              <a:rPr lang="en-US" sz="2400"/>
            </a:br>
            <a:r>
              <a:rPr lang="en-US" sz="2400"/>
              <a:t>• Key Features</a:t>
            </a:r>
            <a:endParaRPr/>
          </a:p>
          <a:p>
            <a:pPr indent="-285750" lvl="1" marL="742950" rtl="0" algn="l">
              <a:spcBef>
                <a:spcPts val="400"/>
              </a:spcBef>
              <a:spcAft>
                <a:spcPts val="0"/>
              </a:spcAft>
              <a:buClr>
                <a:schemeClr val="dk1"/>
              </a:buClr>
              <a:buSzPts val="2000"/>
              <a:buChar char="–"/>
            </a:pPr>
            <a:r>
              <a:rPr lang="en-US" sz="2000"/>
              <a:t>Journaled file system</a:t>
            </a:r>
            <a:endParaRPr/>
          </a:p>
          <a:p>
            <a:pPr indent="-285750" lvl="1" marL="742950" rtl="0" algn="l">
              <a:spcBef>
                <a:spcPts val="400"/>
              </a:spcBef>
              <a:spcAft>
                <a:spcPts val="0"/>
              </a:spcAft>
              <a:buClr>
                <a:schemeClr val="dk1"/>
              </a:buClr>
              <a:buSzPts val="2000"/>
              <a:buChar char="–"/>
            </a:pPr>
            <a:r>
              <a:rPr lang="en-US" sz="2000"/>
              <a:t>An Ext2 file system can be converted to Ext3 without any need of backup.</a:t>
            </a:r>
            <a:endParaRPr/>
          </a:p>
          <a:p>
            <a:pPr indent="-285750" lvl="1" marL="742950" rtl="0" algn="l">
              <a:spcBef>
                <a:spcPts val="400"/>
              </a:spcBef>
              <a:spcAft>
                <a:spcPts val="0"/>
              </a:spcAft>
              <a:buClr>
                <a:schemeClr val="dk1"/>
              </a:buClr>
              <a:buSzPts val="2000"/>
              <a:buChar char="–"/>
            </a:pPr>
            <a:r>
              <a:rPr lang="en-US" sz="2000"/>
              <a:t>Larger file and volume size is same as of Ext2</a:t>
            </a:r>
            <a:endParaRPr/>
          </a:p>
          <a:p>
            <a:pPr indent="-342900" lvl="0" marL="342900" rtl="0" algn="l">
              <a:spcBef>
                <a:spcPts val="480"/>
              </a:spcBef>
              <a:spcAft>
                <a:spcPts val="0"/>
              </a:spcAft>
              <a:buClr>
                <a:schemeClr val="dk1"/>
              </a:buClr>
              <a:buSzPts val="2400"/>
              <a:buNone/>
            </a:pPr>
            <a:br>
              <a:rPr lang="en-US" sz="2400"/>
            </a:br>
            <a:endParaRPr sz="2400"/>
          </a:p>
          <a:p>
            <a:pPr indent="-139700" lvl="0" marL="342900" rtl="0" algn="l">
              <a:spcBef>
                <a:spcPts val="640"/>
              </a:spcBef>
              <a:spcAft>
                <a:spcPts val="0"/>
              </a:spcAft>
              <a:buClr>
                <a:schemeClr val="dk1"/>
              </a:buClr>
              <a:buSzPts val="3200"/>
              <a:buNone/>
            </a:pPr>
            <a:r>
              <a:t/>
            </a:r>
            <a:endParaRPr/>
          </a:p>
        </p:txBody>
      </p:sp>
      <p:sp>
        <p:nvSpPr>
          <p:cNvPr id="230" name="Google Shape;230;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Blended Learning Program, IEEE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pic>
        <p:nvPicPr>
          <p:cNvPr descr="Lock with check mark sign" id="236" name="Google Shape;236;p8"/>
          <p:cNvPicPr preferRelativeResize="0"/>
          <p:nvPr/>
        </p:nvPicPr>
        <p:blipFill rotWithShape="1">
          <a:blip r:embed="rId3">
            <a:alphaModFix/>
          </a:blip>
          <a:srcRect b="0" l="0" r="0" t="0"/>
          <a:stretch/>
        </p:blipFill>
        <p:spPr>
          <a:xfrm>
            <a:off x="4405486" y="1196752"/>
            <a:ext cx="4738514" cy="4738514"/>
          </a:xfrm>
          <a:prstGeom prst="rect">
            <a:avLst/>
          </a:prstGeom>
          <a:noFill/>
          <a:ln>
            <a:noFill/>
          </a:ln>
        </p:spPr>
      </p:pic>
      <p:sp>
        <p:nvSpPr>
          <p:cNvPr id="237" name="Google Shape;237;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366092"/>
              </a:buClr>
              <a:buSzPts val="2900"/>
              <a:buFont typeface="Gill Sans"/>
              <a:buNone/>
            </a:pPr>
            <a:r>
              <a:rPr b="1" lang="en-US" sz="2900">
                <a:solidFill>
                  <a:srgbClr val="366092"/>
                </a:solidFill>
                <a:latin typeface="Gill Sans"/>
                <a:ea typeface="Gill Sans"/>
                <a:cs typeface="Gill Sans"/>
                <a:sym typeface="Gill Sans"/>
              </a:rPr>
              <a:t>ext4 - Fourth extended filesystem</a:t>
            </a:r>
            <a:endParaRPr b="1" sz="2900">
              <a:solidFill>
                <a:srgbClr val="366092"/>
              </a:solidFill>
              <a:latin typeface="Gill Sans"/>
              <a:ea typeface="Gill Sans"/>
              <a:cs typeface="Gill Sans"/>
              <a:sym typeface="Gill Sans"/>
            </a:endParaRPr>
          </a:p>
        </p:txBody>
      </p:sp>
      <p:sp>
        <p:nvSpPr>
          <p:cNvPr id="238" name="Google Shape;238;p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None/>
            </a:pPr>
            <a:r>
              <a:rPr lang="en-US" sz="2400"/>
              <a:t>     • </a:t>
            </a:r>
            <a:r>
              <a:rPr lang="en-US" sz="2600"/>
              <a:t>Released in October 2008 </a:t>
            </a:r>
            <a:br>
              <a:rPr lang="en-US" sz="2600"/>
            </a:br>
            <a:r>
              <a:rPr lang="en-US" sz="2400"/>
              <a:t>• Key Features</a:t>
            </a:r>
            <a:endParaRPr/>
          </a:p>
          <a:p>
            <a:pPr indent="-285750" lvl="1" marL="742950" rtl="0" algn="l">
              <a:spcBef>
                <a:spcPts val="400"/>
              </a:spcBef>
              <a:spcAft>
                <a:spcPts val="0"/>
              </a:spcAft>
              <a:buClr>
                <a:schemeClr val="dk1"/>
              </a:buClr>
              <a:buSzPts val="2000"/>
              <a:buChar char="–"/>
            </a:pPr>
            <a:r>
              <a:rPr lang="en-US" sz="2000"/>
              <a:t>Large file support: 16 TB (4K block size)</a:t>
            </a:r>
            <a:endParaRPr/>
          </a:p>
          <a:p>
            <a:pPr indent="-285750" lvl="1" marL="742950" rtl="0" algn="l">
              <a:spcBef>
                <a:spcPts val="400"/>
              </a:spcBef>
              <a:spcAft>
                <a:spcPts val="0"/>
              </a:spcAft>
              <a:buClr>
                <a:schemeClr val="dk1"/>
              </a:buClr>
              <a:buSzPts val="2000"/>
              <a:buChar char="–"/>
            </a:pPr>
            <a:r>
              <a:rPr lang="en-US" sz="2000"/>
              <a:t>Large volume support: 1 EB(16K block size)</a:t>
            </a:r>
            <a:endParaRPr/>
          </a:p>
          <a:p>
            <a:pPr indent="-285750" lvl="1" marL="742950" rtl="0" algn="l">
              <a:spcBef>
                <a:spcPts val="400"/>
              </a:spcBef>
              <a:spcAft>
                <a:spcPts val="0"/>
              </a:spcAft>
              <a:buClr>
                <a:schemeClr val="dk1"/>
              </a:buClr>
              <a:buSzPts val="2000"/>
              <a:buChar char="–"/>
            </a:pPr>
            <a:r>
              <a:rPr lang="en-US" sz="2000"/>
              <a:t>Online defragmentation</a:t>
            </a:r>
            <a:endParaRPr/>
          </a:p>
          <a:p>
            <a:pPr indent="-285750" lvl="1" marL="742950" rtl="0" algn="l">
              <a:spcBef>
                <a:spcPts val="400"/>
              </a:spcBef>
              <a:spcAft>
                <a:spcPts val="0"/>
              </a:spcAft>
              <a:buClr>
                <a:schemeClr val="dk1"/>
              </a:buClr>
              <a:buSzPts val="2000"/>
              <a:buChar char="–"/>
            </a:pPr>
            <a:r>
              <a:rPr lang="en-US" sz="2000"/>
              <a:t>Delayed allocation</a:t>
            </a:r>
            <a:endParaRPr/>
          </a:p>
          <a:p>
            <a:pPr indent="-285750" lvl="1" marL="742950" rtl="0" algn="l">
              <a:spcBef>
                <a:spcPts val="400"/>
              </a:spcBef>
              <a:spcAft>
                <a:spcPts val="0"/>
              </a:spcAft>
              <a:buClr>
                <a:schemeClr val="dk1"/>
              </a:buClr>
              <a:buSzPts val="2000"/>
              <a:buChar char="–"/>
            </a:pPr>
            <a:r>
              <a:rPr lang="en-US" sz="2000"/>
              <a:t>Encryption</a:t>
            </a:r>
            <a:endParaRPr/>
          </a:p>
          <a:p>
            <a:pPr indent="-285750" lvl="1" marL="742950" rtl="0" algn="l">
              <a:spcBef>
                <a:spcPts val="400"/>
              </a:spcBef>
              <a:spcAft>
                <a:spcPts val="0"/>
              </a:spcAft>
              <a:buClr>
                <a:schemeClr val="dk1"/>
              </a:buClr>
              <a:buSzPts val="2000"/>
              <a:buChar char="–"/>
            </a:pPr>
            <a:r>
              <a:rPr lang="en-US" sz="2000"/>
              <a:t>Maximum number of files: 4 billion </a:t>
            </a:r>
            <a:endParaRPr/>
          </a:p>
        </p:txBody>
      </p:sp>
      <p:sp>
        <p:nvSpPr>
          <p:cNvPr id="239" name="Google Shape;239;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Blended Learning Program, IEEE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4" name="Shape 244"/>
        <p:cNvGrpSpPr/>
        <p:nvPr/>
      </p:nvGrpSpPr>
      <p:grpSpPr>
        <a:xfrm>
          <a:off x="0" y="0"/>
          <a:ext cx="0" cy="0"/>
          <a:chOff x="0" y="0"/>
          <a:chExt cx="0" cy="0"/>
        </a:xfrm>
      </p:grpSpPr>
      <p:pic>
        <p:nvPicPr>
          <p:cNvPr descr="Digital personal files concept illustration" id="245" name="Google Shape;245;p9"/>
          <p:cNvPicPr preferRelativeResize="0"/>
          <p:nvPr/>
        </p:nvPicPr>
        <p:blipFill rotWithShape="1">
          <a:blip r:embed="rId3">
            <a:alphaModFix/>
          </a:blip>
          <a:srcRect b="0" l="0" r="0" t="0"/>
          <a:stretch/>
        </p:blipFill>
        <p:spPr>
          <a:xfrm>
            <a:off x="3901430" y="1196752"/>
            <a:ext cx="5242570" cy="5242570"/>
          </a:xfrm>
          <a:prstGeom prst="rect">
            <a:avLst/>
          </a:prstGeom>
          <a:noFill/>
          <a:ln>
            <a:noFill/>
          </a:ln>
        </p:spPr>
      </p:pic>
      <p:sp>
        <p:nvSpPr>
          <p:cNvPr id="246" name="Google Shape;246;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366092"/>
              </a:buClr>
              <a:buSzPts val="2900"/>
              <a:buFont typeface="Gill Sans"/>
              <a:buNone/>
            </a:pPr>
            <a:r>
              <a:rPr b="1" lang="en-US" sz="2900">
                <a:solidFill>
                  <a:srgbClr val="366092"/>
                </a:solidFill>
                <a:latin typeface="Gill Sans"/>
                <a:ea typeface="Gill Sans"/>
                <a:cs typeface="Gill Sans"/>
                <a:sym typeface="Gill Sans"/>
              </a:rPr>
              <a:t>XFS</a:t>
            </a:r>
            <a:endParaRPr b="1" sz="2900">
              <a:solidFill>
                <a:srgbClr val="366092"/>
              </a:solidFill>
              <a:latin typeface="Gill Sans"/>
              <a:ea typeface="Gill Sans"/>
              <a:cs typeface="Gill Sans"/>
              <a:sym typeface="Gill Sans"/>
            </a:endParaRPr>
          </a:p>
        </p:txBody>
      </p:sp>
      <p:sp>
        <p:nvSpPr>
          <p:cNvPr id="247" name="Google Shape;247;p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64-bit journaling file system developed by Silicon Graphics in 1994.</a:t>
            </a:r>
            <a:endParaRPr/>
          </a:p>
          <a:p>
            <a:pPr indent="-342900" lvl="0" marL="342900" rtl="0" algn="l">
              <a:spcBef>
                <a:spcPts val="480"/>
              </a:spcBef>
              <a:spcAft>
                <a:spcPts val="0"/>
              </a:spcAft>
              <a:buClr>
                <a:schemeClr val="dk1"/>
              </a:buClr>
              <a:buSzPts val="2400"/>
              <a:buChar char="•"/>
            </a:pPr>
            <a:r>
              <a:rPr lang="en-US" sz="2400"/>
              <a:t>Key Features</a:t>
            </a:r>
            <a:endParaRPr/>
          </a:p>
          <a:p>
            <a:pPr indent="-285750" lvl="1" marL="742950" rtl="0" algn="l">
              <a:spcBef>
                <a:spcPts val="400"/>
              </a:spcBef>
              <a:spcAft>
                <a:spcPts val="0"/>
              </a:spcAft>
              <a:buClr>
                <a:schemeClr val="dk1"/>
              </a:buClr>
              <a:buSzPts val="2000"/>
              <a:buChar char="–"/>
            </a:pPr>
            <a:r>
              <a:rPr lang="en-US" sz="2000"/>
              <a:t>Large file support – 8 EB</a:t>
            </a:r>
            <a:endParaRPr/>
          </a:p>
          <a:p>
            <a:pPr indent="-285750" lvl="1" marL="742950" rtl="0" algn="l">
              <a:spcBef>
                <a:spcPts val="400"/>
              </a:spcBef>
              <a:spcAft>
                <a:spcPts val="0"/>
              </a:spcAft>
              <a:buClr>
                <a:schemeClr val="dk1"/>
              </a:buClr>
              <a:buSzPts val="2000"/>
              <a:buChar char="–"/>
            </a:pPr>
            <a:r>
              <a:rPr lang="en-US" sz="2000"/>
              <a:t>Large volume support – 8 EB</a:t>
            </a:r>
            <a:endParaRPr/>
          </a:p>
          <a:p>
            <a:pPr indent="-285750" lvl="1" marL="742950" rtl="0" algn="l">
              <a:spcBef>
                <a:spcPts val="400"/>
              </a:spcBef>
              <a:spcAft>
                <a:spcPts val="0"/>
              </a:spcAft>
              <a:buClr>
                <a:schemeClr val="dk1"/>
              </a:buClr>
              <a:buSzPts val="2000"/>
              <a:buChar char="–"/>
            </a:pPr>
            <a:r>
              <a:rPr lang="en-US" sz="2000"/>
              <a:t>Scalability</a:t>
            </a:r>
            <a:endParaRPr/>
          </a:p>
          <a:p>
            <a:pPr indent="-285750" lvl="1" marL="742950" rtl="0" algn="l">
              <a:spcBef>
                <a:spcPts val="400"/>
              </a:spcBef>
              <a:spcAft>
                <a:spcPts val="0"/>
              </a:spcAft>
              <a:buClr>
                <a:schemeClr val="dk1"/>
              </a:buClr>
              <a:buSzPts val="2000"/>
              <a:buChar char="–"/>
            </a:pPr>
            <a:r>
              <a:rPr lang="en-US" sz="2000"/>
              <a:t>Online resizing</a:t>
            </a:r>
            <a:endParaRPr/>
          </a:p>
          <a:p>
            <a:pPr indent="-285750" lvl="1" marL="742950" rtl="0" algn="l">
              <a:spcBef>
                <a:spcPts val="400"/>
              </a:spcBef>
              <a:spcAft>
                <a:spcPts val="0"/>
              </a:spcAft>
              <a:buClr>
                <a:schemeClr val="dk1"/>
              </a:buClr>
              <a:buSzPts val="2000"/>
              <a:buChar char="–"/>
            </a:pPr>
            <a:r>
              <a:rPr lang="en-US" sz="2000"/>
              <a:t>Advanced features</a:t>
            </a:r>
            <a:endParaRPr/>
          </a:p>
          <a:p>
            <a:pPr indent="-342900" lvl="0" marL="342900" rtl="0" algn="l">
              <a:spcBef>
                <a:spcPts val="640"/>
              </a:spcBef>
              <a:spcAft>
                <a:spcPts val="0"/>
              </a:spcAft>
              <a:buClr>
                <a:schemeClr val="dk1"/>
              </a:buClr>
              <a:buSzPts val="3200"/>
              <a:buNone/>
            </a:pPr>
            <a:r>
              <a:t/>
            </a:r>
            <a:endParaRPr/>
          </a:p>
        </p:txBody>
      </p:sp>
      <p:sp>
        <p:nvSpPr>
          <p:cNvPr id="248" name="Google Shape;248;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Blended Learning Program, IEEE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g375d97e9ad3_0_0"/>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Formatting</a:t>
            </a:r>
            <a:r>
              <a:rPr lang="en-US"/>
              <a:t> a Partition</a:t>
            </a:r>
            <a:endParaRPr/>
          </a:p>
        </p:txBody>
      </p:sp>
      <p:sp>
        <p:nvSpPr>
          <p:cNvPr id="255" name="Google Shape;255;g375d97e9ad3_0_0"/>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lang="en-US" sz="2500"/>
              <a:t>Use Lsblk  or fdisk -l to view </a:t>
            </a:r>
            <a:r>
              <a:rPr lang="en-US" sz="2500"/>
              <a:t>partition</a:t>
            </a:r>
            <a:r>
              <a:rPr lang="en-US" sz="2500"/>
              <a:t> /disk you need to format</a:t>
            </a:r>
            <a:endParaRPr sz="2500"/>
          </a:p>
          <a:p>
            <a:pPr indent="0" lvl="0" marL="0" rtl="0" algn="l">
              <a:spcBef>
                <a:spcPts val="360"/>
              </a:spcBef>
              <a:spcAft>
                <a:spcPts val="0"/>
              </a:spcAft>
              <a:buClr>
                <a:schemeClr val="dk1"/>
              </a:buClr>
              <a:buSzPts val="1100"/>
              <a:buFont typeface="Arial"/>
              <a:buNone/>
            </a:pPr>
            <a:r>
              <a:rPr lang="en-US" sz="2500"/>
              <a:t>sudo fdisk /dev/sdb</a:t>
            </a:r>
            <a:endParaRPr sz="2500"/>
          </a:p>
          <a:p>
            <a:pPr indent="0" lvl="0" marL="0" rtl="0" algn="l">
              <a:lnSpc>
                <a:spcPct val="115000"/>
              </a:lnSpc>
              <a:spcBef>
                <a:spcPts val="1200"/>
              </a:spcBef>
              <a:spcAft>
                <a:spcPts val="0"/>
              </a:spcAft>
              <a:buNone/>
            </a:pPr>
            <a:r>
              <a:rPr lang="en-US" sz="1100">
                <a:latin typeface="Arial"/>
                <a:ea typeface="Arial"/>
                <a:cs typeface="Arial"/>
                <a:sym typeface="Arial"/>
              </a:rPr>
              <a:t>Inside </a:t>
            </a:r>
            <a:r>
              <a:rPr lang="en-US" sz="1100">
                <a:solidFill>
                  <a:srgbClr val="188038"/>
                </a:solidFill>
                <a:latin typeface="Roboto Mono"/>
                <a:ea typeface="Roboto Mono"/>
                <a:cs typeface="Roboto Mono"/>
                <a:sym typeface="Roboto Mono"/>
              </a:rPr>
              <a:t>fdisk</a:t>
            </a:r>
            <a:r>
              <a:rPr lang="en-US" sz="1100">
                <a:latin typeface="Arial"/>
                <a:ea typeface="Arial"/>
                <a:cs typeface="Arial"/>
                <a:sym typeface="Arial"/>
              </a:rPr>
              <a:t>, follow these prompts:</a:t>
            </a:r>
            <a:endParaRPr sz="1100">
              <a:latin typeface="Arial"/>
              <a:ea typeface="Arial"/>
              <a:cs typeface="Arial"/>
              <a:sym typeface="Arial"/>
            </a:endParaRPr>
          </a:p>
          <a:p>
            <a:pPr indent="-298450" lvl="0" marL="457200" rtl="0" algn="l">
              <a:lnSpc>
                <a:spcPct val="115000"/>
              </a:lnSpc>
              <a:spcBef>
                <a:spcPts val="1200"/>
              </a:spcBef>
              <a:spcAft>
                <a:spcPts val="0"/>
              </a:spcAft>
              <a:buSzPts val="1100"/>
              <a:buChar char="●"/>
            </a:pPr>
            <a:r>
              <a:rPr lang="en-US" sz="1100">
                <a:latin typeface="Arial"/>
                <a:ea typeface="Arial"/>
                <a:cs typeface="Arial"/>
                <a:sym typeface="Arial"/>
              </a:rPr>
              <a:t>Press </a:t>
            </a:r>
            <a:r>
              <a:rPr lang="en-US" sz="1100">
                <a:solidFill>
                  <a:srgbClr val="188038"/>
                </a:solidFill>
                <a:latin typeface="Roboto Mono"/>
                <a:ea typeface="Roboto Mono"/>
                <a:cs typeface="Roboto Mono"/>
                <a:sym typeface="Roboto Mono"/>
              </a:rPr>
              <a:t>n</a:t>
            </a:r>
            <a:r>
              <a:rPr lang="en-US" sz="1100">
                <a:latin typeface="Arial"/>
                <a:ea typeface="Arial"/>
                <a:cs typeface="Arial"/>
                <a:sym typeface="Arial"/>
              </a:rPr>
              <a:t> to create a new partition</a:t>
            </a:r>
            <a:endParaRPr sz="1100">
              <a:latin typeface="Arial"/>
              <a:ea typeface="Arial"/>
              <a:cs typeface="Arial"/>
              <a:sym typeface="Arial"/>
            </a:endParaRPr>
          </a:p>
          <a:p>
            <a:pPr indent="-298450" lvl="0" marL="457200" rtl="0" algn="l">
              <a:lnSpc>
                <a:spcPct val="115000"/>
              </a:lnSpc>
              <a:spcBef>
                <a:spcPts val="0"/>
              </a:spcBef>
              <a:spcAft>
                <a:spcPts val="0"/>
              </a:spcAft>
              <a:buSzPts val="1100"/>
              <a:buChar char="●"/>
            </a:pPr>
            <a:r>
              <a:rPr lang="en-US" sz="1100">
                <a:latin typeface="Arial"/>
                <a:ea typeface="Arial"/>
                <a:cs typeface="Arial"/>
                <a:sym typeface="Arial"/>
              </a:rPr>
              <a:t>Choose </a:t>
            </a:r>
            <a:r>
              <a:rPr lang="en-US" sz="1100">
                <a:solidFill>
                  <a:srgbClr val="188038"/>
                </a:solidFill>
                <a:latin typeface="Roboto Mono"/>
                <a:ea typeface="Roboto Mono"/>
                <a:cs typeface="Roboto Mono"/>
                <a:sym typeface="Roboto Mono"/>
              </a:rPr>
              <a:t>p</a:t>
            </a:r>
            <a:r>
              <a:rPr lang="en-US" sz="1100">
                <a:latin typeface="Arial"/>
                <a:ea typeface="Arial"/>
                <a:cs typeface="Arial"/>
                <a:sym typeface="Arial"/>
              </a:rPr>
              <a:t> for primary</a:t>
            </a:r>
            <a:endParaRPr sz="1100">
              <a:latin typeface="Arial"/>
              <a:ea typeface="Arial"/>
              <a:cs typeface="Arial"/>
              <a:sym typeface="Arial"/>
            </a:endParaRPr>
          </a:p>
          <a:p>
            <a:pPr indent="-298450" lvl="0" marL="457200" rtl="0" algn="l">
              <a:lnSpc>
                <a:spcPct val="115000"/>
              </a:lnSpc>
              <a:spcBef>
                <a:spcPts val="0"/>
              </a:spcBef>
              <a:spcAft>
                <a:spcPts val="0"/>
              </a:spcAft>
              <a:buSzPts val="1100"/>
              <a:buChar char="●"/>
            </a:pPr>
            <a:r>
              <a:rPr lang="en-US" sz="1100">
                <a:latin typeface="Arial"/>
                <a:ea typeface="Arial"/>
                <a:cs typeface="Arial"/>
                <a:sym typeface="Arial"/>
              </a:rPr>
              <a:t>Accept default partition number (usually 1)</a:t>
            </a:r>
            <a:endParaRPr sz="1100">
              <a:latin typeface="Arial"/>
              <a:ea typeface="Arial"/>
              <a:cs typeface="Arial"/>
              <a:sym typeface="Arial"/>
            </a:endParaRPr>
          </a:p>
          <a:p>
            <a:pPr indent="-298450" lvl="0" marL="457200" rtl="0" algn="l">
              <a:lnSpc>
                <a:spcPct val="115000"/>
              </a:lnSpc>
              <a:spcBef>
                <a:spcPts val="0"/>
              </a:spcBef>
              <a:spcAft>
                <a:spcPts val="0"/>
              </a:spcAft>
              <a:buSzPts val="1100"/>
              <a:buChar char="●"/>
            </a:pPr>
            <a:r>
              <a:rPr lang="en-US" sz="1100">
                <a:latin typeface="Arial"/>
                <a:ea typeface="Arial"/>
                <a:cs typeface="Arial"/>
                <a:sym typeface="Arial"/>
              </a:rPr>
              <a:t>Accept default first and last sectors (or specify size)</a:t>
            </a:r>
            <a:endParaRPr sz="1100">
              <a:latin typeface="Arial"/>
              <a:ea typeface="Arial"/>
              <a:cs typeface="Arial"/>
              <a:sym typeface="Arial"/>
            </a:endParaRPr>
          </a:p>
          <a:p>
            <a:pPr indent="-298450" lvl="0" marL="457200" rtl="0" algn="l">
              <a:lnSpc>
                <a:spcPct val="115000"/>
              </a:lnSpc>
              <a:spcBef>
                <a:spcPts val="0"/>
              </a:spcBef>
              <a:spcAft>
                <a:spcPts val="0"/>
              </a:spcAft>
              <a:buSzPts val="1100"/>
              <a:buChar char="●"/>
            </a:pPr>
            <a:r>
              <a:rPr lang="en-US" sz="1100">
                <a:latin typeface="Arial"/>
                <a:ea typeface="Arial"/>
                <a:cs typeface="Arial"/>
                <a:sym typeface="Arial"/>
              </a:rPr>
              <a:t>Press </a:t>
            </a:r>
            <a:r>
              <a:rPr lang="en-US" sz="1100">
                <a:solidFill>
                  <a:srgbClr val="188038"/>
                </a:solidFill>
                <a:latin typeface="Roboto Mono"/>
                <a:ea typeface="Roboto Mono"/>
                <a:cs typeface="Roboto Mono"/>
                <a:sym typeface="Roboto Mono"/>
              </a:rPr>
              <a:t>w</a:t>
            </a:r>
            <a:r>
              <a:rPr lang="en-US" sz="1100">
                <a:latin typeface="Arial"/>
                <a:ea typeface="Arial"/>
                <a:cs typeface="Arial"/>
                <a:sym typeface="Arial"/>
              </a:rPr>
              <a:t> to write changes</a:t>
            </a:r>
            <a:endParaRPr sz="11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This creates </a:t>
            </a:r>
            <a:r>
              <a:rPr lang="en-US" sz="1100">
                <a:solidFill>
                  <a:srgbClr val="188038"/>
                </a:solidFill>
                <a:latin typeface="Roboto Mono"/>
                <a:ea typeface="Roboto Mono"/>
                <a:cs typeface="Roboto Mono"/>
                <a:sym typeface="Roboto Mono"/>
              </a:rPr>
              <a:t>/dev/sdb1</a:t>
            </a:r>
            <a:endParaRPr sz="1100">
              <a:solidFill>
                <a:srgbClr val="188038"/>
              </a:solidFill>
              <a:latin typeface="Roboto Mono"/>
              <a:ea typeface="Roboto Mono"/>
              <a:cs typeface="Roboto Mono"/>
              <a:sym typeface="Roboto Mono"/>
            </a:endParaRPr>
          </a:p>
          <a:p>
            <a:pPr indent="0" lvl="0" marL="0" rtl="0" algn="l">
              <a:lnSpc>
                <a:spcPct val="115000"/>
              </a:lnSpc>
              <a:spcBef>
                <a:spcPts val="1200"/>
              </a:spcBef>
              <a:spcAft>
                <a:spcPts val="0"/>
              </a:spcAft>
              <a:buNone/>
            </a:pPr>
            <a:r>
              <a:rPr b="1" lang="en-US" sz="1600">
                <a:solidFill>
                  <a:srgbClr val="188038"/>
                </a:solidFill>
                <a:latin typeface="Roboto Mono"/>
                <a:ea typeface="Roboto Mono"/>
                <a:cs typeface="Roboto Mono"/>
                <a:sym typeface="Roboto Mono"/>
              </a:rPr>
              <a:t>sudo mkfs.ext4 /dev/sdb1</a:t>
            </a:r>
            <a:endParaRPr b="1" sz="1600">
              <a:solidFill>
                <a:srgbClr val="188038"/>
              </a:solidFill>
              <a:latin typeface="Roboto Mono"/>
              <a:ea typeface="Roboto Mono"/>
              <a:cs typeface="Roboto Mono"/>
              <a:sym typeface="Roboto Mono"/>
            </a:endParaRPr>
          </a:p>
          <a:p>
            <a:pPr indent="0" lvl="0" marL="0" rtl="0" algn="l">
              <a:lnSpc>
                <a:spcPct val="115000"/>
              </a:lnSpc>
              <a:spcBef>
                <a:spcPts val="1200"/>
              </a:spcBef>
              <a:spcAft>
                <a:spcPts val="0"/>
              </a:spcAft>
              <a:buNone/>
            </a:pPr>
            <a:r>
              <a:rPr b="1" lang="en-US" sz="1600">
                <a:solidFill>
                  <a:srgbClr val="188038"/>
                </a:solidFill>
                <a:latin typeface="Roboto Mono"/>
                <a:ea typeface="Roboto Mono"/>
                <a:cs typeface="Roboto Mono"/>
                <a:sym typeface="Roboto Mono"/>
              </a:rPr>
              <a:t>sudo mkdir /mnt/newdisk</a:t>
            </a:r>
            <a:endParaRPr b="1" sz="1600">
              <a:solidFill>
                <a:srgbClr val="188038"/>
              </a:solidFill>
              <a:latin typeface="Roboto Mono"/>
              <a:ea typeface="Roboto Mono"/>
              <a:cs typeface="Roboto Mono"/>
              <a:sym typeface="Roboto Mono"/>
            </a:endParaRPr>
          </a:p>
          <a:p>
            <a:pPr indent="0" lvl="0" marL="0" rtl="0" algn="l">
              <a:lnSpc>
                <a:spcPct val="115000"/>
              </a:lnSpc>
              <a:spcBef>
                <a:spcPts val="1200"/>
              </a:spcBef>
              <a:spcAft>
                <a:spcPts val="0"/>
              </a:spcAft>
              <a:buNone/>
            </a:pPr>
            <a:r>
              <a:rPr b="1" lang="en-US" sz="1600">
                <a:solidFill>
                  <a:srgbClr val="188038"/>
                </a:solidFill>
                <a:latin typeface="Roboto Mono"/>
                <a:ea typeface="Roboto Mono"/>
                <a:cs typeface="Roboto Mono"/>
                <a:sym typeface="Roboto Mono"/>
              </a:rPr>
              <a:t>sudo mount /dev/sdb1 /mnt/newdisk</a:t>
            </a:r>
            <a:endParaRPr b="1" sz="1600">
              <a:solidFill>
                <a:srgbClr val="188038"/>
              </a:solidFill>
              <a:latin typeface="Roboto Mono"/>
              <a:ea typeface="Roboto Mono"/>
              <a:cs typeface="Roboto Mono"/>
              <a:sym typeface="Roboto Mono"/>
            </a:endParaRPr>
          </a:p>
          <a:p>
            <a:pPr indent="0" lvl="0" marL="0" rtl="0" algn="l">
              <a:lnSpc>
                <a:spcPct val="115000"/>
              </a:lnSpc>
              <a:spcBef>
                <a:spcPts val="1200"/>
              </a:spcBef>
              <a:spcAft>
                <a:spcPts val="1200"/>
              </a:spcAft>
              <a:buNone/>
            </a:pPr>
            <a:r>
              <a:rPr b="1" lang="en-US" sz="1600">
                <a:solidFill>
                  <a:srgbClr val="188038"/>
                </a:solidFill>
                <a:latin typeface="Roboto Mono"/>
                <a:ea typeface="Roboto Mono"/>
                <a:cs typeface="Roboto Mono"/>
                <a:sym typeface="Roboto Mono"/>
              </a:rPr>
              <a:t>df -h</a:t>
            </a:r>
            <a:endParaRPr b="1" sz="1600">
              <a:solidFill>
                <a:srgbClr val="188038"/>
              </a:solidFill>
              <a:latin typeface="Roboto Mono"/>
              <a:ea typeface="Roboto Mono"/>
              <a:cs typeface="Roboto Mono"/>
              <a:sym typeface="Roboto Mon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g375d97e9ad3_0_23"/>
          <p:cNvSpPr txBox="1"/>
          <p:nvPr>
            <p:ph type="title"/>
          </p:nvPr>
        </p:nvSpPr>
        <p:spPr>
          <a:xfrm>
            <a:off x="457200" y="274638"/>
            <a:ext cx="8229600" cy="11430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df - report file system disk space usage</a:t>
            </a:r>
            <a:endParaRPr/>
          </a:p>
        </p:txBody>
      </p:sp>
      <p:pic>
        <p:nvPicPr>
          <p:cNvPr id="262" name="Google Shape;262;g375d97e9ad3_0_23"/>
          <p:cNvPicPr preferRelativeResize="0"/>
          <p:nvPr/>
        </p:nvPicPr>
        <p:blipFill>
          <a:blip r:embed="rId3">
            <a:alphaModFix/>
          </a:blip>
          <a:stretch>
            <a:fillRect/>
          </a:stretch>
        </p:blipFill>
        <p:spPr>
          <a:xfrm>
            <a:off x="457200" y="1369400"/>
            <a:ext cx="8526126" cy="47569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g375d97e9ad3_0_30"/>
          <p:cNvSpPr txBox="1"/>
          <p:nvPr>
            <p:ph type="title"/>
          </p:nvPr>
        </p:nvSpPr>
        <p:spPr>
          <a:xfrm>
            <a:off x="457200" y="274638"/>
            <a:ext cx="8229600" cy="11430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fdisk- to list and manipulate disk partitions</a:t>
            </a:r>
            <a:endParaRPr/>
          </a:p>
        </p:txBody>
      </p:sp>
      <p:pic>
        <p:nvPicPr>
          <p:cNvPr id="269" name="Google Shape;269;g375d97e9ad3_0_30"/>
          <p:cNvPicPr preferRelativeResize="0"/>
          <p:nvPr/>
        </p:nvPicPr>
        <p:blipFill>
          <a:blip r:embed="rId3">
            <a:alphaModFix/>
          </a:blip>
          <a:stretch>
            <a:fillRect/>
          </a:stretch>
        </p:blipFill>
        <p:spPr>
          <a:xfrm>
            <a:off x="615500" y="1417654"/>
            <a:ext cx="7710651" cy="52437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pic>
        <p:nvPicPr>
          <p:cNvPr descr="Circuit board tree symbol" id="275" name="Google Shape;275;p10"/>
          <p:cNvPicPr preferRelativeResize="0"/>
          <p:nvPr/>
        </p:nvPicPr>
        <p:blipFill rotWithShape="1">
          <a:blip r:embed="rId3">
            <a:alphaModFix/>
          </a:blip>
          <a:srcRect b="0" l="0" r="0" t="0"/>
          <a:stretch/>
        </p:blipFill>
        <p:spPr>
          <a:xfrm>
            <a:off x="4716016" y="0"/>
            <a:ext cx="4427984" cy="6858000"/>
          </a:xfrm>
          <a:prstGeom prst="rect">
            <a:avLst/>
          </a:prstGeom>
          <a:noFill/>
          <a:ln>
            <a:noFill/>
          </a:ln>
        </p:spPr>
      </p:pic>
      <p:sp>
        <p:nvSpPr>
          <p:cNvPr id="276" name="Google Shape;276;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366092"/>
              </a:buClr>
              <a:buSzPts val="3200"/>
              <a:buFont typeface="Gill Sans"/>
              <a:buNone/>
            </a:pPr>
            <a:r>
              <a:rPr b="1" lang="en-US" sz="3200">
                <a:solidFill>
                  <a:srgbClr val="366092"/>
                </a:solidFill>
                <a:latin typeface="Gill Sans"/>
                <a:ea typeface="Gill Sans"/>
                <a:cs typeface="Gill Sans"/>
                <a:sym typeface="Gill Sans"/>
              </a:rPr>
              <a:t>Linux File System Structure</a:t>
            </a:r>
            <a:endParaRPr/>
          </a:p>
        </p:txBody>
      </p:sp>
      <p:sp>
        <p:nvSpPr>
          <p:cNvPr id="277" name="Google Shape;277;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274320" lvl="0" marL="274320" rtl="0" algn="l">
              <a:lnSpc>
                <a:spcPct val="80000"/>
              </a:lnSpc>
              <a:spcBef>
                <a:spcPts val="0"/>
              </a:spcBef>
              <a:spcAft>
                <a:spcPts val="0"/>
              </a:spcAft>
              <a:buClr>
                <a:schemeClr val="dk1"/>
              </a:buClr>
              <a:buSzPts val="1400"/>
              <a:buFont typeface="Noto Sans Symbols"/>
              <a:buChar char="⚫"/>
            </a:pPr>
            <a:r>
              <a:rPr lang="en-US" sz="1400">
                <a:latin typeface="Courier New"/>
                <a:ea typeface="Courier New"/>
                <a:cs typeface="Courier New"/>
                <a:sym typeface="Courier New"/>
              </a:rPr>
              <a:t>/home</a:t>
            </a:r>
            <a:r>
              <a:rPr lang="en-US" sz="1400"/>
              <a:t> </a:t>
            </a:r>
            <a:endParaRPr/>
          </a:p>
          <a:p>
            <a:pPr indent="-285750" lvl="1" marL="548640" rtl="0" algn="l">
              <a:lnSpc>
                <a:spcPct val="80000"/>
              </a:lnSpc>
              <a:spcBef>
                <a:spcPts val="370"/>
              </a:spcBef>
              <a:spcAft>
                <a:spcPts val="0"/>
              </a:spcAft>
              <a:buClr>
                <a:schemeClr val="dk1"/>
              </a:buClr>
              <a:buSzPts val="1400"/>
              <a:buFont typeface="Noto Sans Symbols"/>
              <a:buChar char="⚫"/>
            </a:pPr>
            <a:r>
              <a:rPr lang="en-US" sz="1400"/>
              <a:t>Default location for user home directories</a:t>
            </a:r>
            <a:endParaRPr/>
          </a:p>
          <a:p>
            <a:pPr indent="-274320" lvl="0" marL="274320" rtl="0" algn="l">
              <a:lnSpc>
                <a:spcPct val="80000"/>
              </a:lnSpc>
              <a:spcBef>
                <a:spcPts val="580"/>
              </a:spcBef>
              <a:spcAft>
                <a:spcPts val="0"/>
              </a:spcAft>
              <a:buClr>
                <a:schemeClr val="dk1"/>
              </a:buClr>
              <a:buSzPts val="1400"/>
              <a:buFont typeface="Noto Sans Symbols"/>
              <a:buChar char="⚫"/>
            </a:pPr>
            <a:r>
              <a:rPr lang="en-US" sz="1400">
                <a:latin typeface="Courier New"/>
                <a:ea typeface="Courier New"/>
                <a:cs typeface="Courier New"/>
                <a:sym typeface="Courier New"/>
              </a:rPr>
              <a:t>/bin</a:t>
            </a:r>
            <a:r>
              <a:rPr lang="en-US" sz="1400"/>
              <a:t>, </a:t>
            </a:r>
            <a:r>
              <a:rPr lang="en-US" sz="1400">
                <a:latin typeface="Courier New"/>
                <a:ea typeface="Courier New"/>
                <a:cs typeface="Courier New"/>
                <a:sym typeface="Courier New"/>
              </a:rPr>
              <a:t>/usr/bin</a:t>
            </a:r>
            <a:r>
              <a:rPr lang="en-US" sz="1400"/>
              <a:t> </a:t>
            </a:r>
            <a:endParaRPr/>
          </a:p>
          <a:p>
            <a:pPr indent="-285750" lvl="1" marL="548640" rtl="0" algn="l">
              <a:lnSpc>
                <a:spcPct val="80000"/>
              </a:lnSpc>
              <a:spcBef>
                <a:spcPts val="370"/>
              </a:spcBef>
              <a:spcAft>
                <a:spcPts val="0"/>
              </a:spcAft>
              <a:buClr>
                <a:schemeClr val="dk1"/>
              </a:buClr>
              <a:buSzPts val="1400"/>
              <a:buFont typeface="Noto Sans Symbols"/>
              <a:buChar char="⚫"/>
            </a:pPr>
            <a:r>
              <a:rPr lang="en-US" sz="1400"/>
              <a:t>system commands</a:t>
            </a:r>
            <a:endParaRPr/>
          </a:p>
          <a:p>
            <a:pPr indent="-274320" lvl="0" marL="274320" rtl="0" algn="l">
              <a:lnSpc>
                <a:spcPct val="80000"/>
              </a:lnSpc>
              <a:spcBef>
                <a:spcPts val="580"/>
              </a:spcBef>
              <a:spcAft>
                <a:spcPts val="0"/>
              </a:spcAft>
              <a:buClr>
                <a:schemeClr val="dk1"/>
              </a:buClr>
              <a:buSzPts val="1400"/>
              <a:buFont typeface="Noto Sans Symbols"/>
              <a:buChar char="⚫"/>
            </a:pPr>
            <a:r>
              <a:rPr lang="en-US" sz="1400">
                <a:latin typeface="Courier New"/>
                <a:ea typeface="Courier New"/>
                <a:cs typeface="Courier New"/>
                <a:sym typeface="Courier New"/>
              </a:rPr>
              <a:t>/sbin</a:t>
            </a:r>
            <a:r>
              <a:rPr lang="en-US" sz="1400"/>
              <a:t>, </a:t>
            </a:r>
            <a:r>
              <a:rPr lang="en-US" sz="1400">
                <a:latin typeface="Courier New"/>
                <a:ea typeface="Courier New"/>
                <a:cs typeface="Courier New"/>
                <a:sym typeface="Courier New"/>
              </a:rPr>
              <a:t>/usr/sbin</a:t>
            </a:r>
            <a:r>
              <a:rPr lang="en-US" sz="1400"/>
              <a:t> </a:t>
            </a:r>
            <a:endParaRPr/>
          </a:p>
          <a:p>
            <a:pPr indent="-285750" lvl="1" marL="548640" rtl="0" algn="l">
              <a:lnSpc>
                <a:spcPct val="80000"/>
              </a:lnSpc>
              <a:spcBef>
                <a:spcPts val="370"/>
              </a:spcBef>
              <a:spcAft>
                <a:spcPts val="0"/>
              </a:spcAft>
              <a:buClr>
                <a:schemeClr val="dk1"/>
              </a:buClr>
              <a:buSzPts val="1400"/>
              <a:buFont typeface="Noto Sans Symbols"/>
              <a:buChar char="⚫"/>
            </a:pPr>
            <a:r>
              <a:rPr lang="en-US" sz="1400"/>
              <a:t>Commands used by System Administrator </a:t>
            </a:r>
            <a:endParaRPr/>
          </a:p>
          <a:p>
            <a:pPr indent="-274320" lvl="0" marL="274320" rtl="0" algn="l">
              <a:lnSpc>
                <a:spcPct val="80000"/>
              </a:lnSpc>
              <a:spcBef>
                <a:spcPts val="580"/>
              </a:spcBef>
              <a:spcAft>
                <a:spcPts val="0"/>
              </a:spcAft>
              <a:buClr>
                <a:schemeClr val="dk1"/>
              </a:buClr>
              <a:buSzPts val="1400"/>
              <a:buFont typeface="Noto Sans Symbols"/>
              <a:buChar char="⚫"/>
            </a:pPr>
            <a:r>
              <a:rPr lang="en-US" sz="1400">
                <a:latin typeface="Courier New"/>
                <a:ea typeface="Courier New"/>
                <a:cs typeface="Courier New"/>
                <a:sym typeface="Courier New"/>
              </a:rPr>
              <a:t>/etc</a:t>
            </a:r>
            <a:endParaRPr/>
          </a:p>
          <a:p>
            <a:pPr indent="-285750" lvl="1" marL="548640" rtl="0" algn="l">
              <a:lnSpc>
                <a:spcPct val="80000"/>
              </a:lnSpc>
              <a:spcBef>
                <a:spcPts val="370"/>
              </a:spcBef>
              <a:spcAft>
                <a:spcPts val="0"/>
              </a:spcAft>
              <a:buClr>
                <a:schemeClr val="dk1"/>
              </a:buClr>
              <a:buSzPts val="1400"/>
              <a:buFont typeface="Noto Sans Symbols"/>
              <a:buChar char="⚫"/>
            </a:pPr>
            <a:r>
              <a:rPr lang="en-US" sz="1400"/>
              <a:t>All sorts of configuration files</a:t>
            </a:r>
            <a:endParaRPr/>
          </a:p>
          <a:p>
            <a:pPr indent="-274320" lvl="0" marL="274320" rtl="0" algn="l">
              <a:lnSpc>
                <a:spcPct val="80000"/>
              </a:lnSpc>
              <a:spcBef>
                <a:spcPts val="580"/>
              </a:spcBef>
              <a:spcAft>
                <a:spcPts val="0"/>
              </a:spcAft>
              <a:buClr>
                <a:schemeClr val="dk1"/>
              </a:buClr>
              <a:buSzPts val="1400"/>
              <a:buFont typeface="Noto Sans Symbols"/>
              <a:buChar char="⚫"/>
            </a:pPr>
            <a:r>
              <a:rPr lang="en-US" sz="1400">
                <a:latin typeface="Courier New"/>
                <a:ea typeface="Courier New"/>
                <a:cs typeface="Courier New"/>
                <a:sym typeface="Courier New"/>
              </a:rPr>
              <a:t>/var</a:t>
            </a:r>
            <a:endParaRPr sz="1400">
              <a:latin typeface="Courier New"/>
              <a:ea typeface="Courier New"/>
              <a:cs typeface="Courier New"/>
              <a:sym typeface="Courier New"/>
            </a:endParaRPr>
          </a:p>
          <a:p>
            <a:pPr indent="-285750" lvl="1" marL="548640" rtl="0" algn="l">
              <a:lnSpc>
                <a:spcPct val="80000"/>
              </a:lnSpc>
              <a:spcBef>
                <a:spcPts val="370"/>
              </a:spcBef>
              <a:spcAft>
                <a:spcPts val="0"/>
              </a:spcAft>
              <a:buClr>
                <a:schemeClr val="dk1"/>
              </a:buClr>
              <a:buSzPts val="1400"/>
              <a:buFont typeface="Noto Sans Symbols"/>
              <a:buChar char="⚫"/>
            </a:pPr>
            <a:r>
              <a:rPr lang="en-US" sz="1400"/>
              <a:t>Contains log files and spools directories etc.</a:t>
            </a:r>
            <a:endParaRPr/>
          </a:p>
          <a:p>
            <a:pPr indent="-274320" lvl="0" marL="274320" rtl="0" algn="l">
              <a:lnSpc>
                <a:spcPct val="80000"/>
              </a:lnSpc>
              <a:spcBef>
                <a:spcPts val="580"/>
              </a:spcBef>
              <a:spcAft>
                <a:spcPts val="0"/>
              </a:spcAft>
              <a:buClr>
                <a:schemeClr val="dk1"/>
              </a:buClr>
              <a:buSzPts val="1400"/>
              <a:buFont typeface="Noto Sans Symbols"/>
              <a:buChar char="⚫"/>
            </a:pPr>
            <a:r>
              <a:rPr lang="en-US" sz="1400">
                <a:latin typeface="Courier New"/>
                <a:ea typeface="Courier New"/>
                <a:cs typeface="Courier New"/>
                <a:sym typeface="Courier New"/>
              </a:rPr>
              <a:t>/dev</a:t>
            </a:r>
            <a:endParaRPr/>
          </a:p>
          <a:p>
            <a:pPr indent="-285750" lvl="1" marL="548640" rtl="0" algn="l">
              <a:lnSpc>
                <a:spcPct val="80000"/>
              </a:lnSpc>
              <a:spcBef>
                <a:spcPts val="370"/>
              </a:spcBef>
              <a:spcAft>
                <a:spcPts val="0"/>
              </a:spcAft>
              <a:buClr>
                <a:schemeClr val="dk1"/>
              </a:buClr>
              <a:buSzPts val="1400"/>
              <a:buFont typeface="Noto Sans Symbols"/>
              <a:buChar char="⚫"/>
            </a:pPr>
            <a:r>
              <a:rPr lang="en-US" sz="1400"/>
              <a:t>device files</a:t>
            </a:r>
            <a:endParaRPr/>
          </a:p>
          <a:p>
            <a:pPr indent="-274320" lvl="0" marL="274320" rtl="0" algn="l">
              <a:lnSpc>
                <a:spcPct val="80000"/>
              </a:lnSpc>
              <a:spcBef>
                <a:spcPts val="580"/>
              </a:spcBef>
              <a:spcAft>
                <a:spcPts val="0"/>
              </a:spcAft>
              <a:buClr>
                <a:schemeClr val="dk1"/>
              </a:buClr>
              <a:buSzPts val="1400"/>
              <a:buFont typeface="Noto Sans Symbols"/>
              <a:buChar char="⚫"/>
            </a:pPr>
            <a:r>
              <a:rPr lang="en-US" sz="1400">
                <a:latin typeface="Courier New"/>
                <a:ea typeface="Courier New"/>
                <a:cs typeface="Courier New"/>
                <a:sym typeface="Courier New"/>
              </a:rPr>
              <a:t>/proc</a:t>
            </a:r>
            <a:endParaRPr/>
          </a:p>
          <a:p>
            <a:pPr indent="-285750" lvl="1" marL="548640" rtl="0" algn="l">
              <a:lnSpc>
                <a:spcPct val="80000"/>
              </a:lnSpc>
              <a:spcBef>
                <a:spcPts val="370"/>
              </a:spcBef>
              <a:spcAft>
                <a:spcPts val="0"/>
              </a:spcAft>
              <a:buClr>
                <a:schemeClr val="dk1"/>
              </a:buClr>
              <a:buSzPts val="1400"/>
              <a:buFont typeface="Noto Sans Symbols"/>
              <a:buChar char="⚫"/>
            </a:pPr>
            <a:r>
              <a:rPr lang="en-US" sz="1400"/>
              <a:t>contains process and kernel information</a:t>
            </a:r>
            <a:endParaRPr/>
          </a:p>
          <a:p>
            <a:pPr indent="-274320" lvl="0" marL="274320" rtl="0" algn="l">
              <a:lnSpc>
                <a:spcPct val="80000"/>
              </a:lnSpc>
              <a:spcBef>
                <a:spcPts val="580"/>
              </a:spcBef>
              <a:spcAft>
                <a:spcPts val="0"/>
              </a:spcAft>
              <a:buClr>
                <a:schemeClr val="dk1"/>
              </a:buClr>
              <a:buSzPts val="1400"/>
              <a:buFont typeface="Noto Sans Symbols"/>
              <a:buChar char="⚫"/>
            </a:pPr>
            <a:r>
              <a:rPr lang="en-US" sz="1400"/>
              <a:t> </a:t>
            </a:r>
            <a:r>
              <a:rPr lang="en-US" sz="1400">
                <a:latin typeface="Courier New"/>
                <a:ea typeface="Courier New"/>
                <a:cs typeface="Courier New"/>
                <a:sym typeface="Courier New"/>
              </a:rPr>
              <a:t>/tmp</a:t>
            </a:r>
            <a:endParaRPr sz="1400">
              <a:latin typeface="Courier New"/>
              <a:ea typeface="Courier New"/>
              <a:cs typeface="Courier New"/>
              <a:sym typeface="Courier New"/>
            </a:endParaRPr>
          </a:p>
          <a:p>
            <a:pPr indent="-285750" lvl="1" marL="548640" rtl="0" algn="l">
              <a:lnSpc>
                <a:spcPct val="80000"/>
              </a:lnSpc>
              <a:spcBef>
                <a:spcPts val="370"/>
              </a:spcBef>
              <a:spcAft>
                <a:spcPts val="0"/>
              </a:spcAft>
              <a:buClr>
                <a:schemeClr val="dk1"/>
              </a:buClr>
              <a:buSzPts val="1400"/>
              <a:buFont typeface="Noto Sans Symbols"/>
              <a:buChar char="⚫"/>
            </a:pPr>
            <a:r>
              <a:rPr lang="en-US" sz="1400"/>
              <a:t>Holds temporary files created by programs</a:t>
            </a:r>
            <a:endParaRPr sz="1400"/>
          </a:p>
          <a:p>
            <a:pPr indent="-274320" lvl="0" marL="274320" rtl="0" algn="l">
              <a:lnSpc>
                <a:spcPct val="80000"/>
              </a:lnSpc>
              <a:spcBef>
                <a:spcPts val="580"/>
              </a:spcBef>
              <a:spcAft>
                <a:spcPts val="0"/>
              </a:spcAft>
              <a:buClr>
                <a:schemeClr val="dk1"/>
              </a:buClr>
              <a:buSzPts val="1400"/>
              <a:buFont typeface="Noto Sans Symbols"/>
              <a:buChar char="⚫"/>
            </a:pPr>
            <a:r>
              <a:rPr lang="en-US" sz="1400">
                <a:latin typeface="Courier New"/>
                <a:ea typeface="Courier New"/>
                <a:cs typeface="Courier New"/>
                <a:sym typeface="Courier New"/>
              </a:rPr>
              <a:t>/opt</a:t>
            </a:r>
            <a:endParaRPr/>
          </a:p>
          <a:p>
            <a:pPr indent="-285750" lvl="1" marL="548640" rtl="0" algn="l">
              <a:lnSpc>
                <a:spcPct val="80000"/>
              </a:lnSpc>
              <a:spcBef>
                <a:spcPts val="370"/>
              </a:spcBef>
              <a:spcAft>
                <a:spcPts val="0"/>
              </a:spcAft>
              <a:buClr>
                <a:schemeClr val="dk1"/>
              </a:buClr>
              <a:buSzPts val="1400"/>
              <a:buFont typeface="Noto Sans Symbols"/>
              <a:buChar char="⚫"/>
            </a:pPr>
            <a:r>
              <a:rPr lang="en-US" sz="1400"/>
              <a:t>Stores additonal software progarams</a:t>
            </a:r>
            <a:endParaRPr sz="1400"/>
          </a:p>
          <a:p>
            <a:pPr indent="-274320" lvl="0" marL="274320" rtl="0" algn="l">
              <a:lnSpc>
                <a:spcPct val="80000"/>
              </a:lnSpc>
              <a:spcBef>
                <a:spcPts val="580"/>
              </a:spcBef>
              <a:spcAft>
                <a:spcPts val="0"/>
              </a:spcAft>
              <a:buClr>
                <a:schemeClr val="dk1"/>
              </a:buClr>
              <a:buSzPts val="1400"/>
              <a:buFont typeface="Noto Sans Symbols"/>
              <a:buChar char="⚫"/>
            </a:pPr>
            <a:r>
              <a:rPr lang="en-US" sz="1400">
                <a:latin typeface="Courier New"/>
                <a:ea typeface="Courier New"/>
                <a:cs typeface="Courier New"/>
                <a:sym typeface="Courier New"/>
              </a:rPr>
              <a:t>/boot</a:t>
            </a:r>
            <a:endParaRPr/>
          </a:p>
          <a:p>
            <a:pPr indent="-285750" lvl="1" marL="548640" rtl="0" algn="l">
              <a:lnSpc>
                <a:spcPct val="80000"/>
              </a:lnSpc>
              <a:spcBef>
                <a:spcPts val="370"/>
              </a:spcBef>
              <a:spcAft>
                <a:spcPts val="0"/>
              </a:spcAft>
              <a:buClr>
                <a:schemeClr val="dk1"/>
              </a:buClr>
              <a:buSzPts val="1400"/>
              <a:buFont typeface="Noto Sans Symbols"/>
              <a:buChar char="⚫"/>
            </a:pPr>
            <a:r>
              <a:rPr lang="en-US" sz="1400"/>
              <a:t>contains linux kernal and all file used by boot loader</a:t>
            </a:r>
            <a:endParaRPr/>
          </a:p>
          <a:p>
            <a:pPr indent="-139700" lvl="0" marL="342900" rtl="0" algn="l">
              <a:spcBef>
                <a:spcPts val="640"/>
              </a:spcBef>
              <a:spcAft>
                <a:spcPts val="0"/>
              </a:spcAft>
              <a:buClr>
                <a:schemeClr val="dk1"/>
              </a:buClr>
              <a:buSzPts val="3200"/>
              <a:buNone/>
            </a:pPr>
            <a:r>
              <a:t/>
            </a:r>
            <a:endParaRPr/>
          </a:p>
        </p:txBody>
      </p:sp>
      <p:sp>
        <p:nvSpPr>
          <p:cNvPr id="278" name="Google Shape;278;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Blended Learning Program, IEEE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366092"/>
              </a:buClr>
              <a:buSzPts val="3200"/>
              <a:buFont typeface="Gill Sans"/>
              <a:buNone/>
            </a:pPr>
            <a:r>
              <a:rPr b="1" lang="en-US" sz="3200">
                <a:solidFill>
                  <a:srgbClr val="366092"/>
                </a:solidFill>
                <a:latin typeface="Gill Sans"/>
                <a:ea typeface="Gill Sans"/>
                <a:cs typeface="Gill Sans"/>
                <a:sym typeface="Gill Sans"/>
              </a:rPr>
              <a:t>“/home” Directory</a:t>
            </a:r>
            <a:endParaRPr sz="3200"/>
          </a:p>
        </p:txBody>
      </p:sp>
      <p:sp>
        <p:nvSpPr>
          <p:cNvPr id="285" name="Google Shape;285;p11"/>
          <p:cNvSpPr txBox="1"/>
          <p:nvPr>
            <p:ph idx="1" type="body"/>
          </p:nvPr>
        </p:nvSpPr>
        <p:spPr>
          <a:xfrm>
            <a:off x="457200" y="1600201"/>
            <a:ext cx="8075240" cy="319695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/home is the default location for the user’s home directory. </a:t>
            </a:r>
            <a:endParaRPr/>
          </a:p>
          <a:p>
            <a:pPr indent="-342900" lvl="0" marL="342900" rtl="0" algn="l">
              <a:spcBef>
                <a:spcPts val="480"/>
              </a:spcBef>
              <a:spcAft>
                <a:spcPts val="0"/>
              </a:spcAft>
              <a:buClr>
                <a:schemeClr val="dk1"/>
              </a:buClr>
              <a:buSzPts val="2400"/>
              <a:buChar char="•"/>
            </a:pPr>
            <a:r>
              <a:rPr lang="en-US" sz="2400"/>
              <a:t>User information will store under the home directory .</a:t>
            </a:r>
            <a:endParaRPr/>
          </a:p>
          <a:p>
            <a:pPr indent="-342900" lvl="0" marL="342900" rtl="0" algn="l">
              <a:spcBef>
                <a:spcPts val="480"/>
              </a:spcBef>
              <a:spcAft>
                <a:spcPts val="0"/>
              </a:spcAft>
              <a:buClr>
                <a:schemeClr val="dk1"/>
              </a:buClr>
              <a:buSzPts val="2400"/>
              <a:buChar char="•"/>
            </a:pPr>
            <a:r>
              <a:rPr lang="en-US" sz="2400"/>
              <a:t>user's personal files, configuration files, and user-specific settings are stored.</a:t>
            </a:r>
            <a:endParaRPr sz="2400"/>
          </a:p>
        </p:txBody>
      </p:sp>
      <p:sp>
        <p:nvSpPr>
          <p:cNvPr id="286" name="Google Shape;286;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Blended Learning Program, IEEE                                                                       </a:t>
            </a:r>
            <a:endParaRPr/>
          </a:p>
        </p:txBody>
      </p:sp>
      <p:pic>
        <p:nvPicPr>
          <p:cNvPr id="287" name="Google Shape;287;p11"/>
          <p:cNvPicPr preferRelativeResize="0"/>
          <p:nvPr/>
        </p:nvPicPr>
        <p:blipFill rotWithShape="1">
          <a:blip r:embed="rId3">
            <a:alphaModFix/>
          </a:blip>
          <a:srcRect b="0" l="0" r="0" t="0"/>
          <a:stretch/>
        </p:blipFill>
        <p:spPr>
          <a:xfrm>
            <a:off x="467544" y="4221088"/>
            <a:ext cx="8432800" cy="17653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366092"/>
              </a:buClr>
              <a:buSzPts val="3200"/>
              <a:buFont typeface="Gill Sans"/>
              <a:buNone/>
            </a:pPr>
            <a:r>
              <a:rPr b="1" lang="en-US" sz="3200">
                <a:solidFill>
                  <a:srgbClr val="366092"/>
                </a:solidFill>
                <a:latin typeface="Gill Sans"/>
                <a:ea typeface="Gill Sans"/>
                <a:cs typeface="Gill Sans"/>
                <a:sym typeface="Gill Sans"/>
              </a:rPr>
              <a:t>/bin, /usr/bin - Directories</a:t>
            </a:r>
            <a:endParaRPr/>
          </a:p>
        </p:txBody>
      </p:sp>
      <p:sp>
        <p:nvSpPr>
          <p:cNvPr id="294" name="Google Shape;294;p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800"/>
              <a:buChar char="•"/>
            </a:pPr>
            <a:r>
              <a:rPr lang="en-US" sz="2800"/>
              <a:t>"/bin" directory (short for "binary") typically contains binary executable files that are essential for the basic functioning of the system. </a:t>
            </a:r>
            <a:endParaRPr sz="2800"/>
          </a:p>
        </p:txBody>
      </p:sp>
      <p:sp>
        <p:nvSpPr>
          <p:cNvPr id="295" name="Google Shape;295;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Blended Learning Program, IEEE                                                                       </a:t>
            </a:r>
            <a:endParaRPr/>
          </a:p>
        </p:txBody>
      </p:sp>
      <p:pic>
        <p:nvPicPr>
          <p:cNvPr id="296" name="Google Shape;296;p12"/>
          <p:cNvPicPr preferRelativeResize="0"/>
          <p:nvPr/>
        </p:nvPicPr>
        <p:blipFill rotWithShape="1">
          <a:blip r:embed="rId3">
            <a:alphaModFix/>
          </a:blip>
          <a:srcRect b="0" l="0" r="0" t="0"/>
          <a:stretch/>
        </p:blipFill>
        <p:spPr>
          <a:xfrm>
            <a:off x="755576" y="3284984"/>
            <a:ext cx="7435850" cy="28067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366092"/>
              </a:buClr>
              <a:buSzPts val="3200"/>
              <a:buFont typeface="Gill Sans"/>
              <a:buNone/>
            </a:pPr>
            <a:r>
              <a:rPr b="1" lang="en-US" sz="3200">
                <a:solidFill>
                  <a:srgbClr val="366092"/>
                </a:solidFill>
                <a:latin typeface="Gill Sans"/>
                <a:ea typeface="Gill Sans"/>
                <a:cs typeface="Gill Sans"/>
                <a:sym typeface="Gill Sans"/>
              </a:rPr>
              <a:t>/sbin, /user/sbin - Directories</a:t>
            </a:r>
            <a:endParaRPr/>
          </a:p>
        </p:txBody>
      </p:sp>
      <p:sp>
        <p:nvSpPr>
          <p:cNvPr id="303" name="Google Shape;303;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Blended Learning Program, IEEE                                                                       </a:t>
            </a:r>
            <a:endParaRPr/>
          </a:p>
        </p:txBody>
      </p:sp>
      <p:sp>
        <p:nvSpPr>
          <p:cNvPr id="304" name="Google Shape;304;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These two directories  contains  the commands which are used by the system administrator for perfuming system admin activities. </a:t>
            </a:r>
            <a:endParaRPr/>
          </a:p>
          <a:p>
            <a:pPr indent="-139700" lvl="0" marL="342900" rtl="0" algn="l">
              <a:spcBef>
                <a:spcPts val="640"/>
              </a:spcBef>
              <a:spcAft>
                <a:spcPts val="0"/>
              </a:spcAft>
              <a:buClr>
                <a:schemeClr val="dk1"/>
              </a:buClr>
              <a:buSzPts val="3200"/>
              <a:buNone/>
            </a:pPr>
            <a:r>
              <a:t/>
            </a:r>
            <a:endParaRPr/>
          </a:p>
        </p:txBody>
      </p:sp>
      <p:pic>
        <p:nvPicPr>
          <p:cNvPr id="305" name="Google Shape;305;p13"/>
          <p:cNvPicPr preferRelativeResize="0"/>
          <p:nvPr/>
        </p:nvPicPr>
        <p:blipFill rotWithShape="1">
          <a:blip r:embed="rId3">
            <a:alphaModFix/>
          </a:blip>
          <a:srcRect b="0" l="0" r="0" t="0"/>
          <a:stretch/>
        </p:blipFill>
        <p:spPr>
          <a:xfrm>
            <a:off x="395536" y="4005064"/>
            <a:ext cx="8451850" cy="17081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366092"/>
              </a:buClr>
              <a:buSzPts val="3200"/>
              <a:buFont typeface="Gill Sans"/>
              <a:buNone/>
            </a:pPr>
            <a:r>
              <a:rPr b="1" lang="en-US" sz="3200">
                <a:solidFill>
                  <a:srgbClr val="366092"/>
                </a:solidFill>
                <a:latin typeface="Gill Sans"/>
                <a:ea typeface="Gill Sans"/>
                <a:cs typeface="Gill Sans"/>
                <a:sym typeface="Gill Sans"/>
              </a:rPr>
              <a:t>/etc - Directory</a:t>
            </a:r>
            <a:endParaRPr/>
          </a:p>
        </p:txBody>
      </p:sp>
      <p:sp>
        <p:nvSpPr>
          <p:cNvPr id="312" name="Google Shape;312;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Used to store the configuration files.</a:t>
            </a:r>
            <a:endParaRPr/>
          </a:p>
          <a:p>
            <a:pPr indent="-285750" lvl="1" marL="742950" rtl="0" algn="l">
              <a:spcBef>
                <a:spcPts val="560"/>
              </a:spcBef>
              <a:spcAft>
                <a:spcPts val="0"/>
              </a:spcAft>
              <a:buClr>
                <a:schemeClr val="dk1"/>
              </a:buClr>
              <a:buSzPts val="2800"/>
              <a:buNone/>
            </a:pPr>
            <a:r>
              <a:t/>
            </a:r>
            <a:endParaRPr/>
          </a:p>
        </p:txBody>
      </p:sp>
      <p:sp>
        <p:nvSpPr>
          <p:cNvPr id="313" name="Google Shape;313;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Blended Learning Program, IEEE                                                                       </a:t>
            </a:r>
            <a:endParaRPr/>
          </a:p>
        </p:txBody>
      </p:sp>
      <p:pic>
        <p:nvPicPr>
          <p:cNvPr id="314" name="Google Shape;314;p14"/>
          <p:cNvPicPr preferRelativeResize="0"/>
          <p:nvPr/>
        </p:nvPicPr>
        <p:blipFill rotWithShape="1">
          <a:blip r:embed="rId3">
            <a:alphaModFix/>
          </a:blip>
          <a:srcRect b="0" l="0" r="0" t="0"/>
          <a:stretch/>
        </p:blipFill>
        <p:spPr>
          <a:xfrm>
            <a:off x="107504" y="3068960"/>
            <a:ext cx="8826500" cy="27813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366092"/>
              </a:buClr>
              <a:buSzPts val="3200"/>
              <a:buFont typeface="Gill Sans"/>
              <a:buNone/>
            </a:pPr>
            <a:r>
              <a:rPr b="1" lang="en-US" sz="3200">
                <a:solidFill>
                  <a:srgbClr val="366092"/>
                </a:solidFill>
                <a:latin typeface="Gill Sans"/>
                <a:ea typeface="Gill Sans"/>
                <a:cs typeface="Gill Sans"/>
                <a:sym typeface="Gill Sans"/>
              </a:rPr>
              <a:t>/var - Directory</a:t>
            </a:r>
            <a:endParaRPr/>
          </a:p>
        </p:txBody>
      </p:sp>
      <p:sp>
        <p:nvSpPr>
          <p:cNvPr id="321" name="Google Shape;321;p15"/>
          <p:cNvSpPr txBox="1"/>
          <p:nvPr>
            <p:ph idx="1" type="body"/>
          </p:nvPr>
        </p:nvSpPr>
        <p:spPr>
          <a:xfrm>
            <a:off x="539552" y="1484784"/>
            <a:ext cx="8229600" cy="3705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Contains variable files, including log files, spool files, and temporary files</a:t>
            </a:r>
            <a:endParaRPr/>
          </a:p>
        </p:txBody>
      </p:sp>
      <p:sp>
        <p:nvSpPr>
          <p:cNvPr id="322" name="Google Shape;322;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Blended Learning Program, IEEE                                                                       </a:t>
            </a:r>
            <a:endParaRPr/>
          </a:p>
        </p:txBody>
      </p:sp>
      <p:pic>
        <p:nvPicPr>
          <p:cNvPr id="323" name="Google Shape;323;p15"/>
          <p:cNvPicPr preferRelativeResize="0"/>
          <p:nvPr/>
        </p:nvPicPr>
        <p:blipFill rotWithShape="1">
          <a:blip r:embed="rId3">
            <a:alphaModFix/>
          </a:blip>
          <a:srcRect b="0" l="0" r="0" t="0"/>
          <a:stretch/>
        </p:blipFill>
        <p:spPr>
          <a:xfrm>
            <a:off x="107504" y="3068960"/>
            <a:ext cx="8807450" cy="32258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366092"/>
              </a:buClr>
              <a:buSzPts val="3200"/>
              <a:buFont typeface="Gill Sans"/>
              <a:buNone/>
            </a:pPr>
            <a:r>
              <a:rPr b="1" lang="en-US" sz="3200">
                <a:solidFill>
                  <a:srgbClr val="366092"/>
                </a:solidFill>
                <a:latin typeface="Gill Sans"/>
                <a:ea typeface="Gill Sans"/>
                <a:cs typeface="Gill Sans"/>
                <a:sym typeface="Gill Sans"/>
              </a:rPr>
              <a:t>/dev - Directory</a:t>
            </a:r>
            <a:endParaRPr/>
          </a:p>
        </p:txBody>
      </p:sp>
      <p:sp>
        <p:nvSpPr>
          <p:cNvPr id="330" name="Google Shape;330;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Special directory that contains device files.</a:t>
            </a:r>
            <a:endParaRPr/>
          </a:p>
          <a:p>
            <a:pPr indent="-342900" lvl="0" marL="342900" rtl="0" algn="l">
              <a:spcBef>
                <a:spcPts val="640"/>
              </a:spcBef>
              <a:spcAft>
                <a:spcPts val="0"/>
              </a:spcAft>
              <a:buClr>
                <a:schemeClr val="dk1"/>
              </a:buClr>
              <a:buSzPts val="3200"/>
              <a:buChar char="•"/>
            </a:pPr>
            <a:r>
              <a:rPr lang="en-US"/>
              <a:t>In Linux, everything is treated as a file.</a:t>
            </a:r>
            <a:endParaRPr/>
          </a:p>
        </p:txBody>
      </p:sp>
      <p:sp>
        <p:nvSpPr>
          <p:cNvPr id="331" name="Google Shape;331;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Blended Learning Program, IEEE                                                                       </a:t>
            </a:r>
            <a:endParaRPr/>
          </a:p>
        </p:txBody>
      </p:sp>
      <p:pic>
        <p:nvPicPr>
          <p:cNvPr id="332" name="Google Shape;332;p16"/>
          <p:cNvPicPr preferRelativeResize="0"/>
          <p:nvPr/>
        </p:nvPicPr>
        <p:blipFill rotWithShape="1">
          <a:blip r:embed="rId3">
            <a:alphaModFix/>
          </a:blip>
          <a:srcRect b="0" l="0" r="0" t="0"/>
          <a:stretch/>
        </p:blipFill>
        <p:spPr>
          <a:xfrm>
            <a:off x="467544" y="3356992"/>
            <a:ext cx="8382000" cy="30924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366092"/>
              </a:buClr>
              <a:buSzPts val="3200"/>
              <a:buFont typeface="Gill Sans"/>
              <a:buNone/>
            </a:pPr>
            <a:r>
              <a:rPr b="1" lang="en-US" sz="3200">
                <a:solidFill>
                  <a:srgbClr val="366092"/>
                </a:solidFill>
                <a:latin typeface="Gill Sans"/>
                <a:ea typeface="Gill Sans"/>
                <a:cs typeface="Gill Sans"/>
                <a:sym typeface="Gill Sans"/>
              </a:rPr>
              <a:t>/proc - Directory</a:t>
            </a:r>
            <a:endParaRPr/>
          </a:p>
        </p:txBody>
      </p:sp>
      <p:sp>
        <p:nvSpPr>
          <p:cNvPr id="339" name="Google Shape;339;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Contains information about running processes and system resources.</a:t>
            </a:r>
            <a:endParaRPr/>
          </a:p>
          <a:p>
            <a:pPr indent="-342900" lvl="0" marL="342900" rtl="0" algn="l">
              <a:spcBef>
                <a:spcPts val="480"/>
              </a:spcBef>
              <a:spcAft>
                <a:spcPts val="0"/>
              </a:spcAft>
              <a:buClr>
                <a:schemeClr val="dk1"/>
              </a:buClr>
              <a:buSzPts val="2400"/>
              <a:buChar char="•"/>
            </a:pPr>
            <a:r>
              <a:rPr lang="en-US" sz="2400"/>
              <a:t>"/proc" directory are generated dynamically by the kernel and represent information about the current state of the system.</a:t>
            </a:r>
            <a:endParaRPr sz="2400"/>
          </a:p>
        </p:txBody>
      </p:sp>
      <p:sp>
        <p:nvSpPr>
          <p:cNvPr id="340" name="Google Shape;340;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Blended Learning Program, IEEE                                                                       </a:t>
            </a:r>
            <a:endParaRPr/>
          </a:p>
        </p:txBody>
      </p:sp>
      <p:pic>
        <p:nvPicPr>
          <p:cNvPr id="341" name="Google Shape;341;p17"/>
          <p:cNvPicPr preferRelativeResize="0"/>
          <p:nvPr/>
        </p:nvPicPr>
        <p:blipFill rotWithShape="1">
          <a:blip r:embed="rId3">
            <a:alphaModFix/>
          </a:blip>
          <a:srcRect b="0" l="0" r="0" t="0"/>
          <a:stretch/>
        </p:blipFill>
        <p:spPr>
          <a:xfrm>
            <a:off x="683568" y="3573016"/>
            <a:ext cx="7588250" cy="25273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366092"/>
              </a:buClr>
              <a:buSzPts val="3200"/>
              <a:buFont typeface="Gill Sans"/>
              <a:buNone/>
            </a:pPr>
            <a:r>
              <a:rPr b="1" lang="en-US" sz="3200">
                <a:solidFill>
                  <a:srgbClr val="366092"/>
                </a:solidFill>
                <a:latin typeface="Gill Sans"/>
                <a:ea typeface="Gill Sans"/>
                <a:cs typeface="Gill Sans"/>
                <a:sym typeface="Gill Sans"/>
              </a:rPr>
              <a:t>/tmp - Directory</a:t>
            </a:r>
            <a:endParaRPr/>
          </a:p>
        </p:txBody>
      </p:sp>
      <p:sp>
        <p:nvSpPr>
          <p:cNvPr id="348" name="Google Shape;348;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It is a folder that will contain and hold the temporary file, which is actually created by the programmes on the system.</a:t>
            </a:r>
            <a:endParaRPr/>
          </a:p>
          <a:p>
            <a:pPr indent="-139700" lvl="0" marL="342900" rtl="0" algn="l">
              <a:spcBef>
                <a:spcPts val="640"/>
              </a:spcBef>
              <a:spcAft>
                <a:spcPts val="0"/>
              </a:spcAft>
              <a:buClr>
                <a:schemeClr val="dk1"/>
              </a:buClr>
              <a:buSzPts val="3200"/>
              <a:buNone/>
            </a:pPr>
            <a:r>
              <a:t/>
            </a:r>
            <a:endParaRPr/>
          </a:p>
        </p:txBody>
      </p:sp>
      <p:sp>
        <p:nvSpPr>
          <p:cNvPr id="349" name="Google Shape;349;p18"/>
          <p:cNvSpPr txBox="1"/>
          <p:nvPr>
            <p:ph idx="11" type="ftr"/>
          </p:nvPr>
        </p:nvSpPr>
        <p:spPr>
          <a:xfrm>
            <a:off x="3124200" y="6421461"/>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Blended Learning Program, IEEE                                                                       </a:t>
            </a:r>
            <a:endParaRPr/>
          </a:p>
        </p:txBody>
      </p:sp>
      <p:pic>
        <p:nvPicPr>
          <p:cNvPr descr="C:\Users\aswanth\Desktop\NOTE\PPT\file\screen\temp.PNG" id="350" name="Google Shape;350;p18"/>
          <p:cNvPicPr preferRelativeResize="0"/>
          <p:nvPr/>
        </p:nvPicPr>
        <p:blipFill rotWithShape="1">
          <a:blip r:embed="rId3">
            <a:alphaModFix/>
          </a:blip>
          <a:srcRect b="0" l="0" r="0" t="0"/>
          <a:stretch/>
        </p:blipFill>
        <p:spPr>
          <a:xfrm>
            <a:off x="323528" y="2636912"/>
            <a:ext cx="8286808" cy="372389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5" name="Shape 355"/>
        <p:cNvGrpSpPr/>
        <p:nvPr/>
      </p:nvGrpSpPr>
      <p:grpSpPr>
        <a:xfrm>
          <a:off x="0" y="0"/>
          <a:ext cx="0" cy="0"/>
          <a:chOff x="0" y="0"/>
          <a:chExt cx="0" cy="0"/>
        </a:xfrm>
      </p:grpSpPr>
      <p:sp>
        <p:nvSpPr>
          <p:cNvPr id="356" name="Google Shape;356;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366092"/>
              </a:buClr>
              <a:buSzPts val="3200"/>
              <a:buFont typeface="Gill Sans"/>
              <a:buNone/>
            </a:pPr>
            <a:r>
              <a:rPr b="1" lang="en-US" sz="3200">
                <a:solidFill>
                  <a:srgbClr val="366092"/>
                </a:solidFill>
                <a:latin typeface="Gill Sans"/>
                <a:ea typeface="Gill Sans"/>
                <a:cs typeface="Gill Sans"/>
                <a:sym typeface="Gill Sans"/>
              </a:rPr>
              <a:t>/opt - Directory</a:t>
            </a:r>
            <a:endParaRPr/>
          </a:p>
        </p:txBody>
      </p:sp>
      <p:sp>
        <p:nvSpPr>
          <p:cNvPr id="357" name="Google Shape;357;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It is used to store additional software programs, that are not part of the core operating system.</a:t>
            </a:r>
            <a:endParaRPr/>
          </a:p>
          <a:p>
            <a:pPr indent="-342900" lvl="0" marL="342900" rtl="0" algn="l">
              <a:spcBef>
                <a:spcPts val="640"/>
              </a:spcBef>
              <a:spcAft>
                <a:spcPts val="0"/>
              </a:spcAft>
              <a:buClr>
                <a:schemeClr val="dk1"/>
              </a:buClr>
              <a:buSzPts val="3200"/>
              <a:buChar char="•"/>
            </a:pPr>
            <a:r>
              <a:rPr lang="en-US"/>
              <a:t>These programs are installed under /opt.</a:t>
            </a:r>
            <a:endParaRPr/>
          </a:p>
          <a:p>
            <a:pPr indent="-139700" lvl="0" marL="342900" rtl="0" algn="l">
              <a:spcBef>
                <a:spcPts val="640"/>
              </a:spcBef>
              <a:spcAft>
                <a:spcPts val="0"/>
              </a:spcAft>
              <a:buClr>
                <a:schemeClr val="dk1"/>
              </a:buClr>
              <a:buSzPts val="3200"/>
              <a:buNone/>
            </a:pPr>
            <a:r>
              <a:t/>
            </a:r>
            <a:endParaRPr/>
          </a:p>
        </p:txBody>
      </p:sp>
      <p:sp>
        <p:nvSpPr>
          <p:cNvPr id="358" name="Google Shape;358;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Blended Learning Program, IEEE                                                                       </a:t>
            </a:r>
            <a:endParaRPr/>
          </a:p>
        </p:txBody>
      </p:sp>
      <p:pic>
        <p:nvPicPr>
          <p:cNvPr descr="C:\Users\aswanth\Desktop\NOTE\PPT\file\screen\op[t.PNG" id="359" name="Google Shape;359;p19"/>
          <p:cNvPicPr preferRelativeResize="0"/>
          <p:nvPr/>
        </p:nvPicPr>
        <p:blipFill rotWithShape="1">
          <a:blip r:embed="rId3">
            <a:alphaModFix/>
          </a:blip>
          <a:srcRect b="0" l="0" r="0" t="0"/>
          <a:stretch/>
        </p:blipFill>
        <p:spPr>
          <a:xfrm>
            <a:off x="683568" y="4005064"/>
            <a:ext cx="7768883" cy="193452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366092"/>
              </a:buClr>
              <a:buSzPts val="3200"/>
              <a:buFont typeface="Gill Sans"/>
              <a:buNone/>
            </a:pPr>
            <a:r>
              <a:rPr b="1" lang="en-US" sz="3200">
                <a:solidFill>
                  <a:srgbClr val="366092"/>
                </a:solidFill>
                <a:latin typeface="Gill Sans"/>
                <a:ea typeface="Gill Sans"/>
                <a:cs typeface="Gill Sans"/>
                <a:sym typeface="Gill Sans"/>
              </a:rPr>
              <a:t>/boot - Directory</a:t>
            </a:r>
            <a:endParaRPr/>
          </a:p>
        </p:txBody>
      </p:sp>
      <p:sp>
        <p:nvSpPr>
          <p:cNvPr id="366" name="Google Shape;366;p2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/boot is a folder that contains information about the boot loader and the kernel.</a:t>
            </a:r>
            <a:endParaRPr/>
          </a:p>
          <a:p>
            <a:pPr indent="-139700" lvl="0" marL="342900" rtl="0" algn="l">
              <a:spcBef>
                <a:spcPts val="640"/>
              </a:spcBef>
              <a:spcAft>
                <a:spcPts val="0"/>
              </a:spcAft>
              <a:buClr>
                <a:schemeClr val="dk1"/>
              </a:buClr>
              <a:buSzPts val="3200"/>
              <a:buNone/>
            </a:pPr>
            <a:r>
              <a:t/>
            </a:r>
            <a:endParaRPr/>
          </a:p>
        </p:txBody>
      </p:sp>
      <p:sp>
        <p:nvSpPr>
          <p:cNvPr id="367" name="Google Shape;367;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Blended Learning Program, IEEE                                                                       </a:t>
            </a:r>
            <a:endParaRPr/>
          </a:p>
        </p:txBody>
      </p:sp>
      <p:pic>
        <p:nvPicPr>
          <p:cNvPr descr="C:\Users\aswanth\Desktop\NOTE\PPT\file\screen\boot.PNG" id="368" name="Google Shape;368;p20"/>
          <p:cNvPicPr preferRelativeResize="0"/>
          <p:nvPr/>
        </p:nvPicPr>
        <p:blipFill rotWithShape="1">
          <a:blip r:embed="rId3">
            <a:alphaModFix/>
          </a:blip>
          <a:srcRect b="0" l="0" r="0" t="0"/>
          <a:stretch/>
        </p:blipFill>
        <p:spPr>
          <a:xfrm>
            <a:off x="539552" y="2996952"/>
            <a:ext cx="8143932" cy="312441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pic>
        <p:nvPicPr>
          <p:cNvPr descr="Free vector secure data concept illustration" id="374" name="Google Shape;374;p21"/>
          <p:cNvPicPr preferRelativeResize="0"/>
          <p:nvPr/>
        </p:nvPicPr>
        <p:blipFill rotWithShape="1">
          <a:blip r:embed="rId3">
            <a:alphaModFix/>
          </a:blip>
          <a:srcRect b="0" l="0" r="0" t="0"/>
          <a:stretch/>
        </p:blipFill>
        <p:spPr>
          <a:xfrm>
            <a:off x="5220072" y="2780928"/>
            <a:ext cx="3528392" cy="3528392"/>
          </a:xfrm>
          <a:prstGeom prst="rect">
            <a:avLst/>
          </a:prstGeom>
          <a:noFill/>
          <a:ln>
            <a:noFill/>
          </a:ln>
        </p:spPr>
      </p:pic>
      <p:sp>
        <p:nvSpPr>
          <p:cNvPr id="375" name="Google Shape;375;p21"/>
          <p:cNvSpPr txBox="1"/>
          <p:nvPr>
            <p:ph type="title"/>
          </p:nvPr>
        </p:nvSpPr>
        <p:spPr>
          <a:xfrm>
            <a:off x="107504" y="1"/>
            <a:ext cx="9036496" cy="83671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366092"/>
              </a:buClr>
              <a:buSzPts val="3200"/>
              <a:buFont typeface="Gill Sans"/>
              <a:buNone/>
            </a:pPr>
            <a:r>
              <a:rPr b="1" lang="en-US" sz="3200">
                <a:solidFill>
                  <a:srgbClr val="366092"/>
                </a:solidFill>
                <a:latin typeface="Gill Sans"/>
                <a:ea typeface="Gill Sans"/>
                <a:cs typeface="Gill Sans"/>
                <a:sym typeface="Gill Sans"/>
              </a:rPr>
              <a:t>File and Directory Permissions</a:t>
            </a:r>
            <a:endParaRPr b="1" sz="3200">
              <a:solidFill>
                <a:srgbClr val="366092"/>
              </a:solidFill>
              <a:latin typeface="Gill Sans"/>
              <a:ea typeface="Gill Sans"/>
              <a:cs typeface="Gill Sans"/>
              <a:sym typeface="Gill Sans"/>
            </a:endParaRPr>
          </a:p>
        </p:txBody>
      </p:sp>
      <p:sp>
        <p:nvSpPr>
          <p:cNvPr id="376" name="Google Shape;376;p21"/>
          <p:cNvSpPr txBox="1"/>
          <p:nvPr>
            <p:ph idx="1" type="body"/>
          </p:nvPr>
        </p:nvSpPr>
        <p:spPr>
          <a:xfrm>
            <a:off x="107504" y="980729"/>
            <a:ext cx="9036496" cy="5375622"/>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Char char="•"/>
            </a:pPr>
            <a:r>
              <a:rPr lang="en-US" sz="2400"/>
              <a:t>Linux is a multiuser system, the files of all users are stored in a single file structure.</a:t>
            </a:r>
            <a:endParaRPr/>
          </a:p>
          <a:p>
            <a:pPr indent="-342900" lvl="0" marL="342900" rtl="0" algn="l">
              <a:spcBef>
                <a:spcPts val="480"/>
              </a:spcBef>
              <a:spcAft>
                <a:spcPts val="0"/>
              </a:spcAft>
              <a:buClr>
                <a:schemeClr val="dk1"/>
              </a:buClr>
              <a:buSzPts val="2400"/>
              <a:buChar char="•"/>
            </a:pPr>
            <a:r>
              <a:rPr lang="en-US" sz="2400"/>
              <a:t>Mechanism is required to restrict one user to access the files of another user, if he is not supposed to.</a:t>
            </a:r>
            <a:endParaRPr/>
          </a:p>
          <a:p>
            <a:pPr indent="-342900" lvl="0" marL="342900" rtl="0" algn="l">
              <a:spcBef>
                <a:spcPts val="480"/>
              </a:spcBef>
              <a:spcAft>
                <a:spcPts val="0"/>
              </a:spcAft>
              <a:buClr>
                <a:schemeClr val="dk1"/>
              </a:buClr>
              <a:buSzPts val="2400"/>
              <a:buChar char="•"/>
            </a:pPr>
            <a:r>
              <a:rPr lang="en-US" sz="2400"/>
              <a:t>User can impose access permission to each file to restrict its access</a:t>
            </a:r>
            <a:endParaRPr/>
          </a:p>
          <a:p>
            <a:pPr indent="-342900" lvl="0" marL="342900" rtl="0" algn="l">
              <a:spcBef>
                <a:spcPts val="480"/>
              </a:spcBef>
              <a:spcAft>
                <a:spcPts val="0"/>
              </a:spcAft>
              <a:buClr>
                <a:schemeClr val="dk1"/>
              </a:buClr>
              <a:buSzPts val="2400"/>
              <a:buChar char="•"/>
            </a:pPr>
            <a:r>
              <a:rPr lang="en-US" sz="2400"/>
              <a:t>The term “access permission” refers to</a:t>
            </a:r>
            <a:endParaRPr/>
          </a:p>
          <a:p>
            <a:pPr indent="-285750" lvl="1" marL="742950" rtl="0" algn="l">
              <a:spcBef>
                <a:spcPts val="480"/>
              </a:spcBef>
              <a:spcAft>
                <a:spcPts val="0"/>
              </a:spcAft>
              <a:buClr>
                <a:schemeClr val="dk1"/>
              </a:buClr>
              <a:buSzPts val="2400"/>
              <a:buChar char="–"/>
            </a:pPr>
            <a:r>
              <a:rPr lang="en-US" sz="2400"/>
              <a:t>read permission ( r )</a:t>
            </a:r>
            <a:endParaRPr/>
          </a:p>
          <a:p>
            <a:pPr indent="-285750" lvl="1" marL="742950" rtl="0" algn="l">
              <a:spcBef>
                <a:spcPts val="480"/>
              </a:spcBef>
              <a:spcAft>
                <a:spcPts val="0"/>
              </a:spcAft>
              <a:buClr>
                <a:schemeClr val="dk1"/>
              </a:buClr>
              <a:buSzPts val="2400"/>
              <a:buChar char="–"/>
            </a:pPr>
            <a:r>
              <a:rPr lang="en-US" sz="2400"/>
              <a:t>write permission ( w )</a:t>
            </a:r>
            <a:endParaRPr/>
          </a:p>
          <a:p>
            <a:pPr indent="-285750" lvl="1" marL="742950" rtl="0" algn="l">
              <a:spcBef>
                <a:spcPts val="480"/>
              </a:spcBef>
              <a:spcAft>
                <a:spcPts val="0"/>
              </a:spcAft>
              <a:buClr>
                <a:schemeClr val="dk1"/>
              </a:buClr>
              <a:buSzPts val="2400"/>
              <a:buChar char="–"/>
            </a:pPr>
            <a:r>
              <a:rPr lang="en-US" sz="2400"/>
              <a:t>execute permission ( x )</a:t>
            </a:r>
            <a:endParaRPr b="1" sz="2400"/>
          </a:p>
          <a:p>
            <a:pPr indent="-190500" lvl="0" marL="342900" rtl="0" algn="l">
              <a:lnSpc>
                <a:spcPct val="183333"/>
              </a:lnSpc>
              <a:spcBef>
                <a:spcPts val="480"/>
              </a:spcBef>
              <a:spcAft>
                <a:spcPts val="0"/>
              </a:spcAft>
              <a:buClr>
                <a:srgbClr val="366092"/>
              </a:buClr>
              <a:buSzPts val="2400"/>
              <a:buNone/>
            </a:pPr>
            <a:r>
              <a:t/>
            </a:r>
            <a:endParaRPr sz="2400">
              <a:latin typeface="Gill Sans"/>
              <a:ea typeface="Gill Sans"/>
              <a:cs typeface="Gill Sans"/>
              <a:sym typeface="Gill Sans"/>
            </a:endParaRPr>
          </a:p>
          <a:p>
            <a:pPr indent="-190500" lvl="0" marL="342900" rtl="0" algn="l">
              <a:spcBef>
                <a:spcPts val="480"/>
              </a:spcBef>
              <a:spcAft>
                <a:spcPts val="0"/>
              </a:spcAft>
              <a:buClr>
                <a:srgbClr val="366092"/>
              </a:buClr>
              <a:buSzPts val="2400"/>
              <a:buNone/>
            </a:pPr>
            <a:r>
              <a:t/>
            </a:r>
            <a:endParaRPr sz="2400">
              <a:latin typeface="Gill Sans"/>
              <a:ea typeface="Gill Sans"/>
              <a:cs typeface="Gill Sans"/>
              <a:sym typeface="Gill Sans"/>
            </a:endParaRPr>
          </a:p>
          <a:p>
            <a:pPr indent="-190500" lvl="0" marL="342900" rtl="0" algn="l">
              <a:spcBef>
                <a:spcPts val="480"/>
              </a:spcBef>
              <a:spcAft>
                <a:spcPts val="0"/>
              </a:spcAft>
              <a:buClr>
                <a:schemeClr val="dk1"/>
              </a:buClr>
              <a:buSzPts val="2400"/>
              <a:buNone/>
            </a:pPr>
            <a:r>
              <a:t/>
            </a:r>
            <a:endParaRPr sz="2400"/>
          </a:p>
        </p:txBody>
      </p:sp>
      <p:sp>
        <p:nvSpPr>
          <p:cNvPr id="377" name="Google Shape;377;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Blended Learning Program, IEEE                                                                       </a:t>
            </a:r>
            <a:endParaRPr/>
          </a:p>
        </p:txBody>
      </p:sp>
      <p:pic>
        <p:nvPicPr>
          <p:cNvPr descr="Displaying IEE-14-PIM-258_BLP_Type_Treatment-LAB-final-CMYK-OL-01.png" id="378" name="Google Shape;378;p21"/>
          <p:cNvPicPr preferRelativeResize="0"/>
          <p:nvPr/>
        </p:nvPicPr>
        <p:blipFill rotWithShape="1">
          <a:blip r:embed="rId4">
            <a:alphaModFix/>
          </a:blip>
          <a:srcRect b="0" l="0" r="0" t="0"/>
          <a:stretch/>
        </p:blipFill>
        <p:spPr>
          <a:xfrm>
            <a:off x="-252536" y="6202693"/>
            <a:ext cx="1872208" cy="655307"/>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366092"/>
              </a:buClr>
              <a:buSzPts val="3200"/>
              <a:buFont typeface="Gill Sans"/>
              <a:buNone/>
            </a:pPr>
            <a:r>
              <a:rPr b="1" lang="en-US" sz="3200">
                <a:solidFill>
                  <a:srgbClr val="366092"/>
                </a:solidFill>
                <a:latin typeface="Gill Sans"/>
                <a:ea typeface="Gill Sans"/>
                <a:cs typeface="Gill Sans"/>
                <a:sym typeface="Gill Sans"/>
              </a:rPr>
              <a:t>Permissions on Files and Directories</a:t>
            </a:r>
            <a:endParaRPr b="1" sz="3200">
              <a:solidFill>
                <a:srgbClr val="366092"/>
              </a:solidFill>
              <a:latin typeface="Gill Sans"/>
              <a:ea typeface="Gill Sans"/>
              <a:cs typeface="Gill Sans"/>
              <a:sym typeface="Gill Sans"/>
            </a:endParaRPr>
          </a:p>
        </p:txBody>
      </p:sp>
      <p:sp>
        <p:nvSpPr>
          <p:cNvPr id="385" name="Google Shape;385;p22"/>
          <p:cNvSpPr txBox="1"/>
          <p:nvPr>
            <p:ph idx="1" type="body"/>
          </p:nvPr>
        </p:nvSpPr>
        <p:spPr>
          <a:xfrm>
            <a:off x="457200" y="1600201"/>
            <a:ext cx="8229600" cy="1042982"/>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l">
              <a:spcBef>
                <a:spcPts val="0"/>
              </a:spcBef>
              <a:spcAft>
                <a:spcPts val="0"/>
              </a:spcAft>
              <a:buClr>
                <a:schemeClr val="dk1"/>
              </a:buClr>
              <a:buSzPct val="100000"/>
              <a:buChar char="•"/>
            </a:pPr>
            <a:r>
              <a:rPr lang="en-US" sz="3400"/>
              <a:t>Three types of permissions on files, each denoted by a letter.</a:t>
            </a:r>
            <a:endParaRPr/>
          </a:p>
          <a:p>
            <a:pPr indent="-342900" lvl="0" marL="342900" rtl="0" algn="l">
              <a:spcBef>
                <a:spcPts val="476"/>
              </a:spcBef>
              <a:spcAft>
                <a:spcPts val="0"/>
              </a:spcAft>
              <a:buClr>
                <a:schemeClr val="dk1"/>
              </a:buClr>
              <a:buSzPct val="100000"/>
              <a:buChar char="•"/>
            </a:pPr>
            <a:r>
              <a:rPr lang="en-US" sz="3400"/>
              <a:t>A permission represents an action that can be done on the file</a:t>
            </a:r>
            <a:r>
              <a:rPr lang="en-US"/>
              <a:t>:</a:t>
            </a:r>
            <a:endParaRPr/>
          </a:p>
          <a:p>
            <a:pPr indent="-200660" lvl="0" marL="342900" rtl="0" algn="l">
              <a:spcBef>
                <a:spcPts val="448"/>
              </a:spcBef>
              <a:spcAft>
                <a:spcPts val="0"/>
              </a:spcAft>
              <a:buClr>
                <a:schemeClr val="dk1"/>
              </a:buClr>
              <a:buSzPct val="100000"/>
              <a:buNone/>
            </a:pPr>
            <a:r>
              <a:t/>
            </a:r>
            <a:endParaRPr/>
          </a:p>
        </p:txBody>
      </p:sp>
      <p:sp>
        <p:nvSpPr>
          <p:cNvPr id="386" name="Google Shape;386;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Blended Learning Program, IEEE                                                                       </a:t>
            </a:r>
            <a:endParaRPr/>
          </a:p>
        </p:txBody>
      </p:sp>
      <p:graphicFrame>
        <p:nvGraphicFramePr>
          <p:cNvPr id="387" name="Google Shape;387;p22"/>
          <p:cNvGraphicFramePr/>
          <p:nvPr/>
        </p:nvGraphicFramePr>
        <p:xfrm>
          <a:off x="1357290" y="2714620"/>
          <a:ext cx="6927850" cy="1647828"/>
        </p:xfrm>
        <a:graphic>
          <a:graphicData uri="http://schemas.openxmlformats.org/presentationml/2006/ole">
            <mc:AlternateContent>
              <mc:Choice Requires="v">
                <p:oleObj r:id="rId4" imgH="1647828" imgW="6927850" progId="PBrush" spid="_x0000_s1">
                  <p:embed/>
                </p:oleObj>
              </mc:Choice>
              <mc:Fallback>
                <p:oleObj r:id="rId5" imgH="1647828" imgW="6927850" progId="PBrush">
                  <p:embed/>
                  <p:pic>
                    <p:nvPicPr>
                      <p:cNvPr id="387" name="Google Shape;387;p22"/>
                      <p:cNvPicPr preferRelativeResize="0"/>
                      <p:nvPr/>
                    </p:nvPicPr>
                    <p:blipFill rotWithShape="1">
                      <a:blip r:embed="rId6">
                        <a:alphaModFix/>
                      </a:blip>
                      <a:srcRect b="0" l="0" r="0" t="0"/>
                      <a:stretch/>
                    </p:blipFill>
                    <p:spPr>
                      <a:xfrm>
                        <a:off x="1357290" y="2714620"/>
                        <a:ext cx="6927850" cy="1647828"/>
                      </a:xfrm>
                      <a:prstGeom prst="rect">
                        <a:avLst/>
                      </a:prstGeom>
                      <a:noFill/>
                      <a:ln>
                        <a:noFill/>
                      </a:ln>
                    </p:spPr>
                  </p:pic>
                </p:oleObj>
              </mc:Fallback>
            </mc:AlternateContent>
          </a:graphicData>
        </a:graphic>
      </p:graphicFrame>
      <p:graphicFrame>
        <p:nvGraphicFramePr>
          <p:cNvPr id="388" name="Google Shape;388;p22"/>
          <p:cNvGraphicFramePr/>
          <p:nvPr/>
        </p:nvGraphicFramePr>
        <p:xfrm>
          <a:off x="1142976" y="4643446"/>
          <a:ext cx="7073900" cy="1643074"/>
        </p:xfrm>
        <a:graphic>
          <a:graphicData uri="http://schemas.openxmlformats.org/presentationml/2006/ole">
            <mc:AlternateContent>
              <mc:Choice Requires="v">
                <p:oleObj r:id="rId7" imgH="1643074" imgW="7073900" progId="PBrush" spid="_x0000_s2">
                  <p:embed/>
                </p:oleObj>
              </mc:Choice>
              <mc:Fallback>
                <p:oleObj r:id="rId8" imgH="1643074" imgW="7073900" progId="PBrush">
                  <p:embed/>
                  <p:pic>
                    <p:nvPicPr>
                      <p:cNvPr id="388" name="Google Shape;388;p22"/>
                      <p:cNvPicPr preferRelativeResize="0"/>
                      <p:nvPr/>
                    </p:nvPicPr>
                    <p:blipFill rotWithShape="1">
                      <a:blip r:embed="rId9">
                        <a:alphaModFix/>
                      </a:blip>
                      <a:srcRect b="0" l="0" r="0" t="0"/>
                      <a:stretch/>
                    </p:blipFill>
                    <p:spPr>
                      <a:xfrm>
                        <a:off x="1142976" y="4643446"/>
                        <a:ext cx="7073900" cy="1643074"/>
                      </a:xfrm>
                      <a:prstGeom prst="rect">
                        <a:avLst/>
                      </a:prstGeom>
                      <a:noFill/>
                      <a:ln>
                        <a:noFill/>
                      </a:ln>
                    </p:spPr>
                  </p:pic>
                </p:oleObj>
              </mc:Fallback>
            </mc:AlternateContent>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366092"/>
              </a:buClr>
              <a:buSzPts val="3200"/>
              <a:buFont typeface="Gill Sans"/>
              <a:buNone/>
            </a:pPr>
            <a:r>
              <a:rPr b="1" lang="en-US" sz="3200">
                <a:solidFill>
                  <a:srgbClr val="366092"/>
                </a:solidFill>
                <a:latin typeface="Gill Sans"/>
                <a:ea typeface="Gill Sans"/>
                <a:cs typeface="Gill Sans"/>
                <a:sym typeface="Gill Sans"/>
              </a:rPr>
              <a:t>Permissions for Different Groups of People</a:t>
            </a:r>
            <a:endParaRPr b="1" sz="3200">
              <a:solidFill>
                <a:srgbClr val="366092"/>
              </a:solidFill>
              <a:latin typeface="Gill Sans"/>
              <a:ea typeface="Gill Sans"/>
              <a:cs typeface="Gill Sans"/>
              <a:sym typeface="Gill Sans"/>
            </a:endParaRPr>
          </a:p>
        </p:txBody>
      </p:sp>
      <p:sp>
        <p:nvSpPr>
          <p:cNvPr id="395" name="Google Shape;395;p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90500" lvl="0" marL="342900" rtl="0" algn="l">
              <a:spcBef>
                <a:spcPts val="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US" sz="2400"/>
              <a:t>As well as having different types of permission, we can apply different sets of permissions to different sets of people.</a:t>
            </a:r>
            <a:endParaRPr/>
          </a:p>
          <a:p>
            <a:pPr indent="-342900" lvl="0" marL="342900" rtl="0" algn="l">
              <a:spcBef>
                <a:spcPts val="480"/>
              </a:spcBef>
              <a:spcAft>
                <a:spcPts val="0"/>
              </a:spcAft>
              <a:buClr>
                <a:schemeClr val="dk1"/>
              </a:buClr>
              <a:buSzPts val="2400"/>
              <a:buChar char="•"/>
            </a:pPr>
            <a:r>
              <a:rPr lang="en-US" sz="2400"/>
              <a:t>A file or directory has an owner and a group owner</a:t>
            </a:r>
            <a:endParaRPr/>
          </a:p>
          <a:p>
            <a:pPr indent="-342900" lvl="0" marL="342900" rtl="0" algn="l">
              <a:spcBef>
                <a:spcPts val="480"/>
              </a:spcBef>
              <a:spcAft>
                <a:spcPts val="0"/>
              </a:spcAft>
              <a:buClr>
                <a:schemeClr val="dk1"/>
              </a:buClr>
              <a:buSzPts val="2400"/>
              <a:buChar char="•"/>
            </a:pPr>
            <a:r>
              <a:rPr lang="en-US" sz="2400"/>
              <a:t>The r, w, x permissions are specified separately for the owner, for the group owner, and for everyone else (the ‘world’).</a:t>
            </a:r>
            <a:endParaRPr/>
          </a:p>
          <a:p>
            <a:pPr indent="-139700" lvl="0" marL="342900" rtl="0" algn="l">
              <a:spcBef>
                <a:spcPts val="640"/>
              </a:spcBef>
              <a:spcAft>
                <a:spcPts val="0"/>
              </a:spcAft>
              <a:buClr>
                <a:schemeClr val="dk1"/>
              </a:buClr>
              <a:buSzPts val="3200"/>
              <a:buNone/>
            </a:pPr>
            <a:r>
              <a:t/>
            </a:r>
            <a:endParaRPr/>
          </a:p>
        </p:txBody>
      </p:sp>
      <p:sp>
        <p:nvSpPr>
          <p:cNvPr id="396" name="Google Shape;396;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Blended Learning Program, IEEE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366092"/>
              </a:buClr>
              <a:buSzPts val="3200"/>
              <a:buFont typeface="Gill Sans"/>
              <a:buNone/>
            </a:pPr>
            <a:r>
              <a:rPr b="1" lang="en-US" sz="3200">
                <a:solidFill>
                  <a:srgbClr val="366092"/>
                </a:solidFill>
                <a:latin typeface="Gill Sans"/>
                <a:ea typeface="Gill Sans"/>
                <a:cs typeface="Gill Sans"/>
                <a:sym typeface="Gill Sans"/>
              </a:rPr>
              <a:t>Examining Permissions: ls -l</a:t>
            </a:r>
            <a:endParaRPr/>
          </a:p>
        </p:txBody>
      </p:sp>
      <p:sp>
        <p:nvSpPr>
          <p:cNvPr id="403" name="Google Shape;403;p24"/>
          <p:cNvSpPr txBox="1"/>
          <p:nvPr>
            <p:ph idx="1" type="body"/>
          </p:nvPr>
        </p:nvSpPr>
        <p:spPr>
          <a:xfrm>
            <a:off x="533400" y="1676400"/>
            <a:ext cx="8077200" cy="45720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Char char="•"/>
            </a:pPr>
            <a:r>
              <a:rPr lang="en-US" sz="2000"/>
              <a:t>The ls -l command allows you to view at the permissions on a file:</a:t>
            </a:r>
            <a:endParaRPr/>
          </a:p>
          <a:p>
            <a:pPr indent="-215900" lvl="0" marL="342900" rtl="0" algn="l">
              <a:spcBef>
                <a:spcPts val="400"/>
              </a:spcBef>
              <a:spcAft>
                <a:spcPts val="0"/>
              </a:spcAft>
              <a:buClr>
                <a:schemeClr val="dk1"/>
              </a:buClr>
              <a:buSzPts val="2000"/>
              <a:buNone/>
            </a:pPr>
            <a:r>
              <a:t/>
            </a:r>
            <a:endParaRPr sz="2000"/>
          </a:p>
          <a:p>
            <a:pPr indent="-215900" lvl="0" marL="342900" rtl="0" algn="l">
              <a:spcBef>
                <a:spcPts val="400"/>
              </a:spcBef>
              <a:spcAft>
                <a:spcPts val="0"/>
              </a:spcAft>
              <a:buClr>
                <a:schemeClr val="dk1"/>
              </a:buClr>
              <a:buSzPts val="2000"/>
              <a:buNone/>
            </a:pPr>
            <a:r>
              <a:t/>
            </a:r>
            <a:endParaRPr sz="2000"/>
          </a:p>
          <a:p>
            <a:pPr indent="-215900" lvl="0" marL="342900" rtl="0" algn="l">
              <a:spcBef>
                <a:spcPts val="400"/>
              </a:spcBef>
              <a:spcAft>
                <a:spcPts val="0"/>
              </a:spcAft>
              <a:buClr>
                <a:schemeClr val="dk1"/>
              </a:buClr>
              <a:buSzPts val="2000"/>
              <a:buNone/>
            </a:pPr>
            <a:r>
              <a:t/>
            </a:r>
            <a:endParaRPr sz="2000"/>
          </a:p>
          <a:p>
            <a:pPr indent="-342900" lvl="0" marL="342900" rtl="0" algn="l">
              <a:spcBef>
                <a:spcPts val="400"/>
              </a:spcBef>
              <a:spcAft>
                <a:spcPts val="0"/>
              </a:spcAft>
              <a:buClr>
                <a:schemeClr val="dk1"/>
              </a:buClr>
              <a:buSzPts val="2000"/>
              <a:buChar char="•"/>
            </a:pPr>
            <a:r>
              <a:rPr lang="en-US" sz="2000"/>
              <a:t>The first column is the permissions:</a:t>
            </a:r>
            <a:endParaRPr/>
          </a:p>
          <a:p>
            <a:pPr indent="-285750" lvl="1" marL="742950" rtl="0" algn="l">
              <a:spcBef>
                <a:spcPts val="400"/>
              </a:spcBef>
              <a:spcAft>
                <a:spcPts val="0"/>
              </a:spcAft>
              <a:buClr>
                <a:schemeClr val="dk1"/>
              </a:buClr>
              <a:buSzPts val="2000"/>
              <a:buChar char="–"/>
            </a:pPr>
            <a:r>
              <a:rPr lang="en-US" sz="2000"/>
              <a:t>One character for the file type: d for directories, - for plain files</a:t>
            </a:r>
            <a:endParaRPr/>
          </a:p>
          <a:p>
            <a:pPr indent="-285750" lvl="1" marL="742950" rtl="0" algn="l">
              <a:spcBef>
                <a:spcPts val="400"/>
              </a:spcBef>
              <a:spcAft>
                <a:spcPts val="0"/>
              </a:spcAft>
              <a:buClr>
                <a:schemeClr val="dk1"/>
              </a:buClr>
              <a:buSzPts val="2000"/>
              <a:buChar char="–"/>
            </a:pPr>
            <a:r>
              <a:rPr lang="en-US" sz="2000"/>
              <a:t>Three characters of rwx permissions for the owner (or a dash if the permission isn’t available)</a:t>
            </a:r>
            <a:endParaRPr/>
          </a:p>
          <a:p>
            <a:pPr indent="-285750" lvl="1" marL="742950" rtl="0" algn="l">
              <a:spcBef>
                <a:spcPts val="400"/>
              </a:spcBef>
              <a:spcAft>
                <a:spcPts val="0"/>
              </a:spcAft>
              <a:buClr>
                <a:schemeClr val="dk1"/>
              </a:buClr>
              <a:buSzPts val="2000"/>
              <a:buChar char="–"/>
            </a:pPr>
            <a:r>
              <a:rPr lang="en-US" sz="2000"/>
              <a:t>Three characters of rwx permissions for the group owner</a:t>
            </a:r>
            <a:endParaRPr/>
          </a:p>
          <a:p>
            <a:pPr indent="-285750" lvl="1" marL="742950" rtl="0" algn="l">
              <a:spcBef>
                <a:spcPts val="400"/>
              </a:spcBef>
              <a:spcAft>
                <a:spcPts val="0"/>
              </a:spcAft>
              <a:buClr>
                <a:schemeClr val="dk1"/>
              </a:buClr>
              <a:buSzPts val="2000"/>
              <a:buChar char="–"/>
            </a:pPr>
            <a:r>
              <a:rPr lang="en-US" sz="2000"/>
              <a:t>Three characters of rwx permissions for everyone else</a:t>
            </a:r>
            <a:endParaRPr/>
          </a:p>
          <a:p>
            <a:pPr indent="-342900" lvl="0" marL="342900" rtl="0" algn="l">
              <a:spcBef>
                <a:spcPts val="400"/>
              </a:spcBef>
              <a:spcAft>
                <a:spcPts val="0"/>
              </a:spcAft>
              <a:buClr>
                <a:schemeClr val="dk1"/>
              </a:buClr>
              <a:buSzPts val="2000"/>
              <a:buChar char="•"/>
            </a:pPr>
            <a:r>
              <a:rPr lang="en-US" sz="2000"/>
              <a:t>The third and fourth columns are the owner and group-owner</a:t>
            </a:r>
            <a:endParaRPr/>
          </a:p>
        </p:txBody>
      </p:sp>
      <p:pic>
        <p:nvPicPr>
          <p:cNvPr id="404" name="Google Shape;404;p24"/>
          <p:cNvPicPr preferRelativeResize="0"/>
          <p:nvPr/>
        </p:nvPicPr>
        <p:blipFill rotWithShape="1">
          <a:blip r:embed="rId3">
            <a:alphaModFix/>
          </a:blip>
          <a:srcRect b="0" l="0" r="0" t="0"/>
          <a:stretch/>
        </p:blipFill>
        <p:spPr>
          <a:xfrm>
            <a:off x="539552" y="2132856"/>
            <a:ext cx="8223250" cy="9334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366092"/>
              </a:buClr>
              <a:buSzPts val="3200"/>
              <a:buFont typeface="Gill Sans"/>
              <a:buNone/>
            </a:pPr>
            <a:r>
              <a:rPr b="1" lang="en-US" sz="3200">
                <a:solidFill>
                  <a:srgbClr val="366092"/>
                </a:solidFill>
                <a:latin typeface="Gill Sans"/>
                <a:ea typeface="Gill Sans"/>
                <a:cs typeface="Gill Sans"/>
                <a:sym typeface="Gill Sans"/>
              </a:rPr>
              <a:t>Examining Permissions: ls -l</a:t>
            </a:r>
            <a:endParaRPr b="1" sz="3200">
              <a:solidFill>
                <a:srgbClr val="366092"/>
              </a:solidFill>
              <a:latin typeface="Gill Sans"/>
              <a:ea typeface="Gill Sans"/>
              <a:cs typeface="Gill Sans"/>
              <a:sym typeface="Gill Sans"/>
            </a:endParaRPr>
          </a:p>
        </p:txBody>
      </p:sp>
      <p:sp>
        <p:nvSpPr>
          <p:cNvPr id="411" name="Google Shape;411;p25"/>
          <p:cNvSpPr txBox="1"/>
          <p:nvPr>
            <p:ph idx="1" type="body"/>
          </p:nvPr>
        </p:nvSpPr>
        <p:spPr>
          <a:xfrm>
            <a:off x="457200" y="2143116"/>
            <a:ext cx="8229600" cy="3983047"/>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output provides the following information:</a:t>
            </a:r>
            <a:endParaRPr/>
          </a:p>
          <a:p>
            <a:pPr indent="-342900" lvl="0" marL="342900" rtl="0" algn="l">
              <a:spcBef>
                <a:spcPts val="480"/>
              </a:spcBef>
              <a:spcAft>
                <a:spcPts val="0"/>
              </a:spcAft>
              <a:buClr>
                <a:schemeClr val="dk1"/>
              </a:buClr>
              <a:buSzPts val="2400"/>
              <a:buChar char="•"/>
            </a:pPr>
            <a:r>
              <a:rPr lang="en-US" sz="2400"/>
              <a:t>file permission</a:t>
            </a:r>
            <a:endParaRPr/>
          </a:p>
          <a:p>
            <a:pPr indent="-342900" lvl="0" marL="342900" rtl="0" algn="l">
              <a:spcBef>
                <a:spcPts val="480"/>
              </a:spcBef>
              <a:spcAft>
                <a:spcPts val="0"/>
              </a:spcAft>
              <a:buClr>
                <a:schemeClr val="dk1"/>
              </a:buClr>
              <a:buSzPts val="2400"/>
              <a:buChar char="•"/>
            </a:pPr>
            <a:r>
              <a:rPr lang="en-US" sz="2400"/>
              <a:t>the owner (creator) of the file</a:t>
            </a:r>
            <a:endParaRPr/>
          </a:p>
          <a:p>
            <a:pPr indent="-342900" lvl="0" marL="342900" rtl="0" algn="l">
              <a:spcBef>
                <a:spcPts val="480"/>
              </a:spcBef>
              <a:spcAft>
                <a:spcPts val="0"/>
              </a:spcAft>
              <a:buClr>
                <a:schemeClr val="dk1"/>
              </a:buClr>
              <a:buSzPts val="2400"/>
              <a:buChar char="•"/>
            </a:pPr>
            <a:r>
              <a:rPr lang="en-US" sz="2400"/>
              <a:t>the group to which that owner belongs to</a:t>
            </a:r>
            <a:endParaRPr/>
          </a:p>
          <a:p>
            <a:pPr indent="-342900" lvl="0" marL="342900" rtl="0" algn="l">
              <a:spcBef>
                <a:spcPts val="480"/>
              </a:spcBef>
              <a:spcAft>
                <a:spcPts val="0"/>
              </a:spcAft>
              <a:buClr>
                <a:schemeClr val="dk1"/>
              </a:buClr>
              <a:buSzPts val="2400"/>
              <a:buChar char="•"/>
            </a:pPr>
            <a:r>
              <a:rPr lang="en-US" sz="2400"/>
              <a:t>the date of creation.</a:t>
            </a:r>
            <a:endParaRPr/>
          </a:p>
        </p:txBody>
      </p:sp>
      <p:sp>
        <p:nvSpPr>
          <p:cNvPr id="412" name="Google Shape;412;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Blended Learning Program, IEEE                                                                       </a:t>
            </a:r>
            <a:endParaRPr/>
          </a:p>
        </p:txBody>
      </p:sp>
      <p:pic>
        <p:nvPicPr>
          <p:cNvPr id="413" name="Google Shape;413;p25"/>
          <p:cNvPicPr preferRelativeResize="0"/>
          <p:nvPr/>
        </p:nvPicPr>
        <p:blipFill rotWithShape="1">
          <a:blip r:embed="rId3">
            <a:alphaModFix/>
          </a:blip>
          <a:srcRect b="0" l="0" r="0" t="0"/>
          <a:stretch/>
        </p:blipFill>
        <p:spPr>
          <a:xfrm>
            <a:off x="323528" y="4437112"/>
            <a:ext cx="8699500" cy="15049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26"/>
          <p:cNvSpPr txBox="1"/>
          <p:nvPr>
            <p:ph type="title"/>
          </p:nvPr>
        </p:nvSpPr>
        <p:spPr>
          <a:xfrm>
            <a:off x="533400" y="381000"/>
            <a:ext cx="80772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366092"/>
              </a:buClr>
              <a:buSzPts val="3200"/>
              <a:buFont typeface="Gill Sans"/>
              <a:buNone/>
            </a:pPr>
            <a:r>
              <a:rPr b="1" lang="en-US" sz="3200">
                <a:solidFill>
                  <a:srgbClr val="366092"/>
                </a:solidFill>
                <a:latin typeface="Gill Sans"/>
                <a:ea typeface="Gill Sans"/>
                <a:cs typeface="Gill Sans"/>
                <a:sym typeface="Gill Sans"/>
              </a:rPr>
              <a:t>How Permissions are Applied</a:t>
            </a:r>
            <a:endParaRPr/>
          </a:p>
        </p:txBody>
      </p:sp>
      <p:sp>
        <p:nvSpPr>
          <p:cNvPr id="420" name="Google Shape;420;p26"/>
          <p:cNvSpPr txBox="1"/>
          <p:nvPr>
            <p:ph idx="1" type="body"/>
          </p:nvPr>
        </p:nvSpPr>
        <p:spPr>
          <a:xfrm>
            <a:off x="533400" y="1981200"/>
            <a:ext cx="7927032" cy="42672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If you own a file, the per-owner permissions apply to you</a:t>
            </a:r>
            <a:endParaRPr/>
          </a:p>
          <a:p>
            <a:pPr indent="-342900" lvl="0" marL="342900" rtl="0" algn="l">
              <a:spcBef>
                <a:spcPts val="480"/>
              </a:spcBef>
              <a:spcAft>
                <a:spcPts val="0"/>
              </a:spcAft>
              <a:buClr>
                <a:schemeClr val="dk1"/>
              </a:buClr>
              <a:buSzPts val="2400"/>
              <a:buChar char="•"/>
            </a:pPr>
            <a:r>
              <a:rPr lang="en-US" sz="2400"/>
              <a:t>Otherwise, if you are in the group that group-owns the file, the per-group permissions apply to you</a:t>
            </a:r>
            <a:endParaRPr/>
          </a:p>
          <a:p>
            <a:pPr indent="-342900" lvl="0" marL="342900" rtl="0" algn="l">
              <a:spcBef>
                <a:spcPts val="480"/>
              </a:spcBef>
              <a:spcAft>
                <a:spcPts val="0"/>
              </a:spcAft>
              <a:buClr>
                <a:schemeClr val="dk1"/>
              </a:buClr>
              <a:buSzPts val="2400"/>
              <a:buChar char="•"/>
            </a:pPr>
            <a:r>
              <a:rPr lang="en-US" sz="2400"/>
              <a:t>If neither of those is the case, the for-everyone-else permissions apply to you</a:t>
            </a:r>
            <a:endParaRPr/>
          </a:p>
        </p:txBody>
      </p:sp>
      <p:sp>
        <p:nvSpPr>
          <p:cNvPr id="421" name="Google Shape;421;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422" name="Google Shape;422;p26"/>
          <p:cNvPicPr preferRelativeResize="0"/>
          <p:nvPr/>
        </p:nvPicPr>
        <p:blipFill rotWithShape="1">
          <a:blip r:embed="rId3">
            <a:alphaModFix/>
          </a:blip>
          <a:srcRect b="0" l="0" r="0" t="0"/>
          <a:stretch/>
        </p:blipFill>
        <p:spPr>
          <a:xfrm>
            <a:off x="1043608" y="4221088"/>
            <a:ext cx="6912768" cy="198884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366092"/>
              </a:buClr>
              <a:buSzPts val="3200"/>
              <a:buFont typeface="Gill Sans"/>
              <a:buNone/>
            </a:pPr>
            <a:r>
              <a:rPr b="1" lang="en-US" sz="3200">
                <a:solidFill>
                  <a:srgbClr val="366092"/>
                </a:solidFill>
                <a:latin typeface="Gill Sans"/>
                <a:ea typeface="Gill Sans"/>
                <a:cs typeface="Gill Sans"/>
                <a:sym typeface="Gill Sans"/>
              </a:rPr>
              <a:t>Changing Permissions</a:t>
            </a:r>
            <a:endParaRPr/>
          </a:p>
        </p:txBody>
      </p:sp>
      <p:sp>
        <p:nvSpPr>
          <p:cNvPr id="429" name="Google Shape;429;p27"/>
          <p:cNvSpPr txBox="1"/>
          <p:nvPr>
            <p:ph idx="4294967295" type="ftr"/>
          </p:nvPr>
        </p:nvSpPr>
        <p:spPr>
          <a:xfrm>
            <a:off x="1905000" y="6172200"/>
            <a:ext cx="3962400" cy="457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@ITSS C-DAC Bangalore</a:t>
            </a:r>
            <a:endParaRPr/>
          </a:p>
        </p:txBody>
      </p:sp>
      <p:sp>
        <p:nvSpPr>
          <p:cNvPr id="430" name="Google Shape;430;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31" name="Google Shape;431;p2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2400"/>
              <a:buChar char="•"/>
            </a:pPr>
            <a:r>
              <a:rPr lang="en-US" sz="2400"/>
              <a:t>The chmod command changes the permissions of a file or directory</a:t>
            </a:r>
            <a:endParaRPr/>
          </a:p>
          <a:p>
            <a:pPr indent="-285750" lvl="1" marL="742950" rtl="0" algn="l">
              <a:lnSpc>
                <a:spcPct val="90000"/>
              </a:lnSpc>
              <a:spcBef>
                <a:spcPts val="480"/>
              </a:spcBef>
              <a:spcAft>
                <a:spcPts val="0"/>
              </a:spcAft>
              <a:buClr>
                <a:schemeClr val="dk1"/>
              </a:buClr>
              <a:buSzPts val="2400"/>
              <a:buChar char="–"/>
            </a:pPr>
            <a:r>
              <a:rPr lang="en-US" sz="2400"/>
              <a:t>A file’s permissions may be changed only by its owner or by the superuser</a:t>
            </a:r>
            <a:endParaRPr sz="2400"/>
          </a:p>
          <a:p>
            <a:pPr indent="-342900" lvl="0" marL="342900" rtl="0" algn="l">
              <a:lnSpc>
                <a:spcPct val="90000"/>
              </a:lnSpc>
              <a:spcBef>
                <a:spcPts val="480"/>
              </a:spcBef>
              <a:spcAft>
                <a:spcPts val="0"/>
              </a:spcAft>
              <a:buClr>
                <a:schemeClr val="dk1"/>
              </a:buClr>
              <a:buSzPts val="2400"/>
              <a:buChar char="•"/>
            </a:pPr>
            <a:r>
              <a:rPr lang="en-US" sz="2400"/>
              <a:t>chmod takes an argument describing the new permissions</a:t>
            </a:r>
            <a:endParaRPr/>
          </a:p>
          <a:p>
            <a:pPr indent="-190500" lvl="0" marL="342900" rtl="0" algn="l">
              <a:lnSpc>
                <a:spcPct val="90000"/>
              </a:lnSpc>
              <a:spcBef>
                <a:spcPts val="480"/>
              </a:spcBef>
              <a:spcAft>
                <a:spcPts val="0"/>
              </a:spcAft>
              <a:buClr>
                <a:schemeClr val="dk1"/>
              </a:buClr>
              <a:buSzPts val="2400"/>
              <a:buNone/>
            </a:pPr>
            <a:r>
              <a:t/>
            </a:r>
            <a:endParaRPr sz="2400"/>
          </a:p>
          <a:p>
            <a:pPr indent="-190500" lvl="0" marL="342900" rtl="0" algn="l">
              <a:lnSpc>
                <a:spcPct val="90000"/>
              </a:lnSpc>
              <a:spcBef>
                <a:spcPts val="480"/>
              </a:spcBef>
              <a:spcAft>
                <a:spcPts val="0"/>
              </a:spcAft>
              <a:buClr>
                <a:schemeClr val="dk1"/>
              </a:buClr>
              <a:buSzPts val="2400"/>
              <a:buNone/>
            </a:pPr>
            <a:r>
              <a:t/>
            </a:r>
            <a:endParaRPr sz="2400"/>
          </a:p>
          <a:p>
            <a:pPr indent="-342900" lvl="0" marL="342900" rtl="0" algn="l">
              <a:lnSpc>
                <a:spcPct val="90000"/>
              </a:lnSpc>
              <a:spcBef>
                <a:spcPts val="480"/>
              </a:spcBef>
              <a:spcAft>
                <a:spcPts val="0"/>
              </a:spcAft>
              <a:buClr>
                <a:schemeClr val="dk1"/>
              </a:buClr>
              <a:buSzPts val="2400"/>
              <a:buChar char="•"/>
            </a:pPr>
            <a:r>
              <a:rPr lang="en-US" sz="2400"/>
              <a:t>Simple example: you want to set permission on file abc.txt where owner of the file have rwx(4+2+1) permissions and group has only read permission(4+0+0) and other has none permission(0+0+0).</a:t>
            </a:r>
            <a:endParaRPr/>
          </a:p>
          <a:p>
            <a:pPr indent="-285750" lvl="1" marL="742950" rtl="0" algn="l">
              <a:lnSpc>
                <a:spcPct val="90000"/>
              </a:lnSpc>
              <a:spcBef>
                <a:spcPts val="480"/>
              </a:spcBef>
              <a:spcAft>
                <a:spcPts val="0"/>
              </a:spcAft>
              <a:buClr>
                <a:schemeClr val="dk1"/>
              </a:buClr>
              <a:buSzPts val="2400"/>
              <a:buChar char="–"/>
            </a:pPr>
            <a:r>
              <a:rPr lang="en-US" sz="2400"/>
              <a:t>#chmod 740 abc.txt</a:t>
            </a:r>
            <a:endParaRPr/>
          </a:p>
          <a:p>
            <a:pPr indent="-203200" lvl="0" marL="342900" rtl="0" algn="l">
              <a:lnSpc>
                <a:spcPct val="90000"/>
              </a:lnSpc>
              <a:spcBef>
                <a:spcPts val="440"/>
              </a:spcBef>
              <a:spcAft>
                <a:spcPts val="0"/>
              </a:spcAft>
              <a:buClr>
                <a:schemeClr val="dk1"/>
              </a:buClr>
              <a:buSzPts val="2200"/>
              <a:buNone/>
            </a:pPr>
            <a:r>
              <a:t/>
            </a:r>
            <a:endParaRPr sz="2200"/>
          </a:p>
        </p:txBody>
      </p:sp>
      <p:graphicFrame>
        <p:nvGraphicFramePr>
          <p:cNvPr id="432" name="Google Shape;432;p27"/>
          <p:cNvGraphicFramePr/>
          <p:nvPr/>
        </p:nvGraphicFramePr>
        <p:xfrm>
          <a:off x="2267744" y="3573016"/>
          <a:ext cx="3000000" cy="3000000"/>
        </p:xfrm>
        <a:graphic>
          <a:graphicData uri="http://schemas.openxmlformats.org/drawingml/2006/table">
            <a:tbl>
              <a:tblPr>
                <a:noFill/>
                <a:tableStyleId>{3F81C10D-9ED4-49E1-B937-6731399BFBC4}</a:tableStyleId>
              </a:tblPr>
              <a:tblGrid>
                <a:gridCol w="1292100"/>
                <a:gridCol w="926125"/>
                <a:gridCol w="1054975"/>
                <a:gridCol w="1191275"/>
              </a:tblGrid>
              <a:tr h="228600">
                <a:tc>
                  <a:txBody>
                    <a:bodyPr/>
                    <a:lstStyle/>
                    <a:p>
                      <a:pPr indent="0" lvl="0" marL="0" marR="0" rtl="0" algn="l">
                        <a:lnSpc>
                          <a:spcPct val="115000"/>
                        </a:lnSpc>
                        <a:spcBef>
                          <a:spcPts val="0"/>
                        </a:spcBef>
                        <a:spcAft>
                          <a:spcPts val="0"/>
                        </a:spcAft>
                        <a:buNone/>
                      </a:pPr>
                      <a:r>
                        <a:rPr b="1" lang="en-US" sz="1800" u="none" cap="none" strike="noStrike">
                          <a:latin typeface="Calibri"/>
                          <a:ea typeface="Calibri"/>
                          <a:cs typeface="Calibri"/>
                          <a:sym typeface="Calibri"/>
                        </a:rPr>
                        <a:t>Permissions</a:t>
                      </a:r>
                      <a:endParaRPr sz="18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6DDE8"/>
                    </a:solidFill>
                  </a:tcPr>
                </a:tc>
                <a:tc>
                  <a:txBody>
                    <a:bodyPr/>
                    <a:lstStyle/>
                    <a:p>
                      <a:pPr indent="0" lvl="0" marL="0" marR="0" rtl="0" algn="l">
                        <a:lnSpc>
                          <a:spcPct val="115000"/>
                        </a:lnSpc>
                        <a:spcBef>
                          <a:spcPts val="0"/>
                        </a:spcBef>
                        <a:spcAft>
                          <a:spcPts val="0"/>
                        </a:spcAft>
                        <a:buNone/>
                      </a:pPr>
                      <a:r>
                        <a:rPr lang="en-US" sz="1800" u="none" cap="none" strike="noStrike">
                          <a:latin typeface="Calibri"/>
                          <a:ea typeface="Calibri"/>
                          <a:cs typeface="Calibri"/>
                          <a:sym typeface="Calibri"/>
                        </a:rPr>
                        <a:t>Read (r)</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lang="en-US" sz="1800" u="none" cap="none" strike="noStrike">
                          <a:latin typeface="Calibri"/>
                          <a:ea typeface="Calibri"/>
                          <a:cs typeface="Calibri"/>
                          <a:sym typeface="Calibri"/>
                        </a:rPr>
                        <a:t>Write (w)</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lang="en-US" sz="1800" u="none" cap="none" strike="noStrike">
                          <a:latin typeface="Calibri"/>
                          <a:ea typeface="Calibri"/>
                          <a:cs typeface="Calibri"/>
                          <a:sym typeface="Calibri"/>
                        </a:rPr>
                        <a:t>Execute (x)</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28600">
                <a:tc>
                  <a:txBody>
                    <a:bodyPr/>
                    <a:lstStyle/>
                    <a:p>
                      <a:pPr indent="0" lvl="0" marL="0" marR="0" rtl="0" algn="l">
                        <a:lnSpc>
                          <a:spcPct val="115000"/>
                        </a:lnSpc>
                        <a:spcBef>
                          <a:spcPts val="0"/>
                        </a:spcBef>
                        <a:spcAft>
                          <a:spcPts val="0"/>
                        </a:spcAft>
                        <a:buNone/>
                      </a:pPr>
                      <a:r>
                        <a:rPr b="1" lang="en-US" sz="1800" u="none" cap="none" strike="noStrike">
                          <a:latin typeface="Calibri"/>
                          <a:ea typeface="Calibri"/>
                          <a:cs typeface="Calibri"/>
                          <a:sym typeface="Calibri"/>
                        </a:rPr>
                        <a:t>Values</a:t>
                      </a:r>
                      <a:endParaRPr sz="18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6DDE8"/>
                    </a:solidFill>
                  </a:tcPr>
                </a:tc>
                <a:tc>
                  <a:txBody>
                    <a:bodyPr/>
                    <a:lstStyle/>
                    <a:p>
                      <a:pPr indent="0" lvl="0" marL="0" marR="0" rtl="0" algn="l">
                        <a:lnSpc>
                          <a:spcPct val="115000"/>
                        </a:lnSpc>
                        <a:spcBef>
                          <a:spcPts val="0"/>
                        </a:spcBef>
                        <a:spcAft>
                          <a:spcPts val="0"/>
                        </a:spcAft>
                        <a:buNone/>
                      </a:pPr>
                      <a:r>
                        <a:rPr lang="en-US" sz="1800" u="none" cap="none" strike="noStrike">
                          <a:latin typeface="Calibri"/>
                          <a:ea typeface="Calibri"/>
                          <a:cs typeface="Calibri"/>
                          <a:sym typeface="Calibri"/>
                        </a:rPr>
                        <a:t>4</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lang="en-US" sz="1800" u="none" cap="none" strike="noStrike">
                          <a:latin typeface="Calibri"/>
                          <a:ea typeface="Calibri"/>
                          <a:cs typeface="Calibri"/>
                          <a:sym typeface="Calibri"/>
                        </a:rPr>
                        <a:t>2</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lang="en-US" sz="1800" u="none" cap="none" strike="noStrike">
                          <a:latin typeface="Calibri"/>
                          <a:ea typeface="Calibri"/>
                          <a:cs typeface="Calibri"/>
                          <a:sym typeface="Calibri"/>
                        </a:rPr>
                        <a:t>1</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366092"/>
              </a:buClr>
              <a:buSzPts val="3200"/>
              <a:buFont typeface="Gill Sans"/>
              <a:buNone/>
            </a:pPr>
            <a:r>
              <a:rPr b="1" lang="en-US" sz="3200">
                <a:solidFill>
                  <a:srgbClr val="366092"/>
                </a:solidFill>
                <a:latin typeface="Gill Sans"/>
                <a:ea typeface="Gill Sans"/>
                <a:cs typeface="Gill Sans"/>
                <a:sym typeface="Gill Sans"/>
              </a:rPr>
              <a:t>Changing Permissions</a:t>
            </a:r>
            <a:endParaRPr/>
          </a:p>
        </p:txBody>
      </p:sp>
      <p:sp>
        <p:nvSpPr>
          <p:cNvPr id="439" name="Google Shape;439;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40" name="Google Shape;440;p2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2400"/>
              <a:buChar char="•"/>
            </a:pPr>
            <a:r>
              <a:rPr lang="en-US" sz="2400"/>
              <a:t>In symbolic mode, you can modify the permissions of a specific owner</a:t>
            </a:r>
            <a:endParaRPr sz="2400"/>
          </a:p>
          <a:p>
            <a:pPr indent="-342900" lvl="0" marL="342900" rtl="0" algn="l">
              <a:lnSpc>
                <a:spcPct val="90000"/>
              </a:lnSpc>
              <a:spcBef>
                <a:spcPts val="480"/>
              </a:spcBef>
              <a:spcAft>
                <a:spcPts val="0"/>
              </a:spcAft>
              <a:buClr>
                <a:schemeClr val="dk1"/>
              </a:buClr>
              <a:buSzPts val="2400"/>
              <a:buChar char="•"/>
            </a:pPr>
            <a:r>
              <a:rPr lang="en-US" sz="2400"/>
              <a:t>Permissions can be set using letters in the following format:</a:t>
            </a:r>
            <a:endParaRPr/>
          </a:p>
          <a:p>
            <a:pPr indent="-285750" lvl="1" marL="742950" rtl="0" algn="l">
              <a:lnSpc>
                <a:spcPct val="90000"/>
              </a:lnSpc>
              <a:spcBef>
                <a:spcPts val="480"/>
              </a:spcBef>
              <a:spcAft>
                <a:spcPts val="0"/>
              </a:spcAft>
              <a:buClr>
                <a:schemeClr val="dk1"/>
              </a:buClr>
              <a:buSzPts val="2400"/>
              <a:buChar char="–"/>
            </a:pPr>
            <a:r>
              <a:rPr lang="en-US" sz="2400"/>
              <a:t>[</a:t>
            </a:r>
            <a:r>
              <a:rPr b="1" lang="en-US" sz="2400"/>
              <a:t>ugoa</a:t>
            </a:r>
            <a:r>
              <a:rPr lang="en-US" sz="2400"/>
              <a:t>][</a:t>
            </a:r>
            <a:r>
              <a:rPr b="1" lang="en-US" sz="2400"/>
              <a:t>+=-</a:t>
            </a:r>
            <a:r>
              <a:rPr lang="en-US" sz="2400"/>
              <a:t>][</a:t>
            </a:r>
            <a:r>
              <a:rPr b="1" lang="en-US" sz="2400"/>
              <a:t>rwx</a:t>
            </a:r>
            <a:r>
              <a:rPr lang="en-US" sz="2400"/>
              <a:t>]</a:t>
            </a:r>
            <a:endParaRPr/>
          </a:p>
          <a:p>
            <a:pPr indent="-342900" lvl="0" marL="342900" rtl="0" algn="l">
              <a:lnSpc>
                <a:spcPct val="90000"/>
              </a:lnSpc>
              <a:spcBef>
                <a:spcPts val="480"/>
              </a:spcBef>
              <a:spcAft>
                <a:spcPts val="0"/>
              </a:spcAft>
              <a:buClr>
                <a:schemeClr val="dk1"/>
              </a:buClr>
              <a:buSzPts val="2400"/>
              <a:buChar char="•"/>
            </a:pPr>
            <a:r>
              <a:rPr lang="en-US" sz="2400"/>
              <a:t>The first letters indicate who to set permissions for:</a:t>
            </a:r>
            <a:endParaRPr/>
          </a:p>
          <a:p>
            <a:pPr indent="-285750" lvl="1" marL="742950" rtl="0" algn="l">
              <a:lnSpc>
                <a:spcPct val="90000"/>
              </a:lnSpc>
              <a:spcBef>
                <a:spcPts val="480"/>
              </a:spcBef>
              <a:spcAft>
                <a:spcPts val="0"/>
              </a:spcAft>
              <a:buClr>
                <a:schemeClr val="dk1"/>
              </a:buClr>
              <a:buSzPts val="2400"/>
              <a:buChar char="–"/>
            </a:pPr>
            <a:r>
              <a:rPr lang="en-US" sz="2400"/>
              <a:t>u for the file’s owner, g for the group owner, o for other users, or a for all users</a:t>
            </a:r>
            <a:endParaRPr/>
          </a:p>
          <a:p>
            <a:pPr indent="-342900" lvl="0" marL="342900" rtl="0" algn="l">
              <a:lnSpc>
                <a:spcPct val="90000"/>
              </a:lnSpc>
              <a:spcBef>
                <a:spcPts val="480"/>
              </a:spcBef>
              <a:spcAft>
                <a:spcPts val="0"/>
              </a:spcAft>
              <a:buClr>
                <a:schemeClr val="dk1"/>
              </a:buClr>
              <a:buSzPts val="2400"/>
              <a:buChar char="•"/>
            </a:pPr>
            <a:r>
              <a:rPr lang="en-US" sz="2400"/>
              <a:t> = sets permissions for files, + adds permissions to those already set, and – removes permissions</a:t>
            </a:r>
            <a:endParaRPr/>
          </a:p>
          <a:p>
            <a:pPr indent="-342900" lvl="0" marL="342900" rtl="0" algn="l">
              <a:lnSpc>
                <a:spcPct val="90000"/>
              </a:lnSpc>
              <a:spcBef>
                <a:spcPts val="480"/>
              </a:spcBef>
              <a:spcAft>
                <a:spcPts val="0"/>
              </a:spcAft>
              <a:buClr>
                <a:schemeClr val="dk1"/>
              </a:buClr>
              <a:buSzPts val="2400"/>
              <a:buChar char="•"/>
            </a:pPr>
            <a:r>
              <a:rPr lang="en-US" sz="2400"/>
              <a:t>The final letters indicate which of the r, w, x permissions to set</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366092"/>
              </a:buClr>
              <a:buSzPts val="3200"/>
              <a:buFont typeface="Gill Sans"/>
              <a:buNone/>
            </a:pPr>
            <a:r>
              <a:rPr b="1" lang="en-US" sz="3200">
                <a:solidFill>
                  <a:srgbClr val="366092"/>
                </a:solidFill>
                <a:latin typeface="Gill Sans"/>
                <a:ea typeface="Gill Sans"/>
                <a:cs typeface="Gill Sans"/>
                <a:sym typeface="Gill Sans"/>
              </a:rPr>
              <a:t>Default Permissions</a:t>
            </a:r>
            <a:endParaRPr/>
          </a:p>
        </p:txBody>
      </p:sp>
      <p:sp>
        <p:nvSpPr>
          <p:cNvPr id="447" name="Google Shape;447;p29"/>
          <p:cNvSpPr txBox="1"/>
          <p:nvPr>
            <p:ph idx="1" type="body"/>
          </p:nvPr>
        </p:nvSpPr>
        <p:spPr>
          <a:xfrm>
            <a:off x="457200" y="1600200"/>
            <a:ext cx="8219256"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2400"/>
              <a:buChar char="•"/>
            </a:pPr>
            <a:r>
              <a:rPr lang="en-US" sz="2400"/>
              <a:t>The default permission for a file or directory is determined by the umask value of the user's shell.</a:t>
            </a:r>
            <a:endParaRPr/>
          </a:p>
          <a:p>
            <a:pPr indent="-342900" lvl="0" marL="342900" rtl="0" algn="l">
              <a:lnSpc>
                <a:spcPct val="90000"/>
              </a:lnSpc>
              <a:spcBef>
                <a:spcPts val="480"/>
              </a:spcBef>
              <a:spcAft>
                <a:spcPts val="0"/>
              </a:spcAft>
              <a:buClr>
                <a:schemeClr val="dk1"/>
              </a:buClr>
              <a:buSzPts val="2400"/>
              <a:buChar char="•"/>
            </a:pPr>
            <a:r>
              <a:rPr lang="en-US" sz="2400"/>
              <a:t>The umask command allows you to affect the default permissions on files and directories you create.</a:t>
            </a:r>
            <a:endParaRPr sz="2400"/>
          </a:p>
          <a:p>
            <a:pPr indent="-342900" lvl="0" marL="342900" rtl="0" algn="l">
              <a:lnSpc>
                <a:spcPct val="90000"/>
              </a:lnSpc>
              <a:spcBef>
                <a:spcPts val="480"/>
              </a:spcBef>
              <a:spcAft>
                <a:spcPts val="0"/>
              </a:spcAft>
              <a:buClr>
                <a:schemeClr val="dk1"/>
              </a:buClr>
              <a:buSzPts val="2400"/>
              <a:buChar char="•"/>
            </a:pPr>
            <a:r>
              <a:rPr lang="en-US" sz="2400"/>
              <a:t>For directories, the </a:t>
            </a:r>
            <a:r>
              <a:rPr b="1" lang="en-US" sz="2400"/>
              <a:t>defaults permission bits</a:t>
            </a:r>
            <a:r>
              <a:rPr lang="en-US" sz="2400"/>
              <a:t> are (rwxrwxrwx) 777 and for files they are 666 (rw-rw-rw). </a:t>
            </a:r>
            <a:endParaRPr sz="2400"/>
          </a:p>
        </p:txBody>
      </p:sp>
      <p:graphicFrame>
        <p:nvGraphicFramePr>
          <p:cNvPr id="448" name="Google Shape;448;p29"/>
          <p:cNvGraphicFramePr/>
          <p:nvPr/>
        </p:nvGraphicFramePr>
        <p:xfrm>
          <a:off x="1115616" y="3830148"/>
          <a:ext cx="3000000" cy="3000000"/>
        </p:xfrm>
        <a:graphic>
          <a:graphicData uri="http://schemas.openxmlformats.org/drawingml/2006/table">
            <a:tbl>
              <a:tblPr>
                <a:noFill/>
                <a:tableStyleId>{3F81C10D-9ED4-49E1-B937-6731399BFBC4}</a:tableStyleId>
              </a:tblPr>
              <a:tblGrid>
                <a:gridCol w="1260900"/>
                <a:gridCol w="5219825"/>
              </a:tblGrid>
              <a:tr h="228600">
                <a:tc>
                  <a:txBody>
                    <a:bodyPr/>
                    <a:lstStyle/>
                    <a:p>
                      <a:pPr indent="0" lvl="0" marL="0" marR="0" rtl="0" algn="l">
                        <a:lnSpc>
                          <a:spcPct val="115000"/>
                        </a:lnSpc>
                        <a:spcBef>
                          <a:spcPts val="0"/>
                        </a:spcBef>
                        <a:spcAft>
                          <a:spcPts val="0"/>
                        </a:spcAft>
                        <a:buNone/>
                      </a:pPr>
                      <a:r>
                        <a:rPr lang="en-US" sz="1800" u="none" cap="none" strike="noStrike">
                          <a:latin typeface="Calibri"/>
                          <a:ea typeface="Calibri"/>
                          <a:cs typeface="Calibri"/>
                          <a:sym typeface="Calibri"/>
                        </a:rPr>
                        <a:t>Value</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95B3D7"/>
                    </a:solidFill>
                  </a:tcPr>
                </a:tc>
                <a:tc>
                  <a:txBody>
                    <a:bodyPr/>
                    <a:lstStyle/>
                    <a:p>
                      <a:pPr indent="0" lvl="0" marL="0" marR="0" rtl="0" algn="l">
                        <a:lnSpc>
                          <a:spcPct val="115000"/>
                        </a:lnSpc>
                        <a:spcBef>
                          <a:spcPts val="0"/>
                        </a:spcBef>
                        <a:spcAft>
                          <a:spcPts val="0"/>
                        </a:spcAft>
                        <a:buNone/>
                      </a:pPr>
                      <a:r>
                        <a:rPr lang="en-US" sz="1800" u="none" cap="none" strike="noStrike">
                          <a:latin typeface="Calibri"/>
                          <a:ea typeface="Calibri"/>
                          <a:cs typeface="Calibri"/>
                          <a:sym typeface="Calibri"/>
                        </a:rPr>
                        <a:t>Description</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95B3D7"/>
                    </a:solidFill>
                  </a:tcPr>
                </a:tc>
              </a:tr>
              <a:tr h="228600">
                <a:tc>
                  <a:txBody>
                    <a:bodyPr/>
                    <a:lstStyle/>
                    <a:p>
                      <a:pPr indent="0" lvl="0" marL="0" marR="0" rtl="0" algn="l">
                        <a:lnSpc>
                          <a:spcPct val="115000"/>
                        </a:lnSpc>
                        <a:spcBef>
                          <a:spcPts val="0"/>
                        </a:spcBef>
                        <a:spcAft>
                          <a:spcPts val="0"/>
                        </a:spcAft>
                        <a:buNone/>
                      </a:pPr>
                      <a:r>
                        <a:rPr lang="en-US" sz="1800" u="none" cap="none" strike="noStrike">
                          <a:latin typeface="Calibri"/>
                          <a:ea typeface="Calibri"/>
                          <a:cs typeface="Calibri"/>
                          <a:sym typeface="Calibri"/>
                        </a:rPr>
                        <a:t>0</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lang="en-US" sz="1800" u="none" cap="none" strike="noStrike">
                          <a:latin typeface="Calibri"/>
                          <a:ea typeface="Calibri"/>
                          <a:cs typeface="Calibri"/>
                          <a:sym typeface="Calibri"/>
                        </a:rPr>
                        <a:t>read, write and execute (Only Directories)</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28600">
                <a:tc>
                  <a:txBody>
                    <a:bodyPr/>
                    <a:lstStyle/>
                    <a:p>
                      <a:pPr indent="0" lvl="0" marL="0" marR="0" rtl="0" algn="l">
                        <a:lnSpc>
                          <a:spcPct val="115000"/>
                        </a:lnSpc>
                        <a:spcBef>
                          <a:spcPts val="0"/>
                        </a:spcBef>
                        <a:spcAft>
                          <a:spcPts val="0"/>
                        </a:spcAft>
                        <a:buNone/>
                      </a:pPr>
                      <a:r>
                        <a:rPr lang="en-US" sz="1800" u="none" cap="none" strike="noStrike">
                          <a:latin typeface="Calibri"/>
                          <a:ea typeface="Calibri"/>
                          <a:cs typeface="Calibri"/>
                          <a:sym typeface="Calibri"/>
                        </a:rPr>
                        <a:t>1</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lang="en-US" sz="1800" u="none" cap="none" strike="noStrike">
                          <a:latin typeface="Calibri"/>
                          <a:ea typeface="Calibri"/>
                          <a:cs typeface="Calibri"/>
                          <a:sym typeface="Calibri"/>
                        </a:rPr>
                        <a:t>read and write</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28600">
                <a:tc>
                  <a:txBody>
                    <a:bodyPr/>
                    <a:lstStyle/>
                    <a:p>
                      <a:pPr indent="0" lvl="0" marL="0" marR="0" rtl="0" algn="l">
                        <a:lnSpc>
                          <a:spcPct val="115000"/>
                        </a:lnSpc>
                        <a:spcBef>
                          <a:spcPts val="0"/>
                        </a:spcBef>
                        <a:spcAft>
                          <a:spcPts val="0"/>
                        </a:spcAft>
                        <a:buNone/>
                      </a:pPr>
                      <a:r>
                        <a:rPr lang="en-US" sz="1800" u="none" cap="none" strike="noStrike">
                          <a:latin typeface="Calibri"/>
                          <a:ea typeface="Calibri"/>
                          <a:cs typeface="Calibri"/>
                          <a:sym typeface="Calibri"/>
                        </a:rPr>
                        <a:t>2</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lang="en-US" sz="1800" u="none" cap="none" strike="noStrike">
                          <a:latin typeface="Calibri"/>
                          <a:ea typeface="Calibri"/>
                          <a:cs typeface="Calibri"/>
                          <a:sym typeface="Calibri"/>
                        </a:rPr>
                        <a:t>read and execute</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28600">
                <a:tc>
                  <a:txBody>
                    <a:bodyPr/>
                    <a:lstStyle/>
                    <a:p>
                      <a:pPr indent="0" lvl="0" marL="0" marR="0" rtl="0" algn="l">
                        <a:lnSpc>
                          <a:spcPct val="115000"/>
                        </a:lnSpc>
                        <a:spcBef>
                          <a:spcPts val="0"/>
                        </a:spcBef>
                        <a:spcAft>
                          <a:spcPts val="0"/>
                        </a:spcAft>
                        <a:buNone/>
                      </a:pPr>
                      <a:r>
                        <a:rPr lang="en-US" sz="1800" u="none" cap="none" strike="noStrike">
                          <a:latin typeface="Calibri"/>
                          <a:ea typeface="Calibri"/>
                          <a:cs typeface="Calibri"/>
                          <a:sym typeface="Calibri"/>
                        </a:rPr>
                        <a:t>3</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lang="en-US" sz="1800" u="none" cap="none" strike="noStrike">
                          <a:latin typeface="Calibri"/>
                          <a:ea typeface="Calibri"/>
                          <a:cs typeface="Calibri"/>
                          <a:sym typeface="Calibri"/>
                        </a:rPr>
                        <a:t>read only</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28600">
                <a:tc>
                  <a:txBody>
                    <a:bodyPr/>
                    <a:lstStyle/>
                    <a:p>
                      <a:pPr indent="0" lvl="0" marL="0" marR="0" rtl="0" algn="l">
                        <a:lnSpc>
                          <a:spcPct val="115000"/>
                        </a:lnSpc>
                        <a:spcBef>
                          <a:spcPts val="0"/>
                        </a:spcBef>
                        <a:spcAft>
                          <a:spcPts val="0"/>
                        </a:spcAft>
                        <a:buNone/>
                      </a:pPr>
                      <a:r>
                        <a:rPr lang="en-US" sz="1800" u="none" cap="none" strike="noStrike">
                          <a:latin typeface="Calibri"/>
                          <a:ea typeface="Calibri"/>
                          <a:cs typeface="Calibri"/>
                          <a:sym typeface="Calibri"/>
                        </a:rPr>
                        <a:t>4</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lang="en-US" sz="1800" u="none" cap="none" strike="noStrike">
                          <a:latin typeface="Calibri"/>
                          <a:ea typeface="Calibri"/>
                          <a:cs typeface="Calibri"/>
                          <a:sym typeface="Calibri"/>
                        </a:rPr>
                        <a:t>write and execute</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28600">
                <a:tc>
                  <a:txBody>
                    <a:bodyPr/>
                    <a:lstStyle/>
                    <a:p>
                      <a:pPr indent="0" lvl="0" marL="0" marR="0" rtl="0" algn="l">
                        <a:lnSpc>
                          <a:spcPct val="115000"/>
                        </a:lnSpc>
                        <a:spcBef>
                          <a:spcPts val="0"/>
                        </a:spcBef>
                        <a:spcAft>
                          <a:spcPts val="0"/>
                        </a:spcAft>
                        <a:buNone/>
                      </a:pPr>
                      <a:r>
                        <a:rPr lang="en-US" sz="1800" u="none" cap="none" strike="noStrike">
                          <a:latin typeface="Calibri"/>
                          <a:ea typeface="Calibri"/>
                          <a:cs typeface="Calibri"/>
                          <a:sym typeface="Calibri"/>
                        </a:rPr>
                        <a:t>5</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lang="en-US" sz="1800" u="none" cap="none" strike="noStrike">
                          <a:latin typeface="Calibri"/>
                          <a:ea typeface="Calibri"/>
                          <a:cs typeface="Calibri"/>
                          <a:sym typeface="Calibri"/>
                        </a:rPr>
                        <a:t>write only</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28600">
                <a:tc>
                  <a:txBody>
                    <a:bodyPr/>
                    <a:lstStyle/>
                    <a:p>
                      <a:pPr indent="0" lvl="0" marL="0" marR="0" rtl="0" algn="l">
                        <a:lnSpc>
                          <a:spcPct val="115000"/>
                        </a:lnSpc>
                        <a:spcBef>
                          <a:spcPts val="0"/>
                        </a:spcBef>
                        <a:spcAft>
                          <a:spcPts val="0"/>
                        </a:spcAft>
                        <a:buNone/>
                      </a:pPr>
                      <a:r>
                        <a:rPr lang="en-US" sz="1800" u="none" cap="none" strike="noStrike">
                          <a:latin typeface="Calibri"/>
                          <a:ea typeface="Calibri"/>
                          <a:cs typeface="Calibri"/>
                          <a:sym typeface="Calibri"/>
                        </a:rPr>
                        <a:t>6</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lang="en-US" sz="1800" u="none" cap="none" strike="noStrike">
                          <a:latin typeface="Calibri"/>
                          <a:ea typeface="Calibri"/>
                          <a:cs typeface="Calibri"/>
                          <a:sym typeface="Calibri"/>
                        </a:rPr>
                        <a:t>execute only</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28600">
                <a:tc>
                  <a:txBody>
                    <a:bodyPr/>
                    <a:lstStyle/>
                    <a:p>
                      <a:pPr indent="0" lvl="0" marL="0" marR="0" rtl="0" algn="l">
                        <a:lnSpc>
                          <a:spcPct val="115000"/>
                        </a:lnSpc>
                        <a:spcBef>
                          <a:spcPts val="0"/>
                        </a:spcBef>
                        <a:spcAft>
                          <a:spcPts val="0"/>
                        </a:spcAft>
                        <a:buNone/>
                      </a:pPr>
                      <a:r>
                        <a:rPr lang="en-US" sz="1800" u="none" cap="none" strike="noStrike">
                          <a:latin typeface="Calibri"/>
                          <a:ea typeface="Calibri"/>
                          <a:cs typeface="Calibri"/>
                          <a:sym typeface="Calibri"/>
                        </a:rPr>
                        <a:t>7</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lang="en-US" sz="1800" u="none" cap="none" strike="noStrike">
                          <a:latin typeface="Calibri"/>
                          <a:ea typeface="Calibri"/>
                          <a:cs typeface="Calibri"/>
                          <a:sym typeface="Calibri"/>
                        </a:rPr>
                        <a:t>no permissions</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Special Permissions</a:t>
            </a:r>
            <a:endParaRPr/>
          </a:p>
        </p:txBody>
      </p:sp>
      <p:sp>
        <p:nvSpPr>
          <p:cNvPr id="455" name="Google Shape;455;p3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Three special permissions</a:t>
            </a:r>
            <a:endParaRPr/>
          </a:p>
          <a:p>
            <a:pPr indent="-285750" lvl="1" marL="742950" rtl="0" algn="l">
              <a:spcBef>
                <a:spcPts val="560"/>
              </a:spcBef>
              <a:spcAft>
                <a:spcPts val="0"/>
              </a:spcAft>
              <a:buClr>
                <a:schemeClr val="dk1"/>
              </a:buClr>
              <a:buSzPts val="2800"/>
              <a:buChar char="–"/>
            </a:pPr>
            <a:r>
              <a:rPr lang="en-US"/>
              <a:t>Setuid (SUID)</a:t>
            </a:r>
            <a:endParaRPr/>
          </a:p>
          <a:p>
            <a:pPr indent="-285750" lvl="1" marL="742950" rtl="0" algn="l">
              <a:spcBef>
                <a:spcPts val="560"/>
              </a:spcBef>
              <a:spcAft>
                <a:spcPts val="0"/>
              </a:spcAft>
              <a:buClr>
                <a:schemeClr val="dk1"/>
              </a:buClr>
              <a:buSzPts val="2800"/>
              <a:buChar char="–"/>
            </a:pPr>
            <a:r>
              <a:rPr lang="en-US"/>
              <a:t>Setgid (SGID)</a:t>
            </a:r>
            <a:endParaRPr/>
          </a:p>
          <a:p>
            <a:pPr indent="-285750" lvl="1" marL="742950" rtl="0" algn="l">
              <a:spcBef>
                <a:spcPts val="560"/>
              </a:spcBef>
              <a:spcAft>
                <a:spcPts val="0"/>
              </a:spcAft>
              <a:buClr>
                <a:schemeClr val="dk1"/>
              </a:buClr>
              <a:buSzPts val="2800"/>
              <a:buChar char="–"/>
            </a:pPr>
            <a:r>
              <a:rPr lang="en-US"/>
              <a:t>Sticky bit </a:t>
            </a:r>
            <a:endParaRPr/>
          </a:p>
          <a:p>
            <a:pPr indent="-342900" lvl="0" marL="342900" rtl="0" algn="l">
              <a:spcBef>
                <a:spcPts val="640"/>
              </a:spcBef>
              <a:spcAft>
                <a:spcPts val="0"/>
              </a:spcAft>
              <a:buClr>
                <a:schemeClr val="dk1"/>
              </a:buClr>
              <a:buSzPts val="3200"/>
              <a:buChar char="•"/>
            </a:pPr>
            <a:r>
              <a:rPr lang="en-US"/>
              <a:t>The special owner, known as the root, also has special permissions to run anything and everything.</a:t>
            </a:r>
            <a:endParaRPr/>
          </a:p>
          <a:p>
            <a:pPr indent="-107950" lvl="1" marL="742950" rtl="0" algn="l">
              <a:spcBef>
                <a:spcPts val="560"/>
              </a:spcBef>
              <a:spcAft>
                <a:spcPts val="0"/>
              </a:spcAft>
              <a:buClr>
                <a:schemeClr val="dk1"/>
              </a:buClr>
              <a:buSzPts val="2800"/>
              <a:buNone/>
            </a:pPr>
            <a:r>
              <a:t/>
            </a:r>
            <a:endParaRPr/>
          </a:p>
        </p:txBody>
      </p:sp>
      <p:sp>
        <p:nvSpPr>
          <p:cNvPr id="456" name="Google Shape;456;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Blended Learning Program, IEEE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366092"/>
              </a:buClr>
              <a:buSzPts val="3200"/>
              <a:buFont typeface="Gill Sans"/>
              <a:buNone/>
            </a:pPr>
            <a:r>
              <a:rPr b="1" lang="en-US" sz="3200">
                <a:solidFill>
                  <a:srgbClr val="366092"/>
                </a:solidFill>
                <a:latin typeface="Gill Sans"/>
                <a:ea typeface="Gill Sans"/>
                <a:cs typeface="Gill Sans"/>
                <a:sym typeface="Gill Sans"/>
              </a:rPr>
              <a:t>SUID - Special Permissions </a:t>
            </a:r>
            <a:endParaRPr/>
          </a:p>
        </p:txBody>
      </p:sp>
      <p:sp>
        <p:nvSpPr>
          <p:cNvPr id="463" name="Google Shape;463;p31"/>
          <p:cNvSpPr txBox="1"/>
          <p:nvPr>
            <p:ph idx="4294967295" type="ftr"/>
          </p:nvPr>
        </p:nvSpPr>
        <p:spPr>
          <a:xfrm>
            <a:off x="1905000" y="6172200"/>
            <a:ext cx="3962400" cy="457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@ITSS C-DAC Bangalore</a:t>
            </a:r>
            <a:endParaRPr/>
          </a:p>
        </p:txBody>
      </p:sp>
      <p:sp>
        <p:nvSpPr>
          <p:cNvPr id="464" name="Google Shape;464;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65" name="Google Shape;465;p3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2400"/>
              <a:buChar char="•"/>
            </a:pPr>
            <a:r>
              <a:rPr lang="en-US" sz="2400"/>
              <a:t>SUID, or Set Owner User ID, is a permission bit flag that applies to executables. </a:t>
            </a:r>
            <a:endParaRPr/>
          </a:p>
          <a:p>
            <a:pPr indent="-342900" lvl="0" marL="342900" rtl="0" algn="l">
              <a:lnSpc>
                <a:spcPct val="90000"/>
              </a:lnSpc>
              <a:spcBef>
                <a:spcPts val="480"/>
              </a:spcBef>
              <a:spcAft>
                <a:spcPts val="0"/>
              </a:spcAft>
              <a:buClr>
                <a:schemeClr val="dk1"/>
              </a:buClr>
              <a:buSzPts val="2400"/>
              <a:buChar char="•"/>
            </a:pPr>
            <a:r>
              <a:rPr lang="en-US" sz="2400"/>
              <a:t>If set on a file, user who executes the file becomes owner of the file during execution and it execute with privileges of owner.</a:t>
            </a:r>
            <a:endParaRPr/>
          </a:p>
          <a:p>
            <a:pPr indent="-342900" lvl="0" marL="342900" rtl="0" algn="l">
              <a:lnSpc>
                <a:spcPct val="90000"/>
              </a:lnSpc>
              <a:spcBef>
                <a:spcPts val="480"/>
              </a:spcBef>
              <a:spcAft>
                <a:spcPts val="0"/>
              </a:spcAft>
              <a:buClr>
                <a:schemeClr val="dk1"/>
              </a:buClr>
              <a:buSzPts val="2400"/>
              <a:buChar char="•"/>
            </a:pPr>
            <a:r>
              <a:rPr lang="en-US" sz="2400"/>
              <a:t>Expressed with an “s” instead of “x” in ‘user’ position in a listing:</a:t>
            </a:r>
            <a:endParaRPr/>
          </a:p>
          <a:p>
            <a:pPr indent="-285750" lvl="1" marL="742950" rtl="0" algn="l">
              <a:lnSpc>
                <a:spcPct val="90000"/>
              </a:lnSpc>
              <a:spcBef>
                <a:spcPts val="480"/>
              </a:spcBef>
              <a:spcAft>
                <a:spcPts val="0"/>
              </a:spcAft>
              <a:buClr>
                <a:schemeClr val="dk1"/>
              </a:buClr>
              <a:buSzPts val="2400"/>
              <a:buNone/>
            </a:pPr>
            <a:r>
              <a:t/>
            </a:r>
            <a:endParaRPr sz="2400"/>
          </a:p>
          <a:p>
            <a:pPr indent="-285750" lvl="1" marL="742950" rtl="0" algn="l">
              <a:lnSpc>
                <a:spcPct val="90000"/>
              </a:lnSpc>
              <a:spcBef>
                <a:spcPts val="480"/>
              </a:spcBef>
              <a:spcAft>
                <a:spcPts val="0"/>
              </a:spcAft>
              <a:buClr>
                <a:schemeClr val="dk1"/>
              </a:buClr>
              <a:buSzPts val="2400"/>
              <a:buNone/>
            </a:pPr>
            <a:r>
              <a:t/>
            </a:r>
            <a:endParaRPr sz="2400"/>
          </a:p>
          <a:p>
            <a:pPr indent="-342900" lvl="0" marL="342900" rtl="0" algn="l">
              <a:lnSpc>
                <a:spcPct val="90000"/>
              </a:lnSpc>
              <a:spcBef>
                <a:spcPts val="480"/>
              </a:spcBef>
              <a:spcAft>
                <a:spcPts val="0"/>
              </a:spcAft>
              <a:buClr>
                <a:schemeClr val="dk1"/>
              </a:buClr>
              <a:buSzPts val="2400"/>
              <a:buChar char="•"/>
            </a:pPr>
            <a:r>
              <a:rPr lang="en-US" sz="2400"/>
              <a:t>Setting SUID</a:t>
            </a:r>
            <a:endParaRPr/>
          </a:p>
          <a:p>
            <a:pPr indent="-190500" lvl="0" marL="342900" rtl="0" algn="l">
              <a:lnSpc>
                <a:spcPct val="90000"/>
              </a:lnSpc>
              <a:spcBef>
                <a:spcPts val="480"/>
              </a:spcBef>
              <a:spcAft>
                <a:spcPts val="0"/>
              </a:spcAft>
              <a:buClr>
                <a:schemeClr val="dk1"/>
              </a:buClr>
              <a:buSzPts val="2400"/>
              <a:buNone/>
            </a:pPr>
            <a:r>
              <a:t/>
            </a:r>
            <a:endParaRPr sz="2400"/>
          </a:p>
        </p:txBody>
      </p:sp>
      <p:pic>
        <p:nvPicPr>
          <p:cNvPr id="466" name="Google Shape;466;p31"/>
          <p:cNvPicPr preferRelativeResize="0"/>
          <p:nvPr/>
        </p:nvPicPr>
        <p:blipFill rotWithShape="1">
          <a:blip r:embed="rId3">
            <a:alphaModFix/>
          </a:blip>
          <a:srcRect b="0" l="0" r="0" t="0"/>
          <a:stretch/>
        </p:blipFill>
        <p:spPr>
          <a:xfrm>
            <a:off x="755576" y="4149080"/>
            <a:ext cx="8115300" cy="635000"/>
          </a:xfrm>
          <a:prstGeom prst="rect">
            <a:avLst/>
          </a:prstGeom>
          <a:noFill/>
          <a:ln>
            <a:noFill/>
          </a:ln>
        </p:spPr>
      </p:pic>
      <p:pic>
        <p:nvPicPr>
          <p:cNvPr id="467" name="Google Shape;467;p31"/>
          <p:cNvPicPr preferRelativeResize="0"/>
          <p:nvPr/>
        </p:nvPicPr>
        <p:blipFill rotWithShape="1">
          <a:blip r:embed="rId4">
            <a:alphaModFix/>
          </a:blip>
          <a:srcRect b="0" l="0" r="0" t="0"/>
          <a:stretch/>
        </p:blipFill>
        <p:spPr>
          <a:xfrm>
            <a:off x="827584" y="5465068"/>
            <a:ext cx="7200800" cy="3307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366092"/>
              </a:buClr>
              <a:buSzPts val="3200"/>
              <a:buFont typeface="Gill Sans"/>
              <a:buNone/>
            </a:pPr>
            <a:r>
              <a:rPr b="1" lang="en-US" sz="3200">
                <a:solidFill>
                  <a:srgbClr val="366092"/>
                </a:solidFill>
                <a:latin typeface="Gill Sans"/>
                <a:ea typeface="Gill Sans"/>
                <a:cs typeface="Gill Sans"/>
                <a:sym typeface="Gill Sans"/>
              </a:rPr>
              <a:t>SGID - Special Permissions</a:t>
            </a:r>
            <a:endParaRPr/>
          </a:p>
        </p:txBody>
      </p:sp>
      <p:sp>
        <p:nvSpPr>
          <p:cNvPr id="474" name="Google Shape;474;p32"/>
          <p:cNvSpPr txBox="1"/>
          <p:nvPr>
            <p:ph idx="1" type="body"/>
          </p:nvPr>
        </p:nvSpPr>
        <p:spPr>
          <a:xfrm>
            <a:off x="533400" y="1600200"/>
            <a:ext cx="8077200" cy="4267200"/>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lnSpc>
                <a:spcPct val="90000"/>
              </a:lnSpc>
              <a:spcBef>
                <a:spcPts val="0"/>
              </a:spcBef>
              <a:spcAft>
                <a:spcPts val="0"/>
              </a:spcAft>
              <a:buClr>
                <a:schemeClr val="dk1"/>
              </a:buClr>
              <a:buSzPct val="100000"/>
              <a:buChar char="•"/>
            </a:pPr>
            <a:r>
              <a:rPr lang="en-US" sz="2400"/>
              <a:t>Can be set both on Files and Directories. </a:t>
            </a:r>
            <a:endParaRPr/>
          </a:p>
          <a:p>
            <a:pPr indent="-342900" lvl="0" marL="342900" rtl="0" algn="l">
              <a:lnSpc>
                <a:spcPct val="90000"/>
              </a:lnSpc>
              <a:spcBef>
                <a:spcPts val="444"/>
              </a:spcBef>
              <a:spcAft>
                <a:spcPts val="0"/>
              </a:spcAft>
              <a:buClr>
                <a:schemeClr val="dk1"/>
              </a:buClr>
              <a:buSzPct val="100000"/>
              <a:buChar char="•"/>
            </a:pPr>
            <a:r>
              <a:rPr lang="en-US" sz="2400"/>
              <a:t>If a directory is setgid</a:t>
            </a:r>
            <a:r>
              <a:rPr b="1" lang="en-US" sz="2400"/>
              <a:t> </a:t>
            </a:r>
            <a:r>
              <a:rPr lang="en-US" sz="2400"/>
              <a:t>(‘set group-id’), files created within it acquire the group ownership of the directory.</a:t>
            </a:r>
            <a:endParaRPr/>
          </a:p>
          <a:p>
            <a:pPr indent="-285750" lvl="1" marL="742950" rtl="0" algn="l">
              <a:lnSpc>
                <a:spcPct val="90000"/>
              </a:lnSpc>
              <a:spcBef>
                <a:spcPts val="444"/>
              </a:spcBef>
              <a:spcAft>
                <a:spcPts val="0"/>
              </a:spcAft>
              <a:buClr>
                <a:schemeClr val="dk1"/>
              </a:buClr>
              <a:buSzPct val="100000"/>
              <a:buChar char="–"/>
            </a:pPr>
            <a:r>
              <a:rPr lang="en-US" sz="2400"/>
              <a:t>And directories created within it acquire both the group ownership </a:t>
            </a:r>
            <a:r>
              <a:rPr i="1" lang="en-US" sz="2400"/>
              <a:t>and </a:t>
            </a:r>
            <a:r>
              <a:rPr lang="en-US" sz="2400"/>
              <a:t>setgid permission</a:t>
            </a:r>
            <a:endParaRPr/>
          </a:p>
          <a:p>
            <a:pPr indent="-342900" lvl="0" marL="342900" rtl="0" algn="l">
              <a:lnSpc>
                <a:spcPct val="90000"/>
              </a:lnSpc>
              <a:spcBef>
                <a:spcPts val="444"/>
              </a:spcBef>
              <a:spcAft>
                <a:spcPts val="0"/>
              </a:spcAft>
              <a:buClr>
                <a:schemeClr val="dk1"/>
              </a:buClr>
              <a:buSzPct val="100000"/>
              <a:buChar char="•"/>
            </a:pPr>
            <a:r>
              <a:rPr lang="en-US" sz="2400"/>
              <a:t>Expressed with an s in ‘group’ position in a listing and can be set with following command:</a:t>
            </a:r>
            <a:endParaRPr/>
          </a:p>
          <a:p>
            <a:pPr indent="-201930" lvl="0" marL="342900" rtl="0" algn="l">
              <a:lnSpc>
                <a:spcPct val="90000"/>
              </a:lnSpc>
              <a:spcBef>
                <a:spcPts val="444"/>
              </a:spcBef>
              <a:spcAft>
                <a:spcPts val="0"/>
              </a:spcAft>
              <a:buClr>
                <a:schemeClr val="dk1"/>
              </a:buClr>
              <a:buSzPct val="100000"/>
              <a:buNone/>
            </a:pPr>
            <a:r>
              <a:t/>
            </a:r>
            <a:endParaRPr sz="2400"/>
          </a:p>
          <a:p>
            <a:pPr indent="-201930" lvl="0" marL="342900" rtl="0" algn="l">
              <a:lnSpc>
                <a:spcPct val="90000"/>
              </a:lnSpc>
              <a:spcBef>
                <a:spcPts val="444"/>
              </a:spcBef>
              <a:spcAft>
                <a:spcPts val="0"/>
              </a:spcAft>
              <a:buClr>
                <a:schemeClr val="dk1"/>
              </a:buClr>
              <a:buSzPct val="100000"/>
              <a:buNone/>
            </a:pPr>
            <a:r>
              <a:t/>
            </a:r>
            <a:endParaRPr sz="2400"/>
          </a:p>
          <a:p>
            <a:pPr indent="-201930" lvl="0" marL="342900" rtl="0" algn="l">
              <a:lnSpc>
                <a:spcPct val="90000"/>
              </a:lnSpc>
              <a:spcBef>
                <a:spcPts val="444"/>
              </a:spcBef>
              <a:spcAft>
                <a:spcPts val="0"/>
              </a:spcAft>
              <a:buClr>
                <a:schemeClr val="dk1"/>
              </a:buClr>
              <a:buSzPct val="100000"/>
              <a:buNone/>
            </a:pPr>
            <a:r>
              <a:t/>
            </a:r>
            <a:endParaRPr sz="2400"/>
          </a:p>
          <a:p>
            <a:pPr indent="-342900" lvl="0" marL="342900" rtl="0" algn="l">
              <a:lnSpc>
                <a:spcPct val="90000"/>
              </a:lnSpc>
              <a:spcBef>
                <a:spcPts val="444"/>
              </a:spcBef>
              <a:spcAft>
                <a:spcPts val="0"/>
              </a:spcAft>
              <a:buClr>
                <a:schemeClr val="dk1"/>
              </a:buClr>
              <a:buSzPct val="100000"/>
              <a:buChar char="•"/>
            </a:pPr>
            <a:r>
              <a:rPr lang="en-US" sz="2400"/>
              <a:t>Setgid permission may also be applied to executable files</a:t>
            </a:r>
            <a:endParaRPr/>
          </a:p>
          <a:p>
            <a:pPr indent="-285750" lvl="1" marL="742950" rtl="0" algn="l">
              <a:lnSpc>
                <a:spcPct val="90000"/>
              </a:lnSpc>
              <a:spcBef>
                <a:spcPts val="444"/>
              </a:spcBef>
              <a:spcAft>
                <a:spcPts val="0"/>
              </a:spcAft>
              <a:buClr>
                <a:schemeClr val="dk1"/>
              </a:buClr>
              <a:buSzPct val="100000"/>
              <a:buChar char="–"/>
            </a:pPr>
            <a:r>
              <a:rPr lang="en-US" sz="2400"/>
              <a:t>A process run from a setgid file acquires the group id of the file and it execute with privileges of group.</a:t>
            </a:r>
            <a:endParaRPr/>
          </a:p>
          <a:p>
            <a:pPr indent="-168275" lvl="1" marL="742950" rtl="0" algn="l">
              <a:lnSpc>
                <a:spcPct val="90000"/>
              </a:lnSpc>
              <a:spcBef>
                <a:spcPts val="370"/>
              </a:spcBef>
              <a:spcAft>
                <a:spcPts val="0"/>
              </a:spcAft>
              <a:buClr>
                <a:schemeClr val="dk1"/>
              </a:buClr>
              <a:buSzPct val="100000"/>
              <a:buNone/>
            </a:pPr>
            <a:r>
              <a:t/>
            </a:r>
            <a:endParaRPr sz="2000"/>
          </a:p>
        </p:txBody>
      </p:sp>
      <p:pic>
        <p:nvPicPr>
          <p:cNvPr id="475" name="Google Shape;475;p32"/>
          <p:cNvPicPr preferRelativeResize="0"/>
          <p:nvPr/>
        </p:nvPicPr>
        <p:blipFill rotWithShape="1">
          <a:blip r:embed="rId3">
            <a:alphaModFix/>
          </a:blip>
          <a:srcRect b="0" l="0" r="0" t="0"/>
          <a:stretch/>
        </p:blipFill>
        <p:spPr>
          <a:xfrm>
            <a:off x="1115616" y="3861048"/>
            <a:ext cx="6540500" cy="7493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366092"/>
              </a:buClr>
              <a:buSzPts val="3200"/>
              <a:buFont typeface="Gill Sans"/>
              <a:buNone/>
            </a:pPr>
            <a:r>
              <a:rPr b="1" lang="en-US" sz="3200">
                <a:solidFill>
                  <a:srgbClr val="366092"/>
                </a:solidFill>
                <a:latin typeface="Gill Sans"/>
                <a:ea typeface="Gill Sans"/>
                <a:cs typeface="Gill Sans"/>
                <a:sym typeface="Gill Sans"/>
              </a:rPr>
              <a:t>Sticky Bit - Special Permissions  </a:t>
            </a:r>
            <a:endParaRPr/>
          </a:p>
        </p:txBody>
      </p:sp>
      <p:sp>
        <p:nvSpPr>
          <p:cNvPr id="482" name="Google Shape;482;p33"/>
          <p:cNvSpPr txBox="1"/>
          <p:nvPr>
            <p:ph idx="4294967295" type="ftr"/>
          </p:nvPr>
        </p:nvSpPr>
        <p:spPr>
          <a:xfrm>
            <a:off x="1905000" y="6172200"/>
            <a:ext cx="3962400" cy="457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@ITSS C-DAC Bangalore</a:t>
            </a:r>
            <a:endParaRPr/>
          </a:p>
        </p:txBody>
      </p:sp>
      <p:sp>
        <p:nvSpPr>
          <p:cNvPr id="483" name="Google Shape;483;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84" name="Google Shape;484;p3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Sticky bits apply to directories.</a:t>
            </a:r>
            <a:endParaRPr sz="2400"/>
          </a:p>
          <a:p>
            <a:pPr indent="-342900" lvl="0" marL="342900" rtl="0" algn="l">
              <a:spcBef>
                <a:spcPts val="480"/>
              </a:spcBef>
              <a:spcAft>
                <a:spcPts val="0"/>
              </a:spcAft>
              <a:buClr>
                <a:schemeClr val="dk1"/>
              </a:buClr>
              <a:buSzPts val="2400"/>
              <a:buChar char="•"/>
            </a:pPr>
            <a:r>
              <a:rPr lang="en-US" sz="2400"/>
              <a:t>It Ensures that a user can only delete files his/her own files</a:t>
            </a:r>
            <a:endParaRPr/>
          </a:p>
          <a:p>
            <a:pPr indent="-342900" lvl="0" marL="342900" rtl="0" algn="l">
              <a:spcBef>
                <a:spcPts val="480"/>
              </a:spcBef>
              <a:spcAft>
                <a:spcPts val="0"/>
              </a:spcAft>
              <a:buClr>
                <a:schemeClr val="dk1"/>
              </a:buClr>
              <a:buSzPts val="2400"/>
              <a:buChar char="•"/>
            </a:pPr>
            <a:r>
              <a:rPr lang="en-US" sz="2400"/>
              <a:t>Only a file’s owner may delete it from a sticky directory</a:t>
            </a:r>
            <a:endParaRPr/>
          </a:p>
          <a:p>
            <a:pPr indent="-342900" lvl="0" marL="342900" rtl="0" algn="l">
              <a:spcBef>
                <a:spcPts val="480"/>
              </a:spcBef>
              <a:spcAft>
                <a:spcPts val="0"/>
              </a:spcAft>
              <a:buClr>
                <a:schemeClr val="dk1"/>
              </a:buClr>
              <a:buSzPts val="2400"/>
              <a:buChar char="•"/>
            </a:pPr>
            <a:r>
              <a:rPr lang="en-US" sz="2400"/>
              <a:t>Useful for shared directories, such as /tmp</a:t>
            </a:r>
            <a:endParaRPr sz="2400"/>
          </a:p>
          <a:p>
            <a:pPr indent="-342900" lvl="0" marL="342900" rtl="0" algn="l">
              <a:spcBef>
                <a:spcPts val="480"/>
              </a:spcBef>
              <a:spcAft>
                <a:spcPts val="0"/>
              </a:spcAft>
              <a:buClr>
                <a:schemeClr val="dk1"/>
              </a:buClr>
              <a:buSzPts val="2400"/>
              <a:buChar char="•"/>
            </a:pPr>
            <a:r>
              <a:rPr lang="en-US" sz="2400"/>
              <a:t>Expressed with a t (mnemonic: </a:t>
            </a:r>
            <a:r>
              <a:rPr i="1" lang="en-US" sz="2400"/>
              <a:t>t</a:t>
            </a:r>
            <a:r>
              <a:rPr lang="en-US" sz="2400"/>
              <a:t>emporary directory) in a listing:</a:t>
            </a:r>
            <a:endParaRPr/>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US" sz="2400"/>
              <a:t>Enable ‘sticky’ permission with:</a:t>
            </a:r>
            <a:endParaRPr/>
          </a:p>
          <a:p>
            <a:pPr indent="-285750" lvl="1" marL="742950" rtl="0" algn="l">
              <a:spcBef>
                <a:spcPts val="480"/>
              </a:spcBef>
              <a:spcAft>
                <a:spcPts val="0"/>
              </a:spcAft>
              <a:buClr>
                <a:schemeClr val="dk1"/>
              </a:buClr>
              <a:buSzPts val="2400"/>
              <a:buChar char="–"/>
            </a:pPr>
            <a:r>
              <a:rPr lang="en-US" sz="2400"/>
              <a:t># chmod o+t /tmp/newuser</a:t>
            </a:r>
            <a:endParaRPr sz="2400"/>
          </a:p>
          <a:p>
            <a:pPr indent="-215900" lvl="0" marL="342900" rtl="0" algn="l">
              <a:spcBef>
                <a:spcPts val="400"/>
              </a:spcBef>
              <a:spcAft>
                <a:spcPts val="0"/>
              </a:spcAft>
              <a:buClr>
                <a:schemeClr val="dk1"/>
              </a:buClr>
              <a:buSzPts val="2000"/>
              <a:buNone/>
            </a:pPr>
            <a:r>
              <a:t/>
            </a:r>
            <a:endParaRPr sz="2000"/>
          </a:p>
        </p:txBody>
      </p:sp>
      <p:pic>
        <p:nvPicPr>
          <p:cNvPr id="485" name="Google Shape;485;p33"/>
          <p:cNvPicPr preferRelativeResize="0"/>
          <p:nvPr/>
        </p:nvPicPr>
        <p:blipFill rotWithShape="1">
          <a:blip r:embed="rId3">
            <a:alphaModFix/>
          </a:blip>
          <a:srcRect b="0" l="0" r="0" t="0"/>
          <a:stretch/>
        </p:blipFill>
        <p:spPr>
          <a:xfrm>
            <a:off x="899592" y="4293096"/>
            <a:ext cx="6832600" cy="6286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34"/>
          <p:cNvSpPr txBox="1"/>
          <p:nvPr>
            <p:ph type="title"/>
          </p:nvPr>
        </p:nvSpPr>
        <p:spPr>
          <a:xfrm>
            <a:off x="0" y="116632"/>
            <a:ext cx="9144000" cy="936104"/>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366092"/>
              </a:buClr>
              <a:buSzPct val="100000"/>
              <a:buFont typeface="Gill Sans"/>
              <a:buNone/>
            </a:pPr>
            <a:r>
              <a:rPr b="1" lang="en-US" sz="3200">
                <a:solidFill>
                  <a:srgbClr val="366092"/>
                </a:solidFill>
                <a:latin typeface="Gill Sans"/>
                <a:ea typeface="Gill Sans"/>
                <a:cs typeface="Gill Sans"/>
                <a:sym typeface="Gill Sans"/>
              </a:rPr>
              <a:t>Summary</a:t>
            </a:r>
            <a:br>
              <a:rPr b="1" lang="en-US" sz="3200">
                <a:solidFill>
                  <a:srgbClr val="366092"/>
                </a:solidFill>
                <a:latin typeface="Gill Sans"/>
                <a:ea typeface="Gill Sans"/>
                <a:cs typeface="Gill Sans"/>
                <a:sym typeface="Gill Sans"/>
              </a:rPr>
            </a:br>
            <a:r>
              <a:rPr lang="en-US" sz="2700">
                <a:latin typeface="Gill Sans"/>
                <a:ea typeface="Gill Sans"/>
                <a:cs typeface="Gill Sans"/>
                <a:sym typeface="Gill Sans"/>
              </a:rPr>
              <a:t>In this chapter , you have learned that: </a:t>
            </a:r>
            <a:br>
              <a:rPr lang="en-US" sz="3200"/>
            </a:br>
            <a:endParaRPr b="1" sz="3200">
              <a:solidFill>
                <a:srgbClr val="366092"/>
              </a:solidFill>
            </a:endParaRPr>
          </a:p>
        </p:txBody>
      </p:sp>
      <p:sp>
        <p:nvSpPr>
          <p:cNvPr id="492" name="Google Shape;492;p34"/>
          <p:cNvSpPr txBox="1"/>
          <p:nvPr>
            <p:ph idx="1" type="body"/>
          </p:nvPr>
        </p:nvSpPr>
        <p:spPr>
          <a:xfrm>
            <a:off x="0" y="1285860"/>
            <a:ext cx="4645026" cy="2714644"/>
          </a:xfrm>
          <a:prstGeom prst="rect">
            <a:avLst/>
          </a:prstGeom>
          <a:noFill/>
          <a:ln>
            <a:noFill/>
          </a:ln>
        </p:spPr>
        <p:txBody>
          <a:bodyPr anchorCtr="0" anchor="b" bIns="45700" lIns="91425" spcFirstLastPara="1" rIns="91425" wrap="square" tIns="45700">
            <a:noAutofit/>
          </a:bodyPr>
          <a:lstStyle/>
          <a:p>
            <a:pPr indent="-285750" lvl="0" marL="285750" rtl="0" algn="l">
              <a:spcBef>
                <a:spcPts val="0"/>
              </a:spcBef>
              <a:spcAft>
                <a:spcPts val="0"/>
              </a:spcAft>
              <a:buClr>
                <a:schemeClr val="dk1"/>
              </a:buClr>
              <a:buSzPts val="1600"/>
              <a:buNone/>
            </a:pPr>
            <a:r>
              <a:rPr lang="en-US" sz="1600">
                <a:latin typeface="Gill Sans"/>
                <a:ea typeface="Gill Sans"/>
                <a:cs typeface="Gill Sans"/>
                <a:sym typeface="Gill Sans"/>
              </a:rPr>
              <a:t>Manage file  permission to different user</a:t>
            </a:r>
            <a:endParaRPr/>
          </a:p>
          <a:p>
            <a:pPr indent="-285750" lvl="0" marL="285750" rtl="0" algn="l">
              <a:spcBef>
                <a:spcPts val="320"/>
              </a:spcBef>
              <a:spcAft>
                <a:spcPts val="0"/>
              </a:spcAft>
              <a:buClr>
                <a:schemeClr val="dk1"/>
              </a:buClr>
              <a:buSzPts val="1600"/>
              <a:buFont typeface="Arial"/>
              <a:buChar char="•"/>
            </a:pPr>
            <a:r>
              <a:rPr b="0" lang="en-US" sz="1600">
                <a:latin typeface="Gill Sans"/>
                <a:ea typeface="Gill Sans"/>
                <a:cs typeface="Gill Sans"/>
                <a:sym typeface="Gill Sans"/>
              </a:rPr>
              <a:t> The owner of a file can change the permissions for user (u), group (g), or others (o) by adding (+) or subtracting (-) the read, write, and execute permissions.</a:t>
            </a:r>
            <a:endParaRPr/>
          </a:p>
          <a:p>
            <a:pPr indent="-184150" lvl="0" marL="285750" rtl="0" algn="l">
              <a:spcBef>
                <a:spcPts val="320"/>
              </a:spcBef>
              <a:spcAft>
                <a:spcPts val="0"/>
              </a:spcAft>
              <a:buClr>
                <a:schemeClr val="dk1"/>
              </a:buClr>
              <a:buSzPts val="1600"/>
              <a:buFont typeface="Arial"/>
              <a:buNone/>
            </a:pPr>
            <a:r>
              <a:t/>
            </a:r>
            <a:endParaRPr b="0" sz="1600">
              <a:latin typeface="Gill Sans"/>
              <a:ea typeface="Gill Sans"/>
              <a:cs typeface="Gill Sans"/>
              <a:sym typeface="Gill Sans"/>
            </a:endParaRPr>
          </a:p>
          <a:p>
            <a:pPr indent="-285750" lvl="0" marL="285750" rtl="0" algn="l">
              <a:spcBef>
                <a:spcPts val="320"/>
              </a:spcBef>
              <a:spcAft>
                <a:spcPts val="0"/>
              </a:spcAft>
              <a:buClr>
                <a:schemeClr val="dk1"/>
              </a:buClr>
              <a:buSzPts val="1600"/>
              <a:buFont typeface="Arial"/>
              <a:buChar char="•"/>
            </a:pPr>
            <a:r>
              <a:rPr b="0" lang="en-US" sz="1600">
                <a:latin typeface="Gill Sans"/>
                <a:ea typeface="Gill Sans"/>
                <a:cs typeface="Gill Sans"/>
                <a:sym typeface="Gill Sans"/>
              </a:rPr>
              <a:t>The permissions can be changed using chmod command</a:t>
            </a:r>
            <a:endParaRPr b="0" sz="1600">
              <a:latin typeface="Gill Sans"/>
              <a:ea typeface="Gill Sans"/>
              <a:cs typeface="Gill Sans"/>
              <a:sym typeface="Gill Sans"/>
            </a:endParaRPr>
          </a:p>
        </p:txBody>
      </p:sp>
      <p:sp>
        <p:nvSpPr>
          <p:cNvPr id="493" name="Google Shape;493;p34"/>
          <p:cNvSpPr txBox="1"/>
          <p:nvPr>
            <p:ph idx="2" type="body"/>
          </p:nvPr>
        </p:nvSpPr>
        <p:spPr>
          <a:xfrm>
            <a:off x="0" y="4357694"/>
            <a:ext cx="4497388" cy="2239657"/>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600"/>
              <a:buNone/>
            </a:pPr>
            <a:r>
              <a:rPr b="1" lang="en-US" sz="1600">
                <a:latin typeface="Gill Sans"/>
                <a:ea typeface="Gill Sans"/>
                <a:cs typeface="Gill Sans"/>
                <a:sym typeface="Gill Sans"/>
              </a:rPr>
              <a:t>Understand Structure of Linux file system</a:t>
            </a:r>
            <a:endParaRPr/>
          </a:p>
          <a:p>
            <a:pPr indent="-342900" lvl="0" marL="342900" rtl="0" algn="l">
              <a:spcBef>
                <a:spcPts val="320"/>
              </a:spcBef>
              <a:spcAft>
                <a:spcPts val="0"/>
              </a:spcAft>
              <a:buClr>
                <a:schemeClr val="dk1"/>
              </a:buClr>
              <a:buSzPts val="1600"/>
              <a:buChar char="•"/>
            </a:pPr>
            <a:r>
              <a:rPr lang="en-US" sz="1600"/>
              <a:t>A file system is a way that an operating system store, retrieve, and organizes file on a disk.  Linux files are stored in a single-rooted, hierarchical file system</a:t>
            </a:r>
            <a:endParaRPr sz="1600">
              <a:latin typeface="Gill Sans"/>
              <a:ea typeface="Gill Sans"/>
              <a:cs typeface="Gill Sans"/>
              <a:sym typeface="Gill Sans"/>
            </a:endParaRPr>
          </a:p>
        </p:txBody>
      </p:sp>
      <p:sp>
        <p:nvSpPr>
          <p:cNvPr id="494" name="Google Shape;494;p34"/>
          <p:cNvSpPr txBox="1"/>
          <p:nvPr>
            <p:ph idx="3" type="body"/>
          </p:nvPr>
        </p:nvSpPr>
        <p:spPr>
          <a:xfrm>
            <a:off x="4645025" y="1214422"/>
            <a:ext cx="4498975" cy="35719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1600"/>
              <a:buNone/>
            </a:pPr>
            <a:r>
              <a:rPr lang="en-US" sz="1600">
                <a:latin typeface="Gill Sans"/>
                <a:ea typeface="Gill Sans"/>
                <a:cs typeface="Gill Sans"/>
                <a:sym typeface="Gill Sans"/>
              </a:rPr>
              <a:t>Know how to change the permission of any file</a:t>
            </a:r>
            <a:endParaRPr/>
          </a:p>
          <a:p>
            <a:pPr indent="-342900" lvl="0" marL="342900" rtl="0" algn="l">
              <a:spcBef>
                <a:spcPts val="320"/>
              </a:spcBef>
              <a:spcAft>
                <a:spcPts val="0"/>
              </a:spcAft>
              <a:buClr>
                <a:schemeClr val="dk1"/>
              </a:buClr>
              <a:buSzPts val="1600"/>
              <a:buFont typeface="Arial"/>
              <a:buChar char="•"/>
            </a:pPr>
            <a:r>
              <a:rPr b="0" lang="en-US" sz="1600"/>
              <a:t>As all Linux users, you will at some point need to modify the permission settings of a file or directory. The command that executes such tasks is the chmod command. A file’s permissions may be changed only by its owner or by the superuser.</a:t>
            </a:r>
            <a:endParaRPr/>
          </a:p>
          <a:p>
            <a:pPr indent="-342900" lvl="0" marL="342900" rtl="0" algn="l">
              <a:spcBef>
                <a:spcPts val="320"/>
              </a:spcBef>
              <a:spcAft>
                <a:spcPts val="0"/>
              </a:spcAft>
              <a:buClr>
                <a:schemeClr val="dk1"/>
              </a:buClr>
              <a:buSzPts val="1600"/>
              <a:buFont typeface="Arial"/>
              <a:buChar char="•"/>
            </a:pPr>
            <a:r>
              <a:rPr b="0" lang="en-US" sz="1600"/>
              <a:t>The chmod command, which stands for "change mode," Using the command, we can set permissions (read, write, and execute) on a file or directory for the owner, group, and world.</a:t>
            </a:r>
            <a:endParaRPr/>
          </a:p>
          <a:p>
            <a:pPr indent="0" lvl="0" marL="0" rtl="0" algn="l">
              <a:spcBef>
                <a:spcPts val="320"/>
              </a:spcBef>
              <a:spcAft>
                <a:spcPts val="0"/>
              </a:spcAft>
              <a:buClr>
                <a:schemeClr val="dk1"/>
              </a:buClr>
              <a:buSzPts val="1600"/>
              <a:buNone/>
            </a:pPr>
            <a:r>
              <a:t/>
            </a:r>
            <a:endParaRPr b="0" sz="1600"/>
          </a:p>
        </p:txBody>
      </p:sp>
      <p:sp>
        <p:nvSpPr>
          <p:cNvPr id="495" name="Google Shape;495;p34"/>
          <p:cNvSpPr txBox="1"/>
          <p:nvPr>
            <p:ph idx="4" type="body"/>
          </p:nvPr>
        </p:nvSpPr>
        <p:spPr>
          <a:xfrm>
            <a:off x="4645025" y="4572009"/>
            <a:ext cx="4498975" cy="228599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600"/>
              <a:buNone/>
            </a:pPr>
            <a:r>
              <a:t/>
            </a:r>
            <a:endParaRPr i="1" sz="1600">
              <a:latin typeface="Gill Sans"/>
              <a:ea typeface="Gill Sans"/>
              <a:cs typeface="Gill Sans"/>
              <a:sym typeface="Gill Sans"/>
            </a:endParaRPr>
          </a:p>
          <a:p>
            <a:pPr indent="-342900" lvl="0" marL="342900" rtl="0" algn="l">
              <a:spcBef>
                <a:spcPts val="320"/>
              </a:spcBef>
              <a:spcAft>
                <a:spcPts val="0"/>
              </a:spcAft>
              <a:buClr>
                <a:schemeClr val="dk1"/>
              </a:buClr>
              <a:buSzPts val="1600"/>
              <a:buNone/>
            </a:pPr>
            <a:r>
              <a:rPr b="1" lang="en-US" sz="1600">
                <a:latin typeface="Gill Sans"/>
                <a:ea typeface="Gill Sans"/>
                <a:cs typeface="Gill Sans"/>
                <a:sym typeface="Gill Sans"/>
              </a:rPr>
              <a:t>Understand Special Permission</a:t>
            </a:r>
            <a:endParaRPr/>
          </a:p>
          <a:p>
            <a:pPr indent="-342900" lvl="0" marL="342900" rtl="0" algn="l">
              <a:spcBef>
                <a:spcPts val="320"/>
              </a:spcBef>
              <a:spcAft>
                <a:spcPts val="0"/>
              </a:spcAft>
              <a:buClr>
                <a:schemeClr val="dk1"/>
              </a:buClr>
              <a:buSzPts val="1600"/>
              <a:buChar char="•"/>
            </a:pPr>
            <a:r>
              <a:rPr lang="en-US" sz="1600"/>
              <a:t>Permissions are a crucial part of Linux</a:t>
            </a:r>
            <a:r>
              <a:rPr lang="en-US" sz="1600">
                <a:latin typeface="Gill Sans"/>
                <a:ea typeface="Gill Sans"/>
                <a:cs typeface="Gill Sans"/>
                <a:sym typeface="Gill Sans"/>
              </a:rPr>
              <a:t>.</a:t>
            </a:r>
            <a:endParaRPr/>
          </a:p>
          <a:p>
            <a:pPr indent="-342900" lvl="0" marL="342900" rtl="0" algn="l">
              <a:spcBef>
                <a:spcPts val="320"/>
              </a:spcBef>
              <a:spcAft>
                <a:spcPts val="0"/>
              </a:spcAft>
              <a:buClr>
                <a:schemeClr val="dk1"/>
              </a:buClr>
              <a:buSzPts val="1600"/>
              <a:buChar char="•"/>
            </a:pPr>
            <a:r>
              <a:rPr i="1" lang="en-US" sz="1600"/>
              <a:t>There are three special permissions in Linux : SUID, SGID and Sticky Bit.</a:t>
            </a:r>
            <a:endParaRPr sz="1600">
              <a:latin typeface="Gill Sans"/>
              <a:ea typeface="Gill Sans"/>
              <a:cs typeface="Gill Sans"/>
              <a:sym typeface="Gill Sans"/>
            </a:endParaRPr>
          </a:p>
          <a:p>
            <a:pPr indent="0" lvl="0" marL="0" rtl="0" algn="l">
              <a:spcBef>
                <a:spcPts val="320"/>
              </a:spcBef>
              <a:spcAft>
                <a:spcPts val="0"/>
              </a:spcAft>
              <a:buClr>
                <a:schemeClr val="dk1"/>
              </a:buClr>
              <a:buSzPts val="1600"/>
              <a:buNone/>
            </a:pPr>
            <a:r>
              <a:t/>
            </a:r>
            <a:endParaRPr sz="16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35"/>
          <p:cNvSpPr txBox="1"/>
          <p:nvPr>
            <p:ph type="title"/>
          </p:nvPr>
        </p:nvSpPr>
        <p:spPr>
          <a:xfrm>
            <a:off x="457200" y="1196752"/>
            <a:ext cx="8229600" cy="388843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366092"/>
              </a:buClr>
              <a:buSzPts val="4400"/>
              <a:buFont typeface="Calibri"/>
              <a:buNone/>
            </a:pPr>
            <a:r>
              <a:rPr b="1" lang="en-US">
                <a:solidFill>
                  <a:srgbClr val="366092"/>
                </a:solidFill>
                <a:latin typeface="Calibri"/>
                <a:ea typeface="Calibri"/>
                <a:cs typeface="Calibri"/>
                <a:sym typeface="Calibri"/>
              </a:rPr>
              <a:t>End of the Chapter Assessment</a:t>
            </a:r>
            <a:endParaRPr/>
          </a:p>
        </p:txBody>
      </p:sp>
      <p:sp>
        <p:nvSpPr>
          <p:cNvPr id="501" name="Google Shape;501;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Blended Learning Program, IEEE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36"/>
          <p:cNvSpPr txBox="1"/>
          <p:nvPr>
            <p:ph idx="1" type="body"/>
          </p:nvPr>
        </p:nvSpPr>
        <p:spPr>
          <a:xfrm>
            <a:off x="0" y="188640"/>
            <a:ext cx="8686800" cy="593752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lang="en-US" sz="2400">
                <a:latin typeface="Gill Sans"/>
                <a:ea typeface="Gill Sans"/>
                <a:cs typeface="Gill Sans"/>
                <a:sym typeface="Gill Sans"/>
              </a:rPr>
              <a:t>Q1</a:t>
            </a:r>
            <a:r>
              <a:rPr lang="en-US" sz="2400"/>
              <a:t>. Which of the following commands can be used to change default permissions for files and directories at the time of creation</a:t>
            </a:r>
            <a:endParaRPr/>
          </a:p>
          <a:p>
            <a:pPr indent="-457200" lvl="1" marL="457200" rtl="0" algn="l">
              <a:spcBef>
                <a:spcPts val="480"/>
              </a:spcBef>
              <a:spcAft>
                <a:spcPts val="0"/>
              </a:spcAft>
              <a:buClr>
                <a:schemeClr val="dk1"/>
              </a:buClr>
              <a:buSzPts val="2400"/>
              <a:buFont typeface="Arial"/>
              <a:buAutoNum type="alphaUcPeriod"/>
            </a:pPr>
            <a:r>
              <a:rPr lang="en-US" sz="2400"/>
              <a:t>chmod</a:t>
            </a:r>
            <a:endParaRPr sz="2400"/>
          </a:p>
          <a:p>
            <a:pPr indent="-457200" lvl="1" marL="457200" rtl="0" algn="l">
              <a:spcBef>
                <a:spcPts val="480"/>
              </a:spcBef>
              <a:spcAft>
                <a:spcPts val="0"/>
              </a:spcAft>
              <a:buClr>
                <a:schemeClr val="dk1"/>
              </a:buClr>
              <a:buSzPts val="2400"/>
              <a:buFont typeface="Arial"/>
              <a:buAutoNum type="alphaUcPeriod"/>
            </a:pPr>
            <a:r>
              <a:rPr lang="en-US" sz="2400"/>
              <a:t>chown</a:t>
            </a:r>
            <a:endParaRPr sz="2400"/>
          </a:p>
          <a:p>
            <a:pPr indent="-457200" lvl="1" marL="457200" rtl="0" algn="l">
              <a:spcBef>
                <a:spcPts val="480"/>
              </a:spcBef>
              <a:spcAft>
                <a:spcPts val="0"/>
              </a:spcAft>
              <a:buClr>
                <a:schemeClr val="dk1"/>
              </a:buClr>
              <a:buSzPts val="2400"/>
              <a:buFont typeface="Arial"/>
              <a:buAutoNum type="alphaUcPeriod"/>
            </a:pPr>
            <a:r>
              <a:rPr lang="en-US" sz="2400"/>
              <a:t>umask</a:t>
            </a:r>
            <a:endParaRPr sz="2400"/>
          </a:p>
          <a:p>
            <a:pPr indent="-457200" lvl="1" marL="457200" rtl="0" algn="l">
              <a:spcBef>
                <a:spcPts val="480"/>
              </a:spcBef>
              <a:spcAft>
                <a:spcPts val="0"/>
              </a:spcAft>
              <a:buClr>
                <a:schemeClr val="dk1"/>
              </a:buClr>
              <a:buSzPts val="2400"/>
              <a:buFont typeface="Arial"/>
              <a:buAutoNum type="alphaUcPeriod"/>
            </a:pPr>
            <a:r>
              <a:rPr lang="en-US" sz="2400"/>
              <a:t>suid</a:t>
            </a:r>
            <a:endParaRPr sz="2400"/>
          </a:p>
          <a:p>
            <a:pPr indent="0" lvl="0" marL="0" rtl="0" algn="l">
              <a:spcBef>
                <a:spcPts val="480"/>
              </a:spcBef>
              <a:spcAft>
                <a:spcPts val="0"/>
              </a:spcAft>
              <a:buClr>
                <a:schemeClr val="dk1"/>
              </a:buClr>
              <a:buSzPts val="2400"/>
              <a:buNone/>
            </a:pPr>
            <a:r>
              <a:t/>
            </a:r>
            <a:endParaRPr sz="2400"/>
          </a:p>
          <a:p>
            <a:pPr indent="0" lvl="1" marL="0" rtl="0" algn="l">
              <a:spcBef>
                <a:spcPts val="480"/>
              </a:spcBef>
              <a:spcAft>
                <a:spcPts val="0"/>
              </a:spcAft>
              <a:buClr>
                <a:schemeClr val="dk1"/>
              </a:buClr>
              <a:buSzPts val="2400"/>
              <a:buNone/>
            </a:pPr>
            <a:r>
              <a:rPr lang="en-US" sz="2400"/>
              <a:t>Q2. The default umask for a non-privileged user on a Red Hat system  is:</a:t>
            </a:r>
            <a:endParaRPr sz="2400"/>
          </a:p>
          <a:p>
            <a:pPr indent="-342900" lvl="0" marL="342900" rtl="0" algn="l">
              <a:spcBef>
                <a:spcPts val="480"/>
              </a:spcBef>
              <a:spcAft>
                <a:spcPts val="0"/>
              </a:spcAft>
              <a:buClr>
                <a:schemeClr val="dk1"/>
              </a:buClr>
              <a:buSzPts val="2400"/>
              <a:buNone/>
            </a:pPr>
            <a:r>
              <a:rPr lang="en-US" sz="2400"/>
              <a:t>A.  777</a:t>
            </a:r>
            <a:endParaRPr/>
          </a:p>
          <a:p>
            <a:pPr indent="-342900" lvl="0" marL="342900" rtl="0" algn="l">
              <a:spcBef>
                <a:spcPts val="480"/>
              </a:spcBef>
              <a:spcAft>
                <a:spcPts val="0"/>
              </a:spcAft>
              <a:buClr>
                <a:schemeClr val="dk1"/>
              </a:buClr>
              <a:buSzPts val="2400"/>
              <a:buNone/>
            </a:pPr>
            <a:r>
              <a:rPr lang="en-US" sz="2400"/>
              <a:t>B.  222</a:t>
            </a:r>
            <a:endParaRPr/>
          </a:p>
          <a:p>
            <a:pPr indent="-342900" lvl="0" marL="342900" rtl="0" algn="l">
              <a:spcBef>
                <a:spcPts val="480"/>
              </a:spcBef>
              <a:spcAft>
                <a:spcPts val="0"/>
              </a:spcAft>
              <a:buClr>
                <a:schemeClr val="dk1"/>
              </a:buClr>
              <a:buSzPts val="2400"/>
              <a:buNone/>
            </a:pPr>
            <a:r>
              <a:rPr lang="en-US" sz="2400"/>
              <a:t>C.  022</a:t>
            </a:r>
            <a:endParaRPr/>
          </a:p>
          <a:p>
            <a:pPr indent="-342900" lvl="0" marL="342900" rtl="0" algn="l">
              <a:spcBef>
                <a:spcPts val="480"/>
              </a:spcBef>
              <a:spcAft>
                <a:spcPts val="0"/>
              </a:spcAft>
              <a:buClr>
                <a:schemeClr val="dk1"/>
              </a:buClr>
              <a:buSzPts val="2400"/>
              <a:buNone/>
            </a:pPr>
            <a:r>
              <a:rPr lang="en-US" sz="2400"/>
              <a:t>D.  755</a:t>
            </a:r>
            <a:endParaRPr/>
          </a:p>
          <a:p>
            <a:pPr indent="0" lvl="0" marL="0" rtl="0" algn="l">
              <a:spcBef>
                <a:spcPts val="480"/>
              </a:spcBef>
              <a:spcAft>
                <a:spcPts val="0"/>
              </a:spcAft>
              <a:buClr>
                <a:schemeClr val="dk1"/>
              </a:buClr>
              <a:buSzPts val="2400"/>
              <a:buNone/>
            </a:pPr>
            <a:r>
              <a:t/>
            </a:r>
            <a:endParaRPr sz="2400">
              <a:latin typeface="Gill Sans"/>
              <a:ea typeface="Gill Sans"/>
              <a:cs typeface="Gill Sans"/>
              <a:sym typeface="Gill Sans"/>
            </a:endParaRPr>
          </a:p>
          <a:p>
            <a:pPr indent="0" lvl="0" marL="0" rtl="0" algn="l">
              <a:spcBef>
                <a:spcPts val="480"/>
              </a:spcBef>
              <a:spcAft>
                <a:spcPts val="0"/>
              </a:spcAft>
              <a:buClr>
                <a:schemeClr val="dk1"/>
              </a:buClr>
              <a:buSzPts val="2400"/>
              <a:buNone/>
            </a:pPr>
            <a:r>
              <a:t/>
            </a:r>
            <a:endParaRPr sz="2400"/>
          </a:p>
        </p:txBody>
      </p:sp>
      <p:sp>
        <p:nvSpPr>
          <p:cNvPr id="508" name="Google Shape;508;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Blended Learning Program, IEEE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37"/>
          <p:cNvSpPr txBox="1"/>
          <p:nvPr/>
        </p:nvSpPr>
        <p:spPr>
          <a:xfrm>
            <a:off x="0" y="332656"/>
            <a:ext cx="8820472" cy="563231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Gill Sans"/>
                <a:ea typeface="Gill Sans"/>
                <a:cs typeface="Gill Sans"/>
                <a:sym typeface="Gill Sans"/>
              </a:rPr>
              <a:t>Q3. </a:t>
            </a:r>
            <a:r>
              <a:rPr b="0" i="0" lang="en-US" sz="2400" u="none" cap="none" strike="noStrike">
                <a:solidFill>
                  <a:schemeClr val="dk1"/>
                </a:solidFill>
                <a:latin typeface="Calibri"/>
                <a:ea typeface="Calibri"/>
                <a:cs typeface="Calibri"/>
                <a:sym typeface="Calibri"/>
              </a:rPr>
              <a:t>_______________ If set on a file, user who executes the file becomes owner of the file during execution and it execute with privileges of owner.</a:t>
            </a:r>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A.  SUID bit</a:t>
            </a:r>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B.  SGID bit</a:t>
            </a:r>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C.  Sticky bit</a:t>
            </a:r>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D.  umask bit</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Q4. Which directory in Linux stores all the process information like file descriptors, virtual memory mapping etc.?</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A.  /where</a:t>
            </a:r>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B.  /etc</a:t>
            </a:r>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C.  /Proc</a:t>
            </a:r>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D.  /root</a:t>
            </a:r>
            <a:endParaRPr/>
          </a:p>
          <a:p>
            <a:pPr indent="0" lvl="1" marL="457200" marR="0" rtl="0" algn="l">
              <a:spcBef>
                <a:spcPts val="0"/>
              </a:spcBef>
              <a:spcAft>
                <a:spcPts val="0"/>
              </a:spcAft>
              <a:buNone/>
            </a:pPr>
            <a:r>
              <a:t/>
            </a:r>
            <a:endParaRPr b="1" i="0" sz="2400" u="none" cap="none" strike="noStrike">
              <a:solidFill>
                <a:schemeClr val="dk1"/>
              </a:solidFill>
              <a:latin typeface="Gill Sans"/>
              <a:ea typeface="Gill Sans"/>
              <a:cs typeface="Gill Sans"/>
              <a:sym typeface="Gill Sans"/>
            </a:endParaRPr>
          </a:p>
        </p:txBody>
      </p:sp>
      <p:sp>
        <p:nvSpPr>
          <p:cNvPr id="515" name="Google Shape;515;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Blended Learning Program, IEEE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38"/>
          <p:cNvSpPr txBox="1"/>
          <p:nvPr>
            <p:ph idx="1" type="body"/>
          </p:nvPr>
        </p:nvSpPr>
        <p:spPr>
          <a:xfrm>
            <a:off x="0" y="260648"/>
            <a:ext cx="8686800" cy="5865515"/>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spcBef>
                <a:spcPts val="0"/>
              </a:spcBef>
              <a:spcAft>
                <a:spcPts val="0"/>
              </a:spcAft>
              <a:buClr>
                <a:schemeClr val="dk1"/>
              </a:buClr>
              <a:buSzPct val="100000"/>
              <a:buNone/>
            </a:pPr>
            <a:r>
              <a:rPr lang="en-US" sz="2400">
                <a:latin typeface="Gill Sans"/>
                <a:ea typeface="Gill Sans"/>
                <a:cs typeface="Gill Sans"/>
                <a:sym typeface="Gill Sans"/>
              </a:rPr>
              <a:t>Q5. </a:t>
            </a:r>
            <a:r>
              <a:rPr lang="en-US" sz="2600"/>
              <a:t>How would you turn on the sticky bit on the directory /tmp?</a:t>
            </a:r>
            <a:endParaRPr sz="2600"/>
          </a:p>
          <a:p>
            <a:pPr indent="-342900" lvl="0" marL="342900" rtl="0" algn="l">
              <a:spcBef>
                <a:spcPts val="481"/>
              </a:spcBef>
              <a:spcAft>
                <a:spcPts val="0"/>
              </a:spcAft>
              <a:buClr>
                <a:schemeClr val="dk1"/>
              </a:buClr>
              <a:buSzPct val="100000"/>
              <a:buNone/>
            </a:pPr>
            <a:r>
              <a:rPr lang="en-US" sz="2600"/>
              <a:t>A.  chmod u+s /tmp</a:t>
            </a:r>
            <a:br>
              <a:rPr lang="en-US" sz="2600"/>
            </a:br>
            <a:endParaRPr sz="2600"/>
          </a:p>
          <a:p>
            <a:pPr indent="-342900" lvl="0" marL="342900" rtl="0" algn="l">
              <a:spcBef>
                <a:spcPts val="481"/>
              </a:spcBef>
              <a:spcAft>
                <a:spcPts val="0"/>
              </a:spcAft>
              <a:buClr>
                <a:schemeClr val="dk1"/>
              </a:buClr>
              <a:buSzPct val="100000"/>
              <a:buNone/>
            </a:pPr>
            <a:r>
              <a:rPr lang="en-US" sz="2600"/>
              <a:t>B.  chmod +st /tmp</a:t>
            </a:r>
            <a:br>
              <a:rPr lang="en-US" sz="2600"/>
            </a:br>
            <a:endParaRPr sz="2600"/>
          </a:p>
          <a:p>
            <a:pPr indent="-342900" lvl="0" marL="342900" rtl="0" algn="l">
              <a:spcBef>
                <a:spcPts val="481"/>
              </a:spcBef>
              <a:spcAft>
                <a:spcPts val="0"/>
              </a:spcAft>
              <a:buClr>
                <a:schemeClr val="dk1"/>
              </a:buClr>
              <a:buSzPct val="100000"/>
              <a:buNone/>
            </a:pPr>
            <a:r>
              <a:rPr lang="en-US" sz="2600"/>
              <a:t>C.  chmod a+s /tmp</a:t>
            </a:r>
            <a:br>
              <a:rPr lang="en-US" sz="2600"/>
            </a:br>
            <a:endParaRPr sz="2600"/>
          </a:p>
          <a:p>
            <a:pPr indent="-342900" lvl="0" marL="342900" rtl="0" algn="l">
              <a:spcBef>
                <a:spcPts val="481"/>
              </a:spcBef>
              <a:spcAft>
                <a:spcPts val="0"/>
              </a:spcAft>
              <a:buClr>
                <a:schemeClr val="dk1"/>
              </a:buClr>
              <a:buSzPct val="100000"/>
              <a:buNone/>
            </a:pPr>
            <a:r>
              <a:rPr lang="en-US" sz="2600"/>
              <a:t>D.  chmod o+t /tmp</a:t>
            </a:r>
            <a:endParaRPr sz="2600"/>
          </a:p>
          <a:p>
            <a:pPr indent="-514350" lvl="0" marL="514350" rtl="0" algn="l">
              <a:spcBef>
                <a:spcPts val="481"/>
              </a:spcBef>
              <a:spcAft>
                <a:spcPts val="0"/>
              </a:spcAft>
              <a:buClr>
                <a:schemeClr val="dk1"/>
              </a:buClr>
              <a:buSzPct val="100000"/>
              <a:buNone/>
            </a:pPr>
            <a:r>
              <a:t/>
            </a:r>
            <a:endParaRPr sz="2600"/>
          </a:p>
          <a:p>
            <a:pPr indent="0" lvl="0" marL="0" rtl="0" algn="l">
              <a:spcBef>
                <a:spcPts val="481"/>
              </a:spcBef>
              <a:spcAft>
                <a:spcPts val="0"/>
              </a:spcAft>
              <a:buClr>
                <a:schemeClr val="dk1"/>
              </a:buClr>
              <a:buSzPct val="100000"/>
              <a:buNone/>
            </a:pPr>
            <a:r>
              <a:t/>
            </a:r>
            <a:endParaRPr sz="2600"/>
          </a:p>
          <a:p>
            <a:pPr indent="-342900" lvl="0" marL="342900" rtl="0" algn="l">
              <a:spcBef>
                <a:spcPts val="481"/>
              </a:spcBef>
              <a:spcAft>
                <a:spcPts val="0"/>
              </a:spcAft>
              <a:buClr>
                <a:schemeClr val="dk1"/>
              </a:buClr>
              <a:buSzPct val="100000"/>
              <a:buNone/>
            </a:pPr>
            <a:r>
              <a:rPr lang="en-US" sz="2600"/>
              <a:t>Q6. What is the PID of SystemD Process?</a:t>
            </a:r>
            <a:br>
              <a:rPr lang="en-US" sz="2600"/>
            </a:br>
            <a:endParaRPr sz="2600"/>
          </a:p>
          <a:p>
            <a:pPr indent="-342900" lvl="0" marL="342900" rtl="0" algn="l">
              <a:spcBef>
                <a:spcPts val="481"/>
              </a:spcBef>
              <a:spcAft>
                <a:spcPts val="0"/>
              </a:spcAft>
              <a:buClr>
                <a:schemeClr val="dk1"/>
              </a:buClr>
              <a:buSzPct val="100000"/>
              <a:buNone/>
            </a:pPr>
            <a:r>
              <a:rPr lang="en-US" sz="2600"/>
              <a:t>A.  0</a:t>
            </a:r>
            <a:endParaRPr/>
          </a:p>
          <a:p>
            <a:pPr indent="-342900" lvl="0" marL="342900" rtl="0" algn="l">
              <a:spcBef>
                <a:spcPts val="481"/>
              </a:spcBef>
              <a:spcAft>
                <a:spcPts val="0"/>
              </a:spcAft>
              <a:buClr>
                <a:schemeClr val="dk1"/>
              </a:buClr>
              <a:buSzPct val="100000"/>
              <a:buNone/>
            </a:pPr>
            <a:r>
              <a:rPr lang="en-US" sz="2600"/>
              <a:t>B.  1</a:t>
            </a:r>
            <a:endParaRPr/>
          </a:p>
          <a:p>
            <a:pPr indent="-342900" lvl="0" marL="342900" rtl="0" algn="l">
              <a:spcBef>
                <a:spcPts val="481"/>
              </a:spcBef>
              <a:spcAft>
                <a:spcPts val="0"/>
              </a:spcAft>
              <a:buClr>
                <a:schemeClr val="dk1"/>
              </a:buClr>
              <a:buSzPct val="100000"/>
              <a:buNone/>
            </a:pPr>
            <a:r>
              <a:rPr lang="en-US" sz="2600"/>
              <a:t>C.  2</a:t>
            </a:r>
            <a:endParaRPr/>
          </a:p>
          <a:p>
            <a:pPr indent="-342900" lvl="0" marL="342900" rtl="0" algn="l">
              <a:spcBef>
                <a:spcPts val="481"/>
              </a:spcBef>
              <a:spcAft>
                <a:spcPts val="0"/>
              </a:spcAft>
              <a:buClr>
                <a:schemeClr val="dk1"/>
              </a:buClr>
              <a:buSzPct val="100000"/>
              <a:buNone/>
            </a:pPr>
            <a:r>
              <a:rPr lang="en-US" sz="2600"/>
              <a:t>D.  none of the these</a:t>
            </a:r>
            <a:endParaRPr/>
          </a:p>
          <a:p>
            <a:pPr indent="0" lvl="0" marL="0" rtl="0" algn="l">
              <a:spcBef>
                <a:spcPts val="444"/>
              </a:spcBef>
              <a:spcAft>
                <a:spcPts val="0"/>
              </a:spcAft>
              <a:buClr>
                <a:schemeClr val="dk1"/>
              </a:buClr>
              <a:buSzPct val="100000"/>
              <a:buNone/>
            </a:pPr>
            <a:r>
              <a:t/>
            </a:r>
            <a:endParaRPr sz="2400">
              <a:latin typeface="Gill Sans"/>
              <a:ea typeface="Gill Sans"/>
              <a:cs typeface="Gill Sans"/>
              <a:sym typeface="Gill Sans"/>
            </a:endParaRPr>
          </a:p>
        </p:txBody>
      </p:sp>
      <p:sp>
        <p:nvSpPr>
          <p:cNvPr id="522" name="Google Shape;522;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Blended Learning Program, IEEE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2018-04-25T05:32:55Z</dcterms:created>
  <dc:creator>ACTS</dc:creator>
</cp:coreProperties>
</file>