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10287000" cx="18288000"/>
  <p:notesSz cx="6858000" cy="9144000"/>
  <p:embeddedFontLst>
    <p:embeddedFont>
      <p:font typeface="IBM Plex Sans"/>
      <p:bold r:id="rId40"/>
      <p:boldItalic r:id="rId41"/>
    </p:embeddedFont>
    <p:embeddedFont>
      <p:font typeface="Poppins"/>
      <p:bold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14">
          <p15:clr>
            <a:srgbClr val="A4A3A4"/>
          </p15:clr>
        </p15:guide>
        <p15:guide id="2" pos="2868">
          <p15:clr>
            <a:srgbClr val="A4A3A4"/>
          </p15:clr>
        </p15:guide>
      </p15:sldGuideLst>
    </p:ext>
    <p:ext uri="GoogleSlidesCustomDataVersion2">
      <go:slidesCustomData xmlns:go="http://customooxmlschemas.google.com/" r:id="rId44" roundtripDataSignature="AMtx7mimX1GCl1oBrrSr9nl4QYRyFAvy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14" orient="horz"/>
        <p:guide pos="286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ans-bold.fntdata"/><Relationship Id="rId20" Type="http://schemas.openxmlformats.org/officeDocument/2006/relationships/slide" Target="slides/slide15.xml"/><Relationship Id="rId42" Type="http://schemas.openxmlformats.org/officeDocument/2006/relationships/font" Target="fonts/Poppins-bold.fntdata"/><Relationship Id="rId41" Type="http://schemas.openxmlformats.org/officeDocument/2006/relationships/font" Target="fonts/IBMPlexSans-boldItalic.fntdata"/><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font" Target="fonts/Poppins-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b="0" i="0" sz="1200" u="none" cap="none" strike="noStrike">
              <a:solidFill>
                <a:schemeClr val="dk1"/>
              </a:solidFill>
              <a:latin typeface="Calibri"/>
              <a:ea typeface="Calibri"/>
              <a:cs typeface="Calibri"/>
              <a:sym typeface="Calibri"/>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1" name="Google Shape;111;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sz="1200">
              <a:solidFill>
                <a:schemeClr val="dk1"/>
              </a:solidFill>
              <a:latin typeface="Calibri"/>
              <a:ea typeface="Calibri"/>
              <a:cs typeface="Calibri"/>
              <a:sym typeface="Calibri"/>
            </a:endParaRPr>
          </a:p>
        </p:txBody>
      </p:sp>
      <p:sp>
        <p:nvSpPr>
          <p:cNvPr id="112" name="Google Shape;112;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14" name="Google Shape;114;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5" name="Google Shape;115;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7" name="Google Shape;177;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sz="1200">
              <a:solidFill>
                <a:schemeClr val="dk1"/>
              </a:solidFill>
              <a:latin typeface="Calibri"/>
              <a:ea typeface="Calibri"/>
              <a:cs typeface="Calibri"/>
              <a:sym typeface="Calibri"/>
            </a:endParaRPr>
          </a:p>
        </p:txBody>
      </p:sp>
      <p:sp>
        <p:nvSpPr>
          <p:cNvPr id="178" name="Google Shape;178;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80" name="Google Shape;180;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1" name="Google Shape;181;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1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1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1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1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1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1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1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1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2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2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2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p2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2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2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2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2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2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2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p2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2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p2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3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 name="Google Shape;587;p3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3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p3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3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3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3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3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3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6" name="Google Shape;636;p3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4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4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4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4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4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4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4"/>
          <p:cNvSpPr/>
          <p:nvPr>
            <p:ph idx="2" type="pic"/>
          </p:nvPr>
        </p:nvSpPr>
        <p:spPr>
          <a:xfrm>
            <a:off x="1792288" y="612775"/>
            <a:ext cx="5486400" cy="4114800"/>
          </a:xfrm>
          <a:prstGeom prst="rect">
            <a:avLst/>
          </a:prstGeom>
          <a:noFill/>
          <a:ln>
            <a:noFill/>
          </a:ln>
        </p:spPr>
      </p:sp>
      <p:sp>
        <p:nvSpPr>
          <p:cNvPr id="68" name="Google Shape;68;p4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jpg"/><Relationship Id="rId4" Type="http://schemas.openxmlformats.org/officeDocument/2006/relationships/image" Target="../media/image6.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jp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jp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jpg"/><Relationship Id="rId4" Type="http://schemas.openxmlformats.org/officeDocument/2006/relationships/image" Target="../media/image6.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jpg"/><Relationship Id="rId4" Type="http://schemas.openxmlformats.org/officeDocument/2006/relationships/image" Target="../media/image6.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j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jp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jpg"/><Relationship Id="rId4" Type="http://schemas.openxmlformats.org/officeDocument/2006/relationships/image" Target="../media/image16.png"/><Relationship Id="rId5"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jpg"/><Relationship Id="rId4" Type="http://schemas.openxmlformats.org/officeDocument/2006/relationships/image" Target="../media/image16.png"/><Relationship Id="rId5"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jpg"/><Relationship Id="rId4" Type="http://schemas.openxmlformats.org/officeDocument/2006/relationships/image" Target="../media/image16.png"/><Relationship Id="rId5"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jp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jp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jp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jpg"/><Relationship Id="rId4" Type="http://schemas.openxmlformats.org/officeDocument/2006/relationships/image" Target="../media/image16.png"/><Relationship Id="rId5"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jp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jp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jp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4.jp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jpg"/><Relationship Id="rId4" Type="http://schemas.openxmlformats.org/officeDocument/2006/relationships/image" Target="../media/image16.png"/><Relationship Id="rId5"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4.jp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jp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4.jp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jp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4.jp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4.jpg"/><Relationship Id="rId4" Type="http://schemas.openxmlformats.org/officeDocument/2006/relationships/image" Target="../media/image16.png"/><Relationship Id="rId5"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4.jp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4.jpg"/><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4.jp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4.jp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4.jp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4.jp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16" l="0" r="0" t="-16"/>
            </a:stretch>
          </a:blipFill>
          <a:ln>
            <a:noFill/>
          </a:ln>
        </p:spPr>
      </p:sp>
      <p:sp>
        <p:nvSpPr>
          <p:cNvPr id="93" name="Google Shape;93;p1"/>
          <p:cNvSpPr/>
          <p:nvPr/>
        </p:nvSpPr>
        <p:spPr>
          <a:xfrm>
            <a:off x="1028700" y="939364"/>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94" name="Google Shape;94;p1"/>
          <p:cNvSpPr/>
          <p:nvPr/>
        </p:nvSpPr>
        <p:spPr>
          <a:xfrm>
            <a:off x="14397963" y="7123103"/>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95" name="Google Shape;95;p1"/>
          <p:cNvSpPr/>
          <p:nvPr/>
        </p:nvSpPr>
        <p:spPr>
          <a:xfrm>
            <a:off x="4370258" y="7123103"/>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96" name="Google Shape;96;p1"/>
          <p:cNvSpPr/>
          <p:nvPr/>
        </p:nvSpPr>
        <p:spPr>
          <a:xfrm>
            <a:off x="12856348" y="1360054"/>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97" name="Google Shape;97;p1"/>
          <p:cNvSpPr/>
          <p:nvPr/>
        </p:nvSpPr>
        <p:spPr>
          <a:xfrm>
            <a:off x="7848536" y="37835"/>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98" name="Google Shape;98;p1"/>
          <p:cNvSpPr/>
          <p:nvPr/>
        </p:nvSpPr>
        <p:spPr>
          <a:xfrm>
            <a:off x="762001" y="81915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99" name="Google Shape;99;p1"/>
          <p:cNvSpPr/>
          <p:nvPr/>
        </p:nvSpPr>
        <p:spPr>
          <a:xfrm>
            <a:off x="6019574" y="7124552"/>
            <a:ext cx="6990566" cy="868203"/>
          </a:xfrm>
          <a:custGeom>
            <a:rect b="b" l="l" r="r" t="t"/>
            <a:pathLst>
              <a:path extrusionOk="0" h="868203" w="6990566">
                <a:moveTo>
                  <a:pt x="0" y="0"/>
                </a:moveTo>
                <a:lnTo>
                  <a:pt x="6990566" y="0"/>
                </a:lnTo>
                <a:lnTo>
                  <a:pt x="6990566" y="868203"/>
                </a:lnTo>
                <a:lnTo>
                  <a:pt x="0" y="86820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0" name="Google Shape;100;p1"/>
          <p:cNvGrpSpPr/>
          <p:nvPr/>
        </p:nvGrpSpPr>
        <p:grpSpPr>
          <a:xfrm>
            <a:off x="1967174" y="2217133"/>
            <a:ext cx="14132706" cy="3184684"/>
            <a:chOff x="0" y="-47625"/>
            <a:chExt cx="18843608" cy="4246245"/>
          </a:xfrm>
        </p:grpSpPr>
        <p:sp>
          <p:nvSpPr>
            <p:cNvPr id="101" name="Google Shape;101;p1"/>
            <p:cNvSpPr/>
            <p:nvPr/>
          </p:nvSpPr>
          <p:spPr>
            <a:xfrm>
              <a:off x="0" y="0"/>
              <a:ext cx="18843608" cy="4198620"/>
            </a:xfrm>
            <a:custGeom>
              <a:rect b="b" l="l" r="r" t="t"/>
              <a:pathLst>
                <a:path extrusionOk="0" h="4198620" w="18843608">
                  <a:moveTo>
                    <a:pt x="0" y="0"/>
                  </a:moveTo>
                  <a:lnTo>
                    <a:pt x="18843608" y="0"/>
                  </a:lnTo>
                  <a:lnTo>
                    <a:pt x="18843608" y="4198620"/>
                  </a:lnTo>
                  <a:lnTo>
                    <a:pt x="0" y="4198620"/>
                  </a:lnTo>
                  <a:close/>
                </a:path>
              </a:pathLst>
            </a:custGeom>
            <a:solidFill>
              <a:srgbClr val="000000">
                <a:alpha val="0"/>
              </a:srgbClr>
            </a:solidFill>
            <a:ln>
              <a:noFill/>
            </a:ln>
          </p:spPr>
        </p:sp>
        <p:sp>
          <p:nvSpPr>
            <p:cNvPr id="102" name="Google Shape;102;p1"/>
            <p:cNvSpPr txBox="1"/>
            <p:nvPr/>
          </p:nvSpPr>
          <p:spPr>
            <a:xfrm>
              <a:off x="0" y="-47625"/>
              <a:ext cx="18843608" cy="4246245"/>
            </a:xfrm>
            <a:prstGeom prst="rect">
              <a:avLst/>
            </a:prstGeom>
            <a:noFill/>
            <a:ln>
              <a:noFill/>
            </a:ln>
          </p:spPr>
          <p:txBody>
            <a:bodyPr anchorCtr="0" anchor="t" bIns="0" lIns="0" spcFirstLastPara="1" rIns="0" wrap="square" tIns="0">
              <a:noAutofit/>
            </a:bodyPr>
            <a:lstStyle/>
            <a:p>
              <a:pPr indent="0" lvl="0" marL="0" marR="0" rtl="0" algn="ctr">
                <a:lnSpc>
                  <a:spcPct val="124800"/>
                </a:lnSpc>
                <a:spcBef>
                  <a:spcPts val="0"/>
                </a:spcBef>
                <a:spcAft>
                  <a:spcPts val="0"/>
                </a:spcAft>
                <a:buNone/>
              </a:pPr>
              <a:r>
                <a:rPr b="1" lang="en-US" sz="10000">
                  <a:solidFill>
                    <a:srgbClr val="C1FF72"/>
                  </a:solidFill>
                  <a:latin typeface="Calibri"/>
                  <a:ea typeface="Calibri"/>
                  <a:cs typeface="Calibri"/>
                  <a:sym typeface="Calibri"/>
                </a:rPr>
                <a:t>Linux and Operating System</a:t>
              </a:r>
              <a:endParaRPr b="1" sz="10000">
                <a:solidFill>
                  <a:srgbClr val="C1FF72"/>
                </a:solidFill>
                <a:latin typeface="Calibri"/>
                <a:ea typeface="Calibri"/>
                <a:cs typeface="Calibri"/>
                <a:sym typeface="Calibri"/>
              </a:endParaRPr>
            </a:p>
          </p:txBody>
        </p:sp>
      </p:grpSp>
      <p:grpSp>
        <p:nvGrpSpPr>
          <p:cNvPr id="103" name="Google Shape;103;p1"/>
          <p:cNvGrpSpPr/>
          <p:nvPr/>
        </p:nvGrpSpPr>
        <p:grpSpPr>
          <a:xfrm>
            <a:off x="7086600" y="7429500"/>
            <a:ext cx="3825240" cy="494030"/>
            <a:chOff x="-703833" y="-57566"/>
            <a:chExt cx="8582779" cy="658627"/>
          </a:xfrm>
        </p:grpSpPr>
        <p:sp>
          <p:nvSpPr>
            <p:cNvPr id="104" name="Google Shape;104;p1"/>
            <p:cNvSpPr/>
            <p:nvPr/>
          </p:nvSpPr>
          <p:spPr>
            <a:xfrm>
              <a:off x="-703833" y="101588"/>
              <a:ext cx="7937361" cy="499473"/>
            </a:xfrm>
            <a:custGeom>
              <a:rect b="b" l="l" r="r" t="t"/>
              <a:pathLst>
                <a:path extrusionOk="0" h="499473" w="12129017">
                  <a:moveTo>
                    <a:pt x="0" y="0"/>
                  </a:moveTo>
                  <a:lnTo>
                    <a:pt x="12129017" y="0"/>
                  </a:lnTo>
                  <a:lnTo>
                    <a:pt x="12129017" y="499473"/>
                  </a:lnTo>
                  <a:lnTo>
                    <a:pt x="0" y="499473"/>
                  </a:lnTo>
                  <a:close/>
                </a:path>
              </a:pathLst>
            </a:custGeom>
            <a:solidFill>
              <a:srgbClr val="000000">
                <a:alpha val="0"/>
              </a:srgbClr>
            </a:solidFill>
            <a:ln>
              <a:noFill/>
            </a:ln>
          </p:spPr>
        </p:sp>
        <p:sp>
          <p:nvSpPr>
            <p:cNvPr id="105" name="Google Shape;105;p1"/>
            <p:cNvSpPr txBox="1"/>
            <p:nvPr/>
          </p:nvSpPr>
          <p:spPr>
            <a:xfrm>
              <a:off x="1347827" y="-57566"/>
              <a:ext cx="6531119" cy="557039"/>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None/>
              </a:pPr>
              <a:r>
                <a:rPr b="1" lang="en-US" sz="2125">
                  <a:solidFill>
                    <a:srgbClr val="0A0A23"/>
                  </a:solidFill>
                  <a:latin typeface="Poppins"/>
                  <a:ea typeface="Poppins"/>
                  <a:cs typeface="Poppins"/>
                  <a:sym typeface="Poppins"/>
                </a:rPr>
                <a:t>Presenter</a:t>
              </a:r>
              <a:endParaRPr b="1" sz="2125">
                <a:solidFill>
                  <a:srgbClr val="0A0A23"/>
                </a:solidFill>
                <a:latin typeface="Poppins"/>
                <a:ea typeface="Poppins"/>
                <a:cs typeface="Poppins"/>
                <a:sym typeface="Poppins"/>
              </a:endParaRPr>
            </a:p>
          </p:txBody>
        </p:sp>
      </p:grpSp>
      <p:grpSp>
        <p:nvGrpSpPr>
          <p:cNvPr id="106" name="Google Shape;106;p1"/>
          <p:cNvGrpSpPr/>
          <p:nvPr/>
        </p:nvGrpSpPr>
        <p:grpSpPr>
          <a:xfrm>
            <a:off x="2209800" y="7886700"/>
            <a:ext cx="14641830" cy="2502535"/>
            <a:chOff x="0" y="0"/>
            <a:chExt cx="14075280" cy="3336325"/>
          </a:xfrm>
        </p:grpSpPr>
        <p:sp>
          <p:nvSpPr>
            <p:cNvPr id="107" name="Google Shape;107;p1"/>
            <p:cNvSpPr/>
            <p:nvPr/>
          </p:nvSpPr>
          <p:spPr>
            <a:xfrm>
              <a:off x="0" y="0"/>
              <a:ext cx="14075280" cy="3336325"/>
            </a:xfrm>
            <a:custGeom>
              <a:rect b="b" l="l" r="r" t="t"/>
              <a:pathLst>
                <a:path extrusionOk="0" h="3336325" w="14075280">
                  <a:moveTo>
                    <a:pt x="0" y="0"/>
                  </a:moveTo>
                  <a:lnTo>
                    <a:pt x="14075280" y="0"/>
                  </a:lnTo>
                  <a:lnTo>
                    <a:pt x="14075280" y="3336325"/>
                  </a:lnTo>
                  <a:lnTo>
                    <a:pt x="0" y="3336325"/>
                  </a:lnTo>
                  <a:close/>
                </a:path>
              </a:pathLst>
            </a:custGeom>
            <a:solidFill>
              <a:srgbClr val="000000">
                <a:alpha val="0"/>
              </a:srgbClr>
            </a:solidFill>
            <a:ln>
              <a:noFill/>
            </a:ln>
          </p:spPr>
        </p:sp>
        <p:sp>
          <p:nvSpPr>
            <p:cNvPr id="108" name="Google Shape;108;p1"/>
            <p:cNvSpPr txBox="1"/>
            <p:nvPr/>
          </p:nvSpPr>
          <p:spPr>
            <a:xfrm>
              <a:off x="0" y="101588"/>
              <a:ext cx="14075280" cy="242457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3710">
                  <a:solidFill>
                    <a:srgbClr val="FFFFFF"/>
                  </a:solidFill>
                  <a:latin typeface="Poppins"/>
                  <a:ea typeface="Poppins"/>
                  <a:cs typeface="Poppins"/>
                  <a:sym typeface="Poppins"/>
                </a:rPr>
                <a:t>Arun Kumar</a:t>
              </a:r>
              <a:endParaRPr b="1" sz="3710">
                <a:solidFill>
                  <a:srgbClr val="FFFFFF"/>
                </a:solidFill>
                <a:latin typeface="Poppins"/>
                <a:ea typeface="Poppins"/>
                <a:cs typeface="Poppins"/>
                <a:sym typeface="Poppins"/>
              </a:endParaRPr>
            </a:p>
            <a:p>
              <a:pPr indent="0" lvl="0" marL="0" marR="0" rtl="0" algn="ctr">
                <a:lnSpc>
                  <a:spcPct val="100000"/>
                </a:lnSpc>
                <a:spcBef>
                  <a:spcPts val="0"/>
                </a:spcBef>
                <a:spcAft>
                  <a:spcPts val="0"/>
                </a:spcAft>
                <a:buNone/>
              </a:pPr>
              <a:r>
                <a:rPr b="1" lang="en-US" sz="3710">
                  <a:solidFill>
                    <a:srgbClr val="FFFFFF"/>
                  </a:solidFill>
                  <a:latin typeface="Poppins"/>
                  <a:ea typeface="Poppins"/>
                  <a:cs typeface="Poppins"/>
                  <a:sym typeface="Poppins"/>
                </a:rPr>
                <a:t>Senior Project Engineer</a:t>
              </a:r>
              <a:endParaRPr b="1" sz="3710">
                <a:solidFill>
                  <a:srgbClr val="FFFFFF"/>
                </a:solidFill>
                <a:latin typeface="Poppins"/>
                <a:ea typeface="Poppins"/>
                <a:cs typeface="Poppins"/>
                <a:sym typeface="Poppins"/>
              </a:endParaRPr>
            </a:p>
            <a:p>
              <a:pPr indent="0" lvl="0" marL="0" marR="0" rtl="0" algn="ctr">
                <a:lnSpc>
                  <a:spcPct val="100000"/>
                </a:lnSpc>
                <a:spcBef>
                  <a:spcPts val="0"/>
                </a:spcBef>
                <a:spcAft>
                  <a:spcPts val="0"/>
                </a:spcAft>
                <a:buNone/>
              </a:pPr>
              <a:r>
                <a:rPr b="1" lang="en-US" sz="3710">
                  <a:solidFill>
                    <a:srgbClr val="FFFFFF"/>
                  </a:solidFill>
                  <a:latin typeface="Poppins"/>
                  <a:ea typeface="Poppins"/>
                  <a:cs typeface="Poppins"/>
                  <a:sym typeface="Poppins"/>
                </a:rPr>
                <a:t>Software Technology &amp; Cyber Security Group</a:t>
              </a:r>
              <a:endParaRPr b="1" sz="3710">
                <a:solidFill>
                  <a:srgbClr val="FFFFFF"/>
                </a:solidFill>
                <a:latin typeface="Poppins"/>
                <a:ea typeface="Poppins"/>
                <a:cs typeface="Poppins"/>
                <a:sym typeface="Poppin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9" l="0" r="0" t="-9259"/>
            </a:stretch>
          </a:blipFill>
          <a:ln>
            <a:noFill/>
          </a:ln>
        </p:spPr>
      </p:sp>
      <p:sp>
        <p:nvSpPr>
          <p:cNvPr id="118" name="Google Shape;118;p2"/>
          <p:cNvSpPr/>
          <p:nvPr/>
        </p:nvSpPr>
        <p:spPr>
          <a:xfrm>
            <a:off x="878206" y="230875"/>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119" name="Google Shape;119;p2"/>
          <p:cNvSpPr/>
          <p:nvPr/>
        </p:nvSpPr>
        <p:spPr>
          <a:xfrm>
            <a:off x="12783301" y="7692194"/>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120" name="Google Shape;120;p2"/>
          <p:cNvSpPr/>
          <p:nvPr/>
        </p:nvSpPr>
        <p:spPr>
          <a:xfrm>
            <a:off x="13990088" y="1222528"/>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121" name="Google Shape;121;p2"/>
          <p:cNvSpPr/>
          <p:nvPr/>
        </p:nvSpPr>
        <p:spPr>
          <a:xfrm>
            <a:off x="16305444" y="-566950"/>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122" name="Google Shape;122;p2"/>
          <p:cNvSpPr/>
          <p:nvPr/>
        </p:nvSpPr>
        <p:spPr>
          <a:xfrm>
            <a:off x="878206" y="972510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123" name="Google Shape;123;p2"/>
          <p:cNvSpPr/>
          <p:nvPr/>
        </p:nvSpPr>
        <p:spPr>
          <a:xfrm>
            <a:off x="2255567" y="2279240"/>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24" name="Google Shape;124;p2"/>
          <p:cNvSpPr/>
          <p:nvPr/>
        </p:nvSpPr>
        <p:spPr>
          <a:xfrm>
            <a:off x="1535557" y="2385306"/>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25" name="Google Shape;125;p2"/>
          <p:cNvGrpSpPr/>
          <p:nvPr/>
        </p:nvGrpSpPr>
        <p:grpSpPr>
          <a:xfrm>
            <a:off x="4466741" y="376014"/>
            <a:ext cx="9354519" cy="1284732"/>
            <a:chOff x="0" y="-38100"/>
            <a:chExt cx="12472692" cy="1712976"/>
          </a:xfrm>
        </p:grpSpPr>
        <p:sp>
          <p:nvSpPr>
            <p:cNvPr id="126" name="Google Shape;126;p2"/>
            <p:cNvSpPr/>
            <p:nvPr/>
          </p:nvSpPr>
          <p:spPr>
            <a:xfrm>
              <a:off x="0" y="0"/>
              <a:ext cx="12472692" cy="1674876"/>
            </a:xfrm>
            <a:custGeom>
              <a:rect b="b" l="l" r="r" t="t"/>
              <a:pathLst>
                <a:path extrusionOk="0" h="1674876" w="12472692">
                  <a:moveTo>
                    <a:pt x="0" y="0"/>
                  </a:moveTo>
                  <a:lnTo>
                    <a:pt x="12472692" y="0"/>
                  </a:lnTo>
                  <a:lnTo>
                    <a:pt x="12472692" y="1674876"/>
                  </a:lnTo>
                  <a:lnTo>
                    <a:pt x="0" y="1674876"/>
                  </a:lnTo>
                  <a:close/>
                </a:path>
              </a:pathLst>
            </a:custGeom>
            <a:solidFill>
              <a:srgbClr val="000000">
                <a:alpha val="0"/>
              </a:srgbClr>
            </a:solidFill>
            <a:ln>
              <a:noFill/>
            </a:ln>
          </p:spPr>
        </p:sp>
        <p:sp>
          <p:nvSpPr>
            <p:cNvPr id="127" name="Google Shape;127;p2"/>
            <p:cNvSpPr txBox="1"/>
            <p:nvPr/>
          </p:nvSpPr>
          <p:spPr>
            <a:xfrm>
              <a:off x="0" y="-38100"/>
              <a:ext cx="12472692" cy="1712976"/>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None/>
              </a:pPr>
              <a:r>
                <a:rPr b="1" lang="en-US" sz="8000">
                  <a:solidFill>
                    <a:srgbClr val="C1FF72"/>
                  </a:solidFill>
                  <a:latin typeface="Calibri"/>
                  <a:ea typeface="Calibri"/>
                  <a:cs typeface="Calibri"/>
                  <a:sym typeface="Calibri"/>
                </a:rPr>
                <a:t>Course Outline</a:t>
              </a:r>
              <a:endParaRPr b="1" sz="8000">
                <a:solidFill>
                  <a:srgbClr val="C1FF72"/>
                </a:solidFill>
                <a:latin typeface="Calibri"/>
                <a:ea typeface="Calibri"/>
                <a:cs typeface="Calibri"/>
                <a:sym typeface="Calibri"/>
              </a:endParaRPr>
            </a:p>
          </p:txBody>
        </p:sp>
      </p:grpSp>
      <p:grpSp>
        <p:nvGrpSpPr>
          <p:cNvPr id="128" name="Google Shape;128;p2"/>
          <p:cNvGrpSpPr/>
          <p:nvPr/>
        </p:nvGrpSpPr>
        <p:grpSpPr>
          <a:xfrm>
            <a:off x="2915679" y="2610731"/>
            <a:ext cx="4638391" cy="573576"/>
            <a:chOff x="0" y="-57150"/>
            <a:chExt cx="6184521" cy="764767"/>
          </a:xfrm>
        </p:grpSpPr>
        <p:sp>
          <p:nvSpPr>
            <p:cNvPr id="129" name="Google Shape;129;p2"/>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30" name="Google Shape;130;p2"/>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Introduction of Linux</a:t>
              </a:r>
              <a:endParaRPr b="1" sz="3125">
                <a:solidFill>
                  <a:srgbClr val="FFFFFF"/>
                </a:solidFill>
                <a:latin typeface="Calibri"/>
                <a:ea typeface="Calibri"/>
                <a:cs typeface="Calibri"/>
                <a:sym typeface="Calibri"/>
              </a:endParaRPr>
            </a:p>
          </p:txBody>
        </p:sp>
      </p:grpSp>
      <p:grpSp>
        <p:nvGrpSpPr>
          <p:cNvPr id="131" name="Google Shape;131;p2"/>
          <p:cNvGrpSpPr/>
          <p:nvPr/>
        </p:nvGrpSpPr>
        <p:grpSpPr>
          <a:xfrm>
            <a:off x="1644401" y="2487342"/>
            <a:ext cx="906750" cy="857913"/>
            <a:chOff x="0" y="-95250"/>
            <a:chExt cx="1209000" cy="1143883"/>
          </a:xfrm>
        </p:grpSpPr>
        <p:sp>
          <p:nvSpPr>
            <p:cNvPr id="132" name="Google Shape;132;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33" name="Google Shape;133;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1</a:t>
              </a:r>
              <a:endParaRPr sz="4605">
                <a:solidFill>
                  <a:srgbClr val="000000"/>
                </a:solidFill>
                <a:latin typeface="Calibri"/>
                <a:ea typeface="Calibri"/>
                <a:cs typeface="Calibri"/>
                <a:sym typeface="Calibri"/>
              </a:endParaRPr>
            </a:p>
          </p:txBody>
        </p:sp>
      </p:grpSp>
      <p:sp>
        <p:nvSpPr>
          <p:cNvPr id="134" name="Google Shape;134;p2"/>
          <p:cNvSpPr/>
          <p:nvPr/>
        </p:nvSpPr>
        <p:spPr>
          <a:xfrm>
            <a:off x="8603725" y="85857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135" name="Google Shape;135;p2"/>
          <p:cNvSpPr/>
          <p:nvPr/>
        </p:nvSpPr>
        <p:spPr>
          <a:xfrm>
            <a:off x="9981148" y="2279240"/>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36" name="Google Shape;136;p2"/>
          <p:cNvSpPr/>
          <p:nvPr/>
        </p:nvSpPr>
        <p:spPr>
          <a:xfrm>
            <a:off x="9261138" y="2385306"/>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37" name="Google Shape;137;p2"/>
          <p:cNvGrpSpPr/>
          <p:nvPr/>
        </p:nvGrpSpPr>
        <p:grpSpPr>
          <a:xfrm>
            <a:off x="10641261" y="2610731"/>
            <a:ext cx="4638391" cy="573576"/>
            <a:chOff x="0" y="-57150"/>
            <a:chExt cx="6184521" cy="764767"/>
          </a:xfrm>
        </p:grpSpPr>
        <p:sp>
          <p:nvSpPr>
            <p:cNvPr id="138" name="Google Shape;138;p2"/>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39" name="Google Shape;139;p2"/>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Shell Scripting</a:t>
              </a:r>
              <a:endParaRPr b="1" sz="3125">
                <a:solidFill>
                  <a:srgbClr val="FFFFFF"/>
                </a:solidFill>
                <a:latin typeface="Calibri"/>
                <a:ea typeface="Calibri"/>
                <a:cs typeface="Calibri"/>
                <a:sym typeface="Calibri"/>
              </a:endParaRPr>
            </a:p>
          </p:txBody>
        </p:sp>
      </p:grpSp>
      <p:grpSp>
        <p:nvGrpSpPr>
          <p:cNvPr id="140" name="Google Shape;140;p2"/>
          <p:cNvGrpSpPr/>
          <p:nvPr/>
        </p:nvGrpSpPr>
        <p:grpSpPr>
          <a:xfrm>
            <a:off x="9369982" y="2487342"/>
            <a:ext cx="906750" cy="857913"/>
            <a:chOff x="0" y="-95250"/>
            <a:chExt cx="1209000" cy="1143883"/>
          </a:xfrm>
        </p:grpSpPr>
        <p:sp>
          <p:nvSpPr>
            <p:cNvPr id="141" name="Google Shape;141;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42" name="Google Shape;142;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2</a:t>
              </a:r>
              <a:endParaRPr sz="4605">
                <a:solidFill>
                  <a:srgbClr val="000000"/>
                </a:solidFill>
                <a:latin typeface="Calibri"/>
                <a:ea typeface="Calibri"/>
                <a:cs typeface="Calibri"/>
                <a:sym typeface="Calibri"/>
              </a:endParaRPr>
            </a:p>
          </p:txBody>
        </p:sp>
      </p:grpSp>
      <p:sp>
        <p:nvSpPr>
          <p:cNvPr id="143" name="Google Shape;143;p2"/>
          <p:cNvSpPr/>
          <p:nvPr/>
        </p:nvSpPr>
        <p:spPr>
          <a:xfrm>
            <a:off x="2255567" y="4289503"/>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44" name="Google Shape;144;p2"/>
          <p:cNvSpPr/>
          <p:nvPr/>
        </p:nvSpPr>
        <p:spPr>
          <a:xfrm>
            <a:off x="1535557" y="4395569"/>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45" name="Google Shape;145;p2"/>
          <p:cNvGrpSpPr/>
          <p:nvPr/>
        </p:nvGrpSpPr>
        <p:grpSpPr>
          <a:xfrm>
            <a:off x="2915679" y="4620993"/>
            <a:ext cx="4638391" cy="573576"/>
            <a:chOff x="0" y="-57150"/>
            <a:chExt cx="6184521" cy="764767"/>
          </a:xfrm>
        </p:grpSpPr>
        <p:sp>
          <p:nvSpPr>
            <p:cNvPr id="146" name="Google Shape;146;p2"/>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47" name="Google Shape;147;p2"/>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Processes &amp; Scheduling </a:t>
              </a:r>
              <a:endParaRPr b="1" sz="3125">
                <a:solidFill>
                  <a:srgbClr val="FFFFFF"/>
                </a:solidFill>
                <a:latin typeface="Calibri"/>
                <a:ea typeface="Calibri"/>
                <a:cs typeface="Calibri"/>
                <a:sym typeface="Calibri"/>
              </a:endParaRPr>
            </a:p>
          </p:txBody>
        </p:sp>
      </p:grpSp>
      <p:grpSp>
        <p:nvGrpSpPr>
          <p:cNvPr id="148" name="Google Shape;148;p2"/>
          <p:cNvGrpSpPr/>
          <p:nvPr/>
        </p:nvGrpSpPr>
        <p:grpSpPr>
          <a:xfrm>
            <a:off x="1644401" y="4497604"/>
            <a:ext cx="906750" cy="857913"/>
            <a:chOff x="0" y="-95250"/>
            <a:chExt cx="1209000" cy="1143883"/>
          </a:xfrm>
        </p:grpSpPr>
        <p:sp>
          <p:nvSpPr>
            <p:cNvPr id="149" name="Google Shape;149;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50" name="Google Shape;150;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3</a:t>
              </a:r>
              <a:endParaRPr sz="4605">
                <a:solidFill>
                  <a:srgbClr val="000000"/>
                </a:solidFill>
                <a:latin typeface="Calibri"/>
                <a:ea typeface="Calibri"/>
                <a:cs typeface="Calibri"/>
                <a:sym typeface="Calibri"/>
              </a:endParaRPr>
            </a:p>
          </p:txBody>
        </p:sp>
      </p:grpSp>
      <p:sp>
        <p:nvSpPr>
          <p:cNvPr id="151" name="Google Shape;151;p2"/>
          <p:cNvSpPr/>
          <p:nvPr/>
        </p:nvSpPr>
        <p:spPr>
          <a:xfrm>
            <a:off x="9981148" y="4289503"/>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52" name="Google Shape;152;p2"/>
          <p:cNvSpPr/>
          <p:nvPr/>
        </p:nvSpPr>
        <p:spPr>
          <a:xfrm>
            <a:off x="9261138" y="4395569"/>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53" name="Google Shape;153;p2"/>
          <p:cNvGrpSpPr/>
          <p:nvPr/>
        </p:nvGrpSpPr>
        <p:grpSpPr>
          <a:xfrm>
            <a:off x="10641261" y="4620993"/>
            <a:ext cx="5384130" cy="573576"/>
            <a:chOff x="0" y="-57150"/>
            <a:chExt cx="7178840" cy="764767"/>
          </a:xfrm>
        </p:grpSpPr>
        <p:sp>
          <p:nvSpPr>
            <p:cNvPr id="154" name="Google Shape;154;p2"/>
            <p:cNvSpPr/>
            <p:nvPr/>
          </p:nvSpPr>
          <p:spPr>
            <a:xfrm>
              <a:off x="0" y="0"/>
              <a:ext cx="7178840" cy="707617"/>
            </a:xfrm>
            <a:custGeom>
              <a:rect b="b" l="l" r="r" t="t"/>
              <a:pathLst>
                <a:path extrusionOk="0" h="707617" w="7178840">
                  <a:moveTo>
                    <a:pt x="0" y="0"/>
                  </a:moveTo>
                  <a:lnTo>
                    <a:pt x="7178840" y="0"/>
                  </a:lnTo>
                  <a:lnTo>
                    <a:pt x="7178840" y="707617"/>
                  </a:lnTo>
                  <a:lnTo>
                    <a:pt x="0" y="707617"/>
                  </a:lnTo>
                  <a:close/>
                </a:path>
              </a:pathLst>
            </a:custGeom>
            <a:solidFill>
              <a:srgbClr val="000000">
                <a:alpha val="0"/>
              </a:srgbClr>
            </a:solidFill>
            <a:ln>
              <a:noFill/>
            </a:ln>
          </p:spPr>
        </p:sp>
        <p:sp>
          <p:nvSpPr>
            <p:cNvPr id="155" name="Google Shape;155;p2"/>
            <p:cNvSpPr txBox="1"/>
            <p:nvPr/>
          </p:nvSpPr>
          <p:spPr>
            <a:xfrm>
              <a:off x="0" y="-57150"/>
              <a:ext cx="7178840"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Memory Management</a:t>
              </a:r>
              <a:endParaRPr b="1" sz="3125">
                <a:solidFill>
                  <a:srgbClr val="FFFFFF"/>
                </a:solidFill>
                <a:latin typeface="Calibri"/>
                <a:ea typeface="Calibri"/>
                <a:cs typeface="Calibri"/>
                <a:sym typeface="Calibri"/>
              </a:endParaRPr>
            </a:p>
          </p:txBody>
        </p:sp>
      </p:grpSp>
      <p:grpSp>
        <p:nvGrpSpPr>
          <p:cNvPr id="156" name="Google Shape;156;p2"/>
          <p:cNvGrpSpPr/>
          <p:nvPr/>
        </p:nvGrpSpPr>
        <p:grpSpPr>
          <a:xfrm>
            <a:off x="9369982" y="4497604"/>
            <a:ext cx="906750" cy="857913"/>
            <a:chOff x="0" y="-95250"/>
            <a:chExt cx="1209000" cy="1143883"/>
          </a:xfrm>
        </p:grpSpPr>
        <p:sp>
          <p:nvSpPr>
            <p:cNvPr id="157" name="Google Shape;157;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58" name="Google Shape;158;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4</a:t>
              </a:r>
              <a:endParaRPr sz="4605">
                <a:solidFill>
                  <a:srgbClr val="000000"/>
                </a:solidFill>
                <a:latin typeface="Calibri"/>
                <a:ea typeface="Calibri"/>
                <a:cs typeface="Calibri"/>
                <a:sym typeface="Calibri"/>
              </a:endParaRPr>
            </a:p>
          </p:txBody>
        </p:sp>
      </p:grpSp>
      <p:sp>
        <p:nvSpPr>
          <p:cNvPr id="159" name="Google Shape;159;p2"/>
          <p:cNvSpPr/>
          <p:nvPr/>
        </p:nvSpPr>
        <p:spPr>
          <a:xfrm>
            <a:off x="2255567" y="6461691"/>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60" name="Google Shape;160;p2"/>
          <p:cNvSpPr/>
          <p:nvPr/>
        </p:nvSpPr>
        <p:spPr>
          <a:xfrm>
            <a:off x="1535557" y="6567757"/>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61" name="Google Shape;161;p2"/>
          <p:cNvGrpSpPr/>
          <p:nvPr/>
        </p:nvGrpSpPr>
        <p:grpSpPr>
          <a:xfrm>
            <a:off x="2915679" y="6793181"/>
            <a:ext cx="4638391" cy="573576"/>
            <a:chOff x="0" y="-57150"/>
            <a:chExt cx="6184521" cy="764767"/>
          </a:xfrm>
        </p:grpSpPr>
        <p:sp>
          <p:nvSpPr>
            <p:cNvPr id="162" name="Google Shape;162;p2"/>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63" name="Google Shape;163;p2"/>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File Systems</a:t>
              </a:r>
              <a:endParaRPr b="1" sz="3125">
                <a:solidFill>
                  <a:srgbClr val="FFFFFF"/>
                </a:solidFill>
                <a:latin typeface="Calibri"/>
                <a:ea typeface="Calibri"/>
                <a:cs typeface="Calibri"/>
                <a:sym typeface="Calibri"/>
              </a:endParaRPr>
            </a:p>
          </p:txBody>
        </p:sp>
      </p:grpSp>
      <p:grpSp>
        <p:nvGrpSpPr>
          <p:cNvPr id="164" name="Google Shape;164;p2"/>
          <p:cNvGrpSpPr/>
          <p:nvPr/>
        </p:nvGrpSpPr>
        <p:grpSpPr>
          <a:xfrm>
            <a:off x="1644401" y="6669792"/>
            <a:ext cx="906750" cy="857913"/>
            <a:chOff x="0" y="-95250"/>
            <a:chExt cx="1209000" cy="1143883"/>
          </a:xfrm>
        </p:grpSpPr>
        <p:sp>
          <p:nvSpPr>
            <p:cNvPr id="165" name="Google Shape;165;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66" name="Google Shape;166;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5</a:t>
              </a:r>
              <a:endParaRPr sz="4605">
                <a:solidFill>
                  <a:srgbClr val="000000"/>
                </a:solidFill>
                <a:latin typeface="Calibri"/>
                <a:ea typeface="Calibri"/>
                <a:cs typeface="Calibri"/>
                <a:sym typeface="Calibri"/>
              </a:endParaRPr>
            </a:p>
          </p:txBody>
        </p:sp>
      </p:grpSp>
      <p:sp>
        <p:nvSpPr>
          <p:cNvPr id="167" name="Google Shape;167;p2"/>
          <p:cNvSpPr/>
          <p:nvPr/>
        </p:nvSpPr>
        <p:spPr>
          <a:xfrm>
            <a:off x="9981148" y="6461691"/>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68" name="Google Shape;168;p2"/>
          <p:cNvSpPr/>
          <p:nvPr/>
        </p:nvSpPr>
        <p:spPr>
          <a:xfrm>
            <a:off x="9261138" y="6567757"/>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69" name="Google Shape;169;p2"/>
          <p:cNvGrpSpPr/>
          <p:nvPr/>
        </p:nvGrpSpPr>
        <p:grpSpPr>
          <a:xfrm>
            <a:off x="9369982" y="6669792"/>
            <a:ext cx="906750" cy="857913"/>
            <a:chOff x="0" y="-95250"/>
            <a:chExt cx="1209000" cy="1143883"/>
          </a:xfrm>
        </p:grpSpPr>
        <p:sp>
          <p:nvSpPr>
            <p:cNvPr id="170" name="Google Shape;170;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71" name="Google Shape;171;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6</a:t>
              </a:r>
              <a:endParaRPr sz="4605">
                <a:solidFill>
                  <a:srgbClr val="000000"/>
                </a:solidFill>
                <a:latin typeface="Calibri"/>
                <a:ea typeface="Calibri"/>
                <a:cs typeface="Calibri"/>
                <a:sym typeface="Calibri"/>
              </a:endParaRPr>
            </a:p>
          </p:txBody>
        </p:sp>
      </p:grpSp>
      <p:grpSp>
        <p:nvGrpSpPr>
          <p:cNvPr id="172" name="Google Shape;172;p2"/>
          <p:cNvGrpSpPr/>
          <p:nvPr/>
        </p:nvGrpSpPr>
        <p:grpSpPr>
          <a:xfrm>
            <a:off x="10641261" y="6844981"/>
            <a:ext cx="4944110" cy="573893"/>
            <a:chOff x="0" y="-57573"/>
            <a:chExt cx="6592147" cy="765190"/>
          </a:xfrm>
        </p:grpSpPr>
        <p:sp>
          <p:nvSpPr>
            <p:cNvPr id="173" name="Google Shape;173;p2"/>
            <p:cNvSpPr/>
            <p:nvPr/>
          </p:nvSpPr>
          <p:spPr>
            <a:xfrm>
              <a:off x="0" y="0"/>
              <a:ext cx="4712552" cy="707617"/>
            </a:xfrm>
            <a:custGeom>
              <a:rect b="b" l="l" r="r" t="t"/>
              <a:pathLst>
                <a:path extrusionOk="0" h="707617" w="4712552">
                  <a:moveTo>
                    <a:pt x="0" y="0"/>
                  </a:moveTo>
                  <a:lnTo>
                    <a:pt x="4712552" y="0"/>
                  </a:lnTo>
                  <a:lnTo>
                    <a:pt x="4712552" y="707617"/>
                  </a:lnTo>
                  <a:lnTo>
                    <a:pt x="0" y="707617"/>
                  </a:lnTo>
                  <a:close/>
                </a:path>
              </a:pathLst>
            </a:custGeom>
            <a:solidFill>
              <a:srgbClr val="000000">
                <a:alpha val="0"/>
              </a:srgbClr>
            </a:solidFill>
            <a:ln>
              <a:noFill/>
            </a:ln>
          </p:spPr>
        </p:sp>
        <p:sp>
          <p:nvSpPr>
            <p:cNvPr id="174" name="Google Shape;174;p2"/>
            <p:cNvSpPr txBox="1"/>
            <p:nvPr/>
          </p:nvSpPr>
          <p:spPr>
            <a:xfrm>
              <a:off x="0" y="-57573"/>
              <a:ext cx="6592147"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Package Managers</a:t>
              </a:r>
              <a:endParaRPr b="1" sz="3125">
                <a:solidFill>
                  <a:srgbClr val="FFFFFF"/>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
          <p:cNvSpPr/>
          <p:nvPr/>
        </p:nvSpPr>
        <p:spPr>
          <a:xfrm>
            <a:off x="76200" y="1905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9" l="0" r="0" t="-9259"/>
            </a:stretch>
          </a:blipFill>
          <a:ln>
            <a:noFill/>
          </a:ln>
        </p:spPr>
      </p:sp>
      <p:sp>
        <p:nvSpPr>
          <p:cNvPr id="184" name="Google Shape;184;p3"/>
          <p:cNvSpPr/>
          <p:nvPr/>
        </p:nvSpPr>
        <p:spPr>
          <a:xfrm>
            <a:off x="878206" y="230875"/>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185" name="Google Shape;185;p3"/>
          <p:cNvSpPr/>
          <p:nvPr/>
        </p:nvSpPr>
        <p:spPr>
          <a:xfrm>
            <a:off x="12783301" y="7692194"/>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186" name="Google Shape;186;p3"/>
          <p:cNvSpPr/>
          <p:nvPr/>
        </p:nvSpPr>
        <p:spPr>
          <a:xfrm>
            <a:off x="13990088" y="1222528"/>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187" name="Google Shape;187;p3"/>
          <p:cNvSpPr/>
          <p:nvPr/>
        </p:nvSpPr>
        <p:spPr>
          <a:xfrm>
            <a:off x="16277504" y="351895"/>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188" name="Google Shape;188;p3"/>
          <p:cNvSpPr/>
          <p:nvPr/>
        </p:nvSpPr>
        <p:spPr>
          <a:xfrm>
            <a:off x="685801" y="887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grpSp>
        <p:nvGrpSpPr>
          <p:cNvPr id="189" name="Google Shape;189;p3"/>
          <p:cNvGrpSpPr/>
          <p:nvPr/>
        </p:nvGrpSpPr>
        <p:grpSpPr>
          <a:xfrm>
            <a:off x="3505351" y="351884"/>
            <a:ext cx="11144885" cy="1317752"/>
            <a:chOff x="-164253" y="-82127"/>
            <a:chExt cx="14859847" cy="1757003"/>
          </a:xfrm>
        </p:grpSpPr>
        <p:sp>
          <p:nvSpPr>
            <p:cNvPr id="190" name="Google Shape;190;p3"/>
            <p:cNvSpPr/>
            <p:nvPr/>
          </p:nvSpPr>
          <p:spPr>
            <a:xfrm>
              <a:off x="0" y="0"/>
              <a:ext cx="12472692" cy="1674876"/>
            </a:xfrm>
            <a:custGeom>
              <a:rect b="b" l="l" r="r" t="t"/>
              <a:pathLst>
                <a:path extrusionOk="0" h="1674876" w="12472692">
                  <a:moveTo>
                    <a:pt x="0" y="0"/>
                  </a:moveTo>
                  <a:lnTo>
                    <a:pt x="12472692" y="0"/>
                  </a:lnTo>
                  <a:lnTo>
                    <a:pt x="12472692" y="1674876"/>
                  </a:lnTo>
                  <a:lnTo>
                    <a:pt x="0" y="1674876"/>
                  </a:lnTo>
                  <a:close/>
                </a:path>
              </a:pathLst>
            </a:custGeom>
            <a:solidFill>
              <a:srgbClr val="000000">
                <a:alpha val="0"/>
              </a:srgbClr>
            </a:solidFill>
            <a:ln>
              <a:noFill/>
            </a:ln>
          </p:spPr>
        </p:sp>
        <p:sp>
          <p:nvSpPr>
            <p:cNvPr id="191" name="Google Shape;191;p3"/>
            <p:cNvSpPr txBox="1"/>
            <p:nvPr/>
          </p:nvSpPr>
          <p:spPr>
            <a:xfrm>
              <a:off x="-164253" y="-82127"/>
              <a:ext cx="14859847" cy="1712807"/>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None/>
              </a:pPr>
              <a:r>
                <a:rPr b="1" lang="en-US" sz="8000">
                  <a:solidFill>
                    <a:srgbClr val="C1FF72"/>
                  </a:solidFill>
                  <a:latin typeface="Calibri"/>
                  <a:ea typeface="Calibri"/>
                  <a:cs typeface="Calibri"/>
                  <a:sym typeface="Calibri"/>
                </a:rPr>
                <a:t>Processes &amp; Scheduling </a:t>
              </a:r>
              <a:endParaRPr b="1" sz="8000">
                <a:solidFill>
                  <a:srgbClr val="C1FF72"/>
                </a:solidFill>
                <a:latin typeface="Calibri"/>
                <a:ea typeface="Calibri"/>
                <a:cs typeface="Calibri"/>
                <a:sym typeface="Calibri"/>
              </a:endParaRPr>
            </a:p>
            <a:p>
              <a:pPr indent="0" lvl="0" marL="0" marR="0" rtl="0" algn="ctr">
                <a:lnSpc>
                  <a:spcPct val="124812"/>
                </a:lnSpc>
                <a:spcBef>
                  <a:spcPts val="0"/>
                </a:spcBef>
                <a:spcAft>
                  <a:spcPts val="0"/>
                </a:spcAft>
                <a:buNone/>
              </a:pPr>
              <a:r>
                <a:t/>
              </a:r>
              <a:endParaRPr b="1" sz="8000">
                <a:solidFill>
                  <a:srgbClr val="C1FF72"/>
                </a:solidFill>
                <a:latin typeface="Calibri"/>
                <a:ea typeface="Calibri"/>
                <a:cs typeface="Calibri"/>
                <a:sym typeface="Calibri"/>
              </a:endParaRPr>
            </a:p>
          </p:txBody>
        </p:sp>
      </p:grpSp>
      <p:sp>
        <p:nvSpPr>
          <p:cNvPr id="192" name="Google Shape;192;p3"/>
          <p:cNvSpPr/>
          <p:nvPr/>
        </p:nvSpPr>
        <p:spPr>
          <a:xfrm>
            <a:off x="8603725" y="85857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193" name="Google Shape;193;p3"/>
          <p:cNvSpPr/>
          <p:nvPr/>
        </p:nvSpPr>
        <p:spPr>
          <a:xfrm>
            <a:off x="1482090" y="1499870"/>
            <a:ext cx="6914515"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94" name="Google Shape;194;p3"/>
          <p:cNvSpPr/>
          <p:nvPr/>
        </p:nvSpPr>
        <p:spPr>
          <a:xfrm>
            <a:off x="838498" y="1682361"/>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95" name="Google Shape;195;p3"/>
          <p:cNvGrpSpPr/>
          <p:nvPr/>
        </p:nvGrpSpPr>
        <p:grpSpPr>
          <a:xfrm>
            <a:off x="2162175" y="1867535"/>
            <a:ext cx="1624330" cy="589280"/>
            <a:chOff x="-167640" y="-77893"/>
            <a:chExt cx="9314179" cy="785510"/>
          </a:xfrm>
        </p:grpSpPr>
        <p:sp>
          <p:nvSpPr>
            <p:cNvPr id="196" name="Google Shape;196;p3"/>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97" name="Google Shape;197;p3"/>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Process</a:t>
              </a:r>
              <a:endParaRPr b="1" sz="3125">
                <a:solidFill>
                  <a:srgbClr val="FFFFFF"/>
                </a:solidFill>
                <a:latin typeface="Calibri"/>
                <a:ea typeface="Calibri"/>
                <a:cs typeface="Calibri"/>
                <a:sym typeface="Calibri"/>
              </a:endParaRPr>
            </a:p>
          </p:txBody>
        </p:sp>
      </p:grpSp>
      <p:sp>
        <p:nvSpPr>
          <p:cNvPr id="198" name="Google Shape;198;p3"/>
          <p:cNvSpPr/>
          <p:nvPr/>
        </p:nvSpPr>
        <p:spPr>
          <a:xfrm>
            <a:off x="2915920" y="4664075"/>
            <a:ext cx="4638675" cy="530860"/>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99" name="Google Shape;199;p3"/>
          <p:cNvSpPr/>
          <p:nvPr/>
        </p:nvSpPr>
        <p:spPr>
          <a:xfrm>
            <a:off x="10641330" y="4664075"/>
            <a:ext cx="5384165" cy="530860"/>
          </a:xfrm>
          <a:custGeom>
            <a:rect b="b" l="l" r="r" t="t"/>
            <a:pathLst>
              <a:path extrusionOk="0" h="707617" w="7178840">
                <a:moveTo>
                  <a:pt x="0" y="0"/>
                </a:moveTo>
                <a:lnTo>
                  <a:pt x="7178840" y="0"/>
                </a:lnTo>
                <a:lnTo>
                  <a:pt x="7178840" y="707617"/>
                </a:lnTo>
                <a:lnTo>
                  <a:pt x="0" y="707617"/>
                </a:lnTo>
                <a:close/>
              </a:path>
            </a:pathLst>
          </a:custGeom>
          <a:solidFill>
            <a:srgbClr val="000000">
              <a:alpha val="0"/>
            </a:srgbClr>
          </a:solidFill>
          <a:ln>
            <a:noFill/>
          </a:ln>
        </p:spPr>
      </p:sp>
      <p:sp>
        <p:nvSpPr>
          <p:cNvPr id="200" name="Google Shape;200;p3"/>
          <p:cNvSpPr/>
          <p:nvPr/>
        </p:nvSpPr>
        <p:spPr>
          <a:xfrm>
            <a:off x="1527810" y="3089275"/>
            <a:ext cx="686943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01" name="Google Shape;201;p3"/>
          <p:cNvSpPr/>
          <p:nvPr/>
        </p:nvSpPr>
        <p:spPr>
          <a:xfrm>
            <a:off x="838498" y="3221601"/>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02" name="Google Shape;202;p3"/>
          <p:cNvGrpSpPr/>
          <p:nvPr/>
        </p:nvGrpSpPr>
        <p:grpSpPr>
          <a:xfrm>
            <a:off x="2112010" y="3472815"/>
            <a:ext cx="3587750" cy="589280"/>
            <a:chOff x="-167640" y="-77893"/>
            <a:chExt cx="9314179" cy="785510"/>
          </a:xfrm>
        </p:grpSpPr>
        <p:sp>
          <p:nvSpPr>
            <p:cNvPr id="203" name="Google Shape;203;p3"/>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04" name="Google Shape;204;p3"/>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Types of Processes</a:t>
              </a:r>
              <a:endParaRPr b="1" sz="3125">
                <a:solidFill>
                  <a:srgbClr val="FFFFFF"/>
                </a:solidFill>
                <a:latin typeface="Calibri"/>
                <a:ea typeface="Calibri"/>
                <a:cs typeface="Calibri"/>
                <a:sym typeface="Calibri"/>
              </a:endParaRPr>
            </a:p>
          </p:txBody>
        </p:sp>
      </p:grpSp>
      <p:sp>
        <p:nvSpPr>
          <p:cNvPr id="205" name="Google Shape;205;p3"/>
          <p:cNvSpPr/>
          <p:nvPr/>
        </p:nvSpPr>
        <p:spPr>
          <a:xfrm>
            <a:off x="1681480" y="4592955"/>
            <a:ext cx="671576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06" name="Google Shape;206;p3"/>
          <p:cNvSpPr/>
          <p:nvPr/>
        </p:nvSpPr>
        <p:spPr>
          <a:xfrm>
            <a:off x="875963" y="4735441"/>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07" name="Google Shape;207;p3"/>
          <p:cNvGrpSpPr/>
          <p:nvPr/>
        </p:nvGrpSpPr>
        <p:grpSpPr>
          <a:xfrm>
            <a:off x="2214880" y="4999990"/>
            <a:ext cx="2916555" cy="589280"/>
            <a:chOff x="-167640" y="-77893"/>
            <a:chExt cx="9314179" cy="785510"/>
          </a:xfrm>
        </p:grpSpPr>
        <p:sp>
          <p:nvSpPr>
            <p:cNvPr id="208" name="Google Shape;208;p3"/>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09" name="Google Shape;209;p3"/>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Process States</a:t>
              </a:r>
              <a:endParaRPr b="1" sz="3125">
                <a:solidFill>
                  <a:srgbClr val="FFFFFF"/>
                </a:solidFill>
                <a:latin typeface="Calibri"/>
                <a:ea typeface="Calibri"/>
                <a:cs typeface="Calibri"/>
                <a:sym typeface="Calibri"/>
              </a:endParaRPr>
            </a:p>
          </p:txBody>
        </p:sp>
      </p:grpSp>
      <p:sp>
        <p:nvSpPr>
          <p:cNvPr id="210" name="Google Shape;210;p3"/>
          <p:cNvSpPr/>
          <p:nvPr/>
        </p:nvSpPr>
        <p:spPr>
          <a:xfrm>
            <a:off x="1756410" y="5962015"/>
            <a:ext cx="664083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11" name="Google Shape;211;p3"/>
          <p:cNvSpPr/>
          <p:nvPr/>
        </p:nvSpPr>
        <p:spPr>
          <a:xfrm>
            <a:off x="928033" y="6144506"/>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12" name="Google Shape;212;p3"/>
          <p:cNvGrpSpPr/>
          <p:nvPr/>
        </p:nvGrpSpPr>
        <p:grpSpPr>
          <a:xfrm>
            <a:off x="2214880" y="6345555"/>
            <a:ext cx="4685030" cy="589280"/>
            <a:chOff x="-167640" y="-77893"/>
            <a:chExt cx="9314179" cy="785510"/>
          </a:xfrm>
        </p:grpSpPr>
        <p:sp>
          <p:nvSpPr>
            <p:cNvPr id="213" name="Google Shape;213;p3"/>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14" name="Google Shape;214;p3"/>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Process Control Block (PCB)</a:t>
              </a:r>
              <a:endParaRPr b="1" sz="3125">
                <a:solidFill>
                  <a:srgbClr val="FFFFFF"/>
                </a:solidFill>
                <a:latin typeface="Calibri"/>
                <a:ea typeface="Calibri"/>
                <a:cs typeface="Calibri"/>
                <a:sym typeface="Calibri"/>
              </a:endParaRPr>
            </a:p>
          </p:txBody>
        </p:sp>
      </p:grpSp>
      <p:sp>
        <p:nvSpPr>
          <p:cNvPr id="215" name="Google Shape;215;p3"/>
          <p:cNvSpPr/>
          <p:nvPr/>
        </p:nvSpPr>
        <p:spPr>
          <a:xfrm>
            <a:off x="1681480" y="7564755"/>
            <a:ext cx="6715125"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16" name="Google Shape;216;p3"/>
          <p:cNvSpPr/>
          <p:nvPr/>
        </p:nvSpPr>
        <p:spPr>
          <a:xfrm>
            <a:off x="928033" y="7686286"/>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17" name="Google Shape;217;p3"/>
          <p:cNvGrpSpPr/>
          <p:nvPr/>
        </p:nvGrpSpPr>
        <p:grpSpPr>
          <a:xfrm>
            <a:off x="2291080" y="7948295"/>
            <a:ext cx="3496310" cy="589280"/>
            <a:chOff x="-167640" y="-77893"/>
            <a:chExt cx="9314179" cy="785510"/>
          </a:xfrm>
        </p:grpSpPr>
        <p:sp>
          <p:nvSpPr>
            <p:cNvPr id="218" name="Google Shape;218;p3"/>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19" name="Google Shape;219;p3"/>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Context Switching</a:t>
              </a:r>
              <a:endParaRPr b="1" sz="3125">
                <a:solidFill>
                  <a:srgbClr val="FFFFFF"/>
                </a:solidFill>
                <a:latin typeface="Calibri"/>
                <a:ea typeface="Calibri"/>
                <a:cs typeface="Calibri"/>
                <a:sym typeface="Calibri"/>
              </a:endParaRPr>
            </a:p>
          </p:txBody>
        </p:sp>
      </p:grpSp>
      <p:sp>
        <p:nvSpPr>
          <p:cNvPr id="220" name="Google Shape;220;p3"/>
          <p:cNvSpPr/>
          <p:nvPr/>
        </p:nvSpPr>
        <p:spPr>
          <a:xfrm>
            <a:off x="10439400" y="1562100"/>
            <a:ext cx="6914515"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21" name="Google Shape;221;p3"/>
          <p:cNvSpPr/>
          <p:nvPr/>
        </p:nvSpPr>
        <p:spPr>
          <a:xfrm>
            <a:off x="9915823" y="1714746"/>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22" name="Google Shape;222;p3"/>
          <p:cNvGrpSpPr/>
          <p:nvPr/>
        </p:nvGrpSpPr>
        <p:grpSpPr>
          <a:xfrm>
            <a:off x="11099800" y="1883410"/>
            <a:ext cx="4803775" cy="589280"/>
            <a:chOff x="-167640" y="-77893"/>
            <a:chExt cx="27545647" cy="785510"/>
          </a:xfrm>
        </p:grpSpPr>
        <p:sp>
          <p:nvSpPr>
            <p:cNvPr id="223" name="Google Shape;223;p3"/>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24" name="Google Shape;224;p3"/>
            <p:cNvSpPr txBox="1"/>
            <p:nvPr/>
          </p:nvSpPr>
          <p:spPr>
            <a:xfrm>
              <a:off x="-167640" y="-77893"/>
              <a:ext cx="27545647" cy="764349"/>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CPU Scheduling</a:t>
              </a:r>
              <a:endParaRPr b="1" sz="3125">
                <a:solidFill>
                  <a:srgbClr val="FFFFFF"/>
                </a:solidFill>
                <a:latin typeface="Calibri"/>
                <a:ea typeface="Calibri"/>
                <a:cs typeface="Calibri"/>
                <a:sym typeface="Calibri"/>
              </a:endParaRPr>
            </a:p>
          </p:txBody>
        </p:sp>
      </p:grpSp>
      <p:sp>
        <p:nvSpPr>
          <p:cNvPr id="225" name="Google Shape;225;p3"/>
          <p:cNvSpPr/>
          <p:nvPr/>
        </p:nvSpPr>
        <p:spPr>
          <a:xfrm>
            <a:off x="10515600" y="3009900"/>
            <a:ext cx="686943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26" name="Google Shape;226;p3"/>
          <p:cNvSpPr/>
          <p:nvPr/>
        </p:nvSpPr>
        <p:spPr>
          <a:xfrm>
            <a:off x="9915823" y="3089521"/>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27" name="Google Shape;227;p3"/>
          <p:cNvGrpSpPr/>
          <p:nvPr/>
        </p:nvGrpSpPr>
        <p:grpSpPr>
          <a:xfrm>
            <a:off x="11099800" y="3393440"/>
            <a:ext cx="4314190" cy="589280"/>
            <a:chOff x="-167640" y="-77893"/>
            <a:chExt cx="11200094" cy="785510"/>
          </a:xfrm>
        </p:grpSpPr>
        <p:sp>
          <p:nvSpPr>
            <p:cNvPr id="228" name="Google Shape;228;p3"/>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29" name="Google Shape;229;p3"/>
            <p:cNvSpPr txBox="1"/>
            <p:nvPr/>
          </p:nvSpPr>
          <p:spPr>
            <a:xfrm>
              <a:off x="-167640" y="-77893"/>
              <a:ext cx="11200094" cy="764349"/>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Scheduling Algorithms</a:t>
              </a:r>
              <a:endParaRPr b="1" sz="3125">
                <a:solidFill>
                  <a:srgbClr val="FFFFFF"/>
                </a:solidFill>
                <a:latin typeface="Calibri"/>
                <a:ea typeface="Calibri"/>
                <a:cs typeface="Calibri"/>
                <a:sym typeface="Calibri"/>
              </a:endParaRPr>
            </a:p>
          </p:txBody>
        </p:sp>
      </p:grpSp>
      <p:sp>
        <p:nvSpPr>
          <p:cNvPr id="230" name="Google Shape;230;p3"/>
          <p:cNvSpPr/>
          <p:nvPr/>
        </p:nvSpPr>
        <p:spPr>
          <a:xfrm>
            <a:off x="10669270" y="4513580"/>
            <a:ext cx="671576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grpSp>
        <p:nvGrpSpPr>
          <p:cNvPr id="231" name="Google Shape;231;p3"/>
          <p:cNvGrpSpPr/>
          <p:nvPr/>
        </p:nvGrpSpPr>
        <p:grpSpPr>
          <a:xfrm>
            <a:off x="11202670" y="4920615"/>
            <a:ext cx="5194935" cy="589280"/>
            <a:chOff x="-167640" y="-77893"/>
            <a:chExt cx="16590311" cy="785510"/>
          </a:xfrm>
        </p:grpSpPr>
        <p:sp>
          <p:nvSpPr>
            <p:cNvPr id="232" name="Google Shape;232;p3"/>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33" name="Google Shape;233;p3"/>
            <p:cNvSpPr txBox="1"/>
            <p:nvPr/>
          </p:nvSpPr>
          <p:spPr>
            <a:xfrm>
              <a:off x="-167640" y="-77893"/>
              <a:ext cx="16590311" cy="764349"/>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Synchronization Basics</a:t>
              </a:r>
              <a:endParaRPr b="1" sz="3125">
                <a:solidFill>
                  <a:srgbClr val="FFFFFF"/>
                </a:solidFill>
                <a:latin typeface="Calibri"/>
                <a:ea typeface="Calibri"/>
                <a:cs typeface="Calibri"/>
                <a:sym typeface="Calibri"/>
              </a:endParaRPr>
            </a:p>
          </p:txBody>
        </p:sp>
      </p:grpSp>
      <p:sp>
        <p:nvSpPr>
          <p:cNvPr id="234" name="Google Shape;234;p3"/>
          <p:cNvSpPr/>
          <p:nvPr/>
        </p:nvSpPr>
        <p:spPr>
          <a:xfrm>
            <a:off x="10058400" y="4742180"/>
            <a:ext cx="906780" cy="786765"/>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235" name="Google Shape;235;p3"/>
          <p:cNvSpPr/>
          <p:nvPr/>
        </p:nvSpPr>
        <p:spPr>
          <a:xfrm>
            <a:off x="10744200" y="5882640"/>
            <a:ext cx="664083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36" name="Google Shape;236;p3"/>
          <p:cNvSpPr/>
          <p:nvPr/>
        </p:nvSpPr>
        <p:spPr>
          <a:xfrm>
            <a:off x="9915823" y="6065131"/>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37" name="Google Shape;237;p3"/>
          <p:cNvGrpSpPr/>
          <p:nvPr/>
        </p:nvGrpSpPr>
        <p:grpSpPr>
          <a:xfrm>
            <a:off x="11202670" y="6266180"/>
            <a:ext cx="4685030" cy="589280"/>
            <a:chOff x="-167640" y="-77893"/>
            <a:chExt cx="9314179" cy="785510"/>
          </a:xfrm>
        </p:grpSpPr>
        <p:sp>
          <p:nvSpPr>
            <p:cNvPr id="238" name="Google Shape;238;p3"/>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39" name="Google Shape;239;p3"/>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Synchronization Techniques</a:t>
              </a:r>
              <a:endParaRPr b="1" sz="3125">
                <a:solidFill>
                  <a:srgbClr val="FFFFFF"/>
                </a:solidFill>
                <a:latin typeface="Calibri"/>
                <a:ea typeface="Calibri"/>
                <a:cs typeface="Calibri"/>
                <a:sym typeface="Calibri"/>
              </a:endParaRPr>
            </a:p>
          </p:txBody>
        </p:sp>
      </p:grpSp>
      <p:sp>
        <p:nvSpPr>
          <p:cNvPr id="240" name="Google Shape;240;p3"/>
          <p:cNvSpPr/>
          <p:nvPr/>
        </p:nvSpPr>
        <p:spPr>
          <a:xfrm>
            <a:off x="10669270" y="7485380"/>
            <a:ext cx="6715125"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41" name="Google Shape;241;p3"/>
          <p:cNvSpPr/>
          <p:nvPr/>
        </p:nvSpPr>
        <p:spPr>
          <a:xfrm>
            <a:off x="9915823" y="7606911"/>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42" name="Google Shape;242;p3"/>
          <p:cNvGrpSpPr/>
          <p:nvPr/>
        </p:nvGrpSpPr>
        <p:grpSpPr>
          <a:xfrm>
            <a:off x="11278870" y="7868920"/>
            <a:ext cx="3496310" cy="589280"/>
            <a:chOff x="-167640" y="-77893"/>
            <a:chExt cx="9314179" cy="785510"/>
          </a:xfrm>
        </p:grpSpPr>
        <p:sp>
          <p:nvSpPr>
            <p:cNvPr id="243" name="Google Shape;243;p3"/>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44" name="Google Shape;244;p3"/>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Lab</a:t>
              </a:r>
              <a:endParaRPr b="1" sz="3125">
                <a:solidFill>
                  <a:srgbClr val="FFFFFF"/>
                </a:solidFill>
                <a:latin typeface="Calibri"/>
                <a:ea typeface="Calibri"/>
                <a:cs typeface="Calibri"/>
                <a:sym typeface="Calibri"/>
              </a:endParaRPr>
            </a:p>
          </p:txBody>
        </p:sp>
      </p:grpSp>
      <p:sp>
        <p:nvSpPr>
          <p:cNvPr id="245" name="Google Shape;245;p3"/>
          <p:cNvSpPr/>
          <p:nvPr/>
        </p:nvSpPr>
        <p:spPr>
          <a:xfrm>
            <a:off x="9915823" y="4593201"/>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9" l="0" r="0" t="-9259"/>
            </a:stretch>
          </a:blipFill>
          <a:ln>
            <a:noFill/>
          </a:ln>
        </p:spPr>
      </p:sp>
      <p:grpSp>
        <p:nvGrpSpPr>
          <p:cNvPr id="251" name="Google Shape;251;p4"/>
          <p:cNvGrpSpPr/>
          <p:nvPr/>
        </p:nvGrpSpPr>
        <p:grpSpPr>
          <a:xfrm>
            <a:off x="4327525" y="266703"/>
            <a:ext cx="11132820" cy="1332227"/>
            <a:chOff x="-1351251" y="-101606"/>
            <a:chExt cx="18195184" cy="1776482"/>
          </a:xfrm>
        </p:grpSpPr>
        <p:sp>
          <p:nvSpPr>
            <p:cNvPr id="252" name="Google Shape;252;p4"/>
            <p:cNvSpPr/>
            <p:nvPr/>
          </p:nvSpPr>
          <p:spPr>
            <a:xfrm>
              <a:off x="0" y="0"/>
              <a:ext cx="16843933" cy="1674876"/>
            </a:xfrm>
            <a:custGeom>
              <a:rect b="b" l="l" r="r" t="t"/>
              <a:pathLst>
                <a:path extrusionOk="0" h="1674876" w="16843933">
                  <a:moveTo>
                    <a:pt x="0" y="0"/>
                  </a:moveTo>
                  <a:lnTo>
                    <a:pt x="16843933" y="0"/>
                  </a:lnTo>
                  <a:lnTo>
                    <a:pt x="16843933" y="1674876"/>
                  </a:lnTo>
                  <a:lnTo>
                    <a:pt x="0" y="1674876"/>
                  </a:lnTo>
                  <a:close/>
                </a:path>
              </a:pathLst>
            </a:custGeom>
            <a:solidFill>
              <a:srgbClr val="000000">
                <a:alpha val="0"/>
              </a:srgbClr>
            </a:solidFill>
            <a:ln>
              <a:noFill/>
            </a:ln>
          </p:spPr>
        </p:sp>
        <p:sp>
          <p:nvSpPr>
            <p:cNvPr id="253" name="Google Shape;253;p4"/>
            <p:cNvSpPr txBox="1"/>
            <p:nvPr/>
          </p:nvSpPr>
          <p:spPr>
            <a:xfrm>
              <a:off x="-1351251" y="-101606"/>
              <a:ext cx="16843933" cy="1712976"/>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None/>
              </a:pPr>
              <a:r>
                <a:rPr b="1" lang="en-US" sz="8000">
                  <a:solidFill>
                    <a:srgbClr val="C1FF72"/>
                  </a:solidFill>
                  <a:latin typeface="Calibri"/>
                  <a:ea typeface="Calibri"/>
                  <a:cs typeface="Calibri"/>
                  <a:sym typeface="Calibri"/>
                </a:rPr>
                <a:t>Process</a:t>
              </a:r>
              <a:endParaRPr b="1" sz="8000">
                <a:solidFill>
                  <a:srgbClr val="C1FF72"/>
                </a:solidFill>
                <a:latin typeface="Calibri"/>
                <a:ea typeface="Calibri"/>
                <a:cs typeface="Calibri"/>
                <a:sym typeface="Calibri"/>
              </a:endParaRPr>
            </a:p>
          </p:txBody>
        </p:sp>
      </p:grpSp>
      <p:sp>
        <p:nvSpPr>
          <p:cNvPr id="254" name="Google Shape;254;p4"/>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255" name="Google Shape;255;p4"/>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256" name="Google Shape;256;p4"/>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257" name="Google Shape;257;p4"/>
          <p:cNvSpPr/>
          <p:nvPr/>
        </p:nvSpPr>
        <p:spPr>
          <a:xfrm>
            <a:off x="13030430" y="647390"/>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4"/>
          <p:cNvSpPr/>
          <p:nvPr/>
        </p:nvSpPr>
        <p:spPr>
          <a:xfrm>
            <a:off x="152401" y="876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259" name="Google Shape;259;p4"/>
          <p:cNvSpPr/>
          <p:nvPr/>
        </p:nvSpPr>
        <p:spPr>
          <a:xfrm>
            <a:off x="16002112" y="2665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260" name="Google Shape;260;p4"/>
          <p:cNvSpPr/>
          <p:nvPr/>
        </p:nvSpPr>
        <p:spPr>
          <a:xfrm>
            <a:off x="641985" y="1670050"/>
            <a:ext cx="16946245" cy="8195310"/>
          </a:xfrm>
          <a:custGeom>
            <a:rect b="b" l="l" r="r" t="t"/>
            <a:pathLst>
              <a:path extrusionOk="0" h="7415767" w="15921568">
                <a:moveTo>
                  <a:pt x="0" y="0"/>
                </a:moveTo>
                <a:lnTo>
                  <a:pt x="15921567" y="0"/>
                </a:lnTo>
                <a:lnTo>
                  <a:pt x="15921567" y="7415766"/>
                </a:lnTo>
                <a:lnTo>
                  <a:pt x="0" y="7415766"/>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61" name="Google Shape;261;p4"/>
          <p:cNvGrpSpPr/>
          <p:nvPr/>
        </p:nvGrpSpPr>
        <p:grpSpPr>
          <a:xfrm>
            <a:off x="1033460" y="2025341"/>
            <a:ext cx="16191865" cy="7583170"/>
            <a:chOff x="-1264073" y="-296334"/>
            <a:chExt cx="21589153" cy="10110893"/>
          </a:xfrm>
        </p:grpSpPr>
        <p:sp>
          <p:nvSpPr>
            <p:cNvPr id="262" name="Google Shape;262;p4"/>
            <p:cNvSpPr/>
            <p:nvPr/>
          </p:nvSpPr>
          <p:spPr>
            <a:xfrm>
              <a:off x="0" y="0"/>
              <a:ext cx="19997427" cy="8521700"/>
            </a:xfrm>
            <a:custGeom>
              <a:rect b="b" l="l" r="r" t="t"/>
              <a:pathLst>
                <a:path extrusionOk="0" h="8521700" w="19997427">
                  <a:moveTo>
                    <a:pt x="0" y="0"/>
                  </a:moveTo>
                  <a:lnTo>
                    <a:pt x="19997427" y="0"/>
                  </a:lnTo>
                  <a:lnTo>
                    <a:pt x="19997427" y="8521700"/>
                  </a:lnTo>
                  <a:lnTo>
                    <a:pt x="0" y="8521700"/>
                  </a:lnTo>
                  <a:close/>
                </a:path>
              </a:pathLst>
            </a:custGeom>
            <a:solidFill>
              <a:srgbClr val="000000">
                <a:alpha val="0"/>
              </a:srgbClr>
            </a:solidFill>
            <a:ln>
              <a:noFill/>
            </a:ln>
          </p:spPr>
        </p:sp>
        <p:sp>
          <p:nvSpPr>
            <p:cNvPr id="263" name="Google Shape;263;p4"/>
            <p:cNvSpPr txBox="1"/>
            <p:nvPr/>
          </p:nvSpPr>
          <p:spPr>
            <a:xfrm>
              <a:off x="-1264073" y="-296334"/>
              <a:ext cx="21589153" cy="10110893"/>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None/>
              </a:pPr>
              <a:r>
                <a:rPr b="1" lang="en-US" sz="3000">
                  <a:solidFill>
                    <a:srgbClr val="FFFFFF"/>
                  </a:solidFill>
                  <a:latin typeface="Calibri"/>
                  <a:ea typeface="Calibri"/>
                  <a:cs typeface="Calibri"/>
                  <a:sym typeface="Calibri"/>
                </a:rPr>
                <a:t>In computing, a </a:t>
              </a:r>
              <a:r>
                <a:rPr b="1" lang="en-US" sz="3000">
                  <a:solidFill>
                    <a:srgbClr val="C1FF72"/>
                  </a:solidFill>
                  <a:latin typeface="Calibri"/>
                  <a:ea typeface="Calibri"/>
                  <a:cs typeface="Calibri"/>
                  <a:sym typeface="Calibri"/>
                </a:rPr>
                <a:t>process </a:t>
              </a:r>
              <a:r>
                <a:rPr b="1" lang="en-US" sz="3000">
                  <a:solidFill>
                    <a:srgbClr val="FFFFFF"/>
                  </a:solidFill>
                  <a:latin typeface="Calibri"/>
                  <a:ea typeface="Calibri"/>
                  <a:cs typeface="Calibri"/>
                  <a:sym typeface="Calibri"/>
                </a:rPr>
                <a:t>is an instance of a running program. It's essentially the execution of a program’s instructions by the computer’s </a:t>
              </a:r>
              <a:r>
                <a:rPr b="1" lang="en-US" sz="3000">
                  <a:solidFill>
                    <a:srgbClr val="C1FF72"/>
                  </a:solidFill>
                  <a:latin typeface="Calibri"/>
                  <a:ea typeface="Calibri"/>
                  <a:cs typeface="Calibri"/>
                  <a:sym typeface="Calibri"/>
                </a:rPr>
                <a:t>processor</a:t>
              </a:r>
              <a:r>
                <a:rPr b="1" lang="en-US" sz="3000">
                  <a:solidFill>
                    <a:srgbClr val="FFFFFF"/>
                  </a:solidFill>
                  <a:latin typeface="Calibri"/>
                  <a:ea typeface="Calibri"/>
                  <a:cs typeface="Calibri"/>
                  <a:sym typeface="Calibri"/>
                </a:rPr>
                <a:t>. Each process has its own allocated system </a:t>
              </a:r>
              <a:r>
                <a:rPr b="1" lang="en-US" sz="3000">
                  <a:solidFill>
                    <a:srgbClr val="C1FF72"/>
                  </a:solidFill>
                  <a:latin typeface="Calibri"/>
                  <a:ea typeface="Calibri"/>
                  <a:cs typeface="Calibri"/>
                  <a:sym typeface="Calibri"/>
                </a:rPr>
                <a:t>resources</a:t>
              </a:r>
              <a:r>
                <a:rPr b="1" lang="en-US" sz="3000">
                  <a:solidFill>
                    <a:srgbClr val="FFFFFF"/>
                  </a:solidFill>
                  <a:latin typeface="Calibri"/>
                  <a:ea typeface="Calibri"/>
                  <a:cs typeface="Calibri"/>
                  <a:sym typeface="Calibri"/>
                </a:rPr>
                <a:t>, like memory and </a:t>
              </a:r>
              <a:r>
                <a:rPr b="1" lang="en-US" sz="3000">
                  <a:solidFill>
                    <a:srgbClr val="C1FF72"/>
                  </a:solidFill>
                  <a:latin typeface="Calibri"/>
                  <a:ea typeface="Calibri"/>
                  <a:cs typeface="Calibri"/>
                  <a:sym typeface="Calibri"/>
                </a:rPr>
                <a:t>CPU time</a:t>
              </a:r>
              <a:r>
                <a:rPr b="1" lang="en-US" sz="3000">
                  <a:solidFill>
                    <a:srgbClr val="FFFFFF"/>
                  </a:solidFill>
                  <a:latin typeface="Calibri"/>
                  <a:ea typeface="Calibri"/>
                  <a:cs typeface="Calibri"/>
                  <a:sym typeface="Calibri"/>
                </a:rPr>
                <a:t>, and operates independently or alongside other processes.</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None/>
              </a:pPr>
              <a:r>
                <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None/>
              </a:pPr>
              <a:r>
                <a:rPr b="1" lang="en-US" sz="3000">
                  <a:solidFill>
                    <a:srgbClr val="FFFFFF"/>
                  </a:solidFill>
                  <a:latin typeface="Calibri"/>
                  <a:ea typeface="Calibri"/>
                  <a:cs typeface="Calibri"/>
                  <a:sym typeface="Calibri"/>
                </a:rPr>
                <a:t>A process typically goes through different states:</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New</a:t>
              </a:r>
              <a:r>
                <a:rPr b="1" lang="en-US" sz="3000">
                  <a:solidFill>
                    <a:srgbClr val="FFFFFF"/>
                  </a:solidFill>
                  <a:latin typeface="Calibri"/>
                  <a:ea typeface="Calibri"/>
                  <a:cs typeface="Calibri"/>
                  <a:sym typeface="Calibri"/>
                </a:rPr>
                <a:t>: The process is being created.</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Ready</a:t>
              </a:r>
              <a:r>
                <a:rPr b="1" lang="en-US" sz="3000">
                  <a:solidFill>
                    <a:srgbClr val="FFFFFF"/>
                  </a:solidFill>
                  <a:latin typeface="Calibri"/>
                  <a:ea typeface="Calibri"/>
                  <a:cs typeface="Calibri"/>
                  <a:sym typeface="Calibri"/>
                </a:rPr>
                <a:t>: The process is waiting to be assigned CPU time.</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Running</a:t>
              </a:r>
              <a:r>
                <a:rPr b="1" lang="en-US" sz="3000">
                  <a:solidFill>
                    <a:srgbClr val="FFFFFF"/>
                  </a:solidFill>
                  <a:latin typeface="Calibri"/>
                  <a:ea typeface="Calibri"/>
                  <a:cs typeface="Calibri"/>
                  <a:sym typeface="Calibri"/>
                </a:rPr>
                <a:t>: The process is actively executing instructions.</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Waiting</a:t>
              </a:r>
              <a:r>
                <a:rPr b="1" lang="en-US" sz="3000">
                  <a:solidFill>
                    <a:srgbClr val="FFFFFF"/>
                  </a:solidFill>
                  <a:latin typeface="Calibri"/>
                  <a:ea typeface="Calibri"/>
                  <a:cs typeface="Calibri"/>
                  <a:sym typeface="Calibri"/>
                </a:rPr>
                <a:t>: The process is paused, waiting for an event or resource.</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Terminated</a:t>
              </a:r>
              <a:r>
                <a:rPr b="1" lang="en-US" sz="3000">
                  <a:solidFill>
                    <a:srgbClr val="FFFFFF"/>
                  </a:solidFill>
                  <a:latin typeface="Calibri"/>
                  <a:ea typeface="Calibri"/>
                  <a:cs typeface="Calibri"/>
                  <a:sym typeface="Calibri"/>
                </a:rPr>
                <a:t>: The process has completed or been stopped.</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None/>
              </a:pPr>
              <a:r>
                <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None/>
              </a:pPr>
              <a:r>
                <a:rPr b="1" lang="en-US" sz="3000">
                  <a:solidFill>
                    <a:srgbClr val="FFFFFF"/>
                  </a:solidFill>
                  <a:latin typeface="Calibri"/>
                  <a:ea typeface="Calibri"/>
                  <a:cs typeface="Calibri"/>
                  <a:sym typeface="Calibri"/>
                </a:rPr>
                <a:t>Multiple processes can run at the same time, and modern operating systems use </a:t>
              </a:r>
              <a:r>
                <a:rPr b="1" lang="en-US" sz="3000">
                  <a:solidFill>
                    <a:srgbClr val="C1FF72"/>
                  </a:solidFill>
                  <a:latin typeface="Calibri"/>
                  <a:ea typeface="Calibri"/>
                  <a:cs typeface="Calibri"/>
                  <a:sym typeface="Calibri"/>
                </a:rPr>
                <a:t>process scheduling</a:t>
              </a:r>
              <a:r>
                <a:rPr b="1" lang="en-US" sz="3000">
                  <a:solidFill>
                    <a:srgbClr val="FFFFFF"/>
                  </a:solidFill>
                  <a:latin typeface="Calibri"/>
                  <a:ea typeface="Calibri"/>
                  <a:cs typeface="Calibri"/>
                  <a:sym typeface="Calibri"/>
                </a:rPr>
                <a:t> to manage them efficiently. Some processes are </a:t>
              </a:r>
              <a:r>
                <a:rPr b="1" lang="en-US" sz="3000">
                  <a:solidFill>
                    <a:srgbClr val="C1FF72"/>
                  </a:solidFill>
                  <a:latin typeface="Calibri"/>
                  <a:ea typeface="Calibri"/>
                  <a:cs typeface="Calibri"/>
                  <a:sym typeface="Calibri"/>
                </a:rPr>
                <a:t>system-level</a:t>
              </a:r>
              <a:r>
                <a:rPr b="1" lang="en-US" sz="3000">
                  <a:solidFill>
                    <a:srgbClr val="FFFFFF"/>
                  </a:solidFill>
                  <a:latin typeface="Calibri"/>
                  <a:ea typeface="Calibri"/>
                  <a:cs typeface="Calibri"/>
                  <a:sym typeface="Calibri"/>
                </a:rPr>
                <a:t> (like background services), while others are </a:t>
              </a:r>
              <a:r>
                <a:rPr b="1" lang="en-US" sz="3000">
                  <a:solidFill>
                    <a:srgbClr val="C1FF72"/>
                  </a:solidFill>
                  <a:latin typeface="Calibri"/>
                  <a:ea typeface="Calibri"/>
                  <a:cs typeface="Calibri"/>
                  <a:sym typeface="Calibri"/>
                </a:rPr>
                <a:t>user-initiated </a:t>
              </a:r>
              <a:r>
                <a:rPr b="1" lang="en-US" sz="3000">
                  <a:solidFill>
                    <a:srgbClr val="FFFFFF"/>
                  </a:solidFill>
                  <a:latin typeface="Calibri"/>
                  <a:ea typeface="Calibri"/>
                  <a:cs typeface="Calibri"/>
                  <a:sym typeface="Calibri"/>
                </a:rPr>
                <a:t>(like opening an application).</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None/>
              </a:pPr>
              <a:r>
                <a:t/>
              </a:r>
              <a:endParaRPr b="1" sz="3000">
                <a:solidFill>
                  <a:srgbClr val="FFFFFF"/>
                </a:solidFill>
                <a:latin typeface="Calibri"/>
                <a:ea typeface="Calibri"/>
                <a:cs typeface="Calibri"/>
                <a:sym typeface="Calibri"/>
              </a:endParaRPr>
            </a:p>
          </p:txBody>
        </p:sp>
      </p:grpSp>
      <p:pic>
        <p:nvPicPr>
          <p:cNvPr id="264" name="Google Shape;264;p4"/>
          <p:cNvPicPr preferRelativeResize="0"/>
          <p:nvPr/>
        </p:nvPicPr>
        <p:blipFill rotWithShape="1">
          <a:blip r:embed="rId5">
            <a:alphaModFix/>
          </a:blip>
          <a:srcRect b="0" l="0" r="0" t="0"/>
          <a:stretch/>
        </p:blipFill>
        <p:spPr>
          <a:xfrm>
            <a:off x="11836400" y="3668395"/>
            <a:ext cx="5388610" cy="421449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5"/>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9" l="0" r="0" t="-9259"/>
            </a:stretch>
          </a:blipFill>
          <a:ln>
            <a:noFill/>
          </a:ln>
        </p:spPr>
      </p:sp>
      <p:sp>
        <p:nvSpPr>
          <p:cNvPr id="270" name="Google Shape;270;p5"/>
          <p:cNvSpPr txBox="1"/>
          <p:nvPr/>
        </p:nvSpPr>
        <p:spPr>
          <a:xfrm>
            <a:off x="4953000" y="571500"/>
            <a:ext cx="7964805" cy="506730"/>
          </a:xfrm>
          <a:prstGeom prst="rect">
            <a:avLst/>
          </a:prstGeom>
          <a:noFill/>
          <a:ln>
            <a:noFill/>
          </a:ln>
        </p:spPr>
        <p:txBody>
          <a:bodyPr anchorCtr="0" anchor="t" bIns="0" lIns="0" spcFirstLastPara="1" rIns="0" wrap="square" tIns="0">
            <a:noAutofit/>
          </a:bodyPr>
          <a:lstStyle/>
          <a:p>
            <a:pPr indent="0" lvl="0" marL="0" marR="0" rtl="0" algn="l">
              <a:lnSpc>
                <a:spcPct val="54687"/>
              </a:lnSpc>
              <a:spcBef>
                <a:spcPts val="0"/>
              </a:spcBef>
              <a:spcAft>
                <a:spcPts val="0"/>
              </a:spcAft>
              <a:buNone/>
            </a:pPr>
            <a:r>
              <a:rPr b="1" lang="en-US" sz="8000">
                <a:solidFill>
                  <a:srgbClr val="C1FF72"/>
                </a:solidFill>
                <a:latin typeface="Calibri"/>
                <a:ea typeface="Calibri"/>
                <a:cs typeface="Calibri"/>
                <a:sym typeface="Calibri"/>
              </a:rPr>
              <a:t>Types of Processes</a:t>
            </a:r>
            <a:endParaRPr b="1" sz="8000">
              <a:solidFill>
                <a:srgbClr val="C1FF72"/>
              </a:solidFill>
              <a:latin typeface="Calibri"/>
              <a:ea typeface="Calibri"/>
              <a:cs typeface="Calibri"/>
              <a:sym typeface="Calibri"/>
            </a:endParaRPr>
          </a:p>
        </p:txBody>
      </p:sp>
      <p:sp>
        <p:nvSpPr>
          <p:cNvPr id="271" name="Google Shape;271;p5"/>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272" name="Google Shape;272;p5"/>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273" name="Google Shape;273;p5"/>
          <p:cNvSpPr/>
          <p:nvPr/>
        </p:nvSpPr>
        <p:spPr>
          <a:xfrm>
            <a:off x="16611712" y="97650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5"/>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275" name="Google Shape;275;p5"/>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5"/>
          <p:cNvSpPr/>
          <p:nvPr/>
        </p:nvSpPr>
        <p:spPr>
          <a:xfrm>
            <a:off x="228601" y="125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277" name="Google Shape;277;p5"/>
          <p:cNvSpPr txBox="1"/>
          <p:nvPr/>
        </p:nvSpPr>
        <p:spPr>
          <a:xfrm>
            <a:off x="558165" y="1388745"/>
            <a:ext cx="16959580" cy="847852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None/>
            </a:pPr>
            <a:r>
              <a:rPr b="1" lang="en-US" sz="3000">
                <a:solidFill>
                  <a:srgbClr val="FFFFFF"/>
                </a:solidFill>
                <a:latin typeface="Calibri"/>
                <a:ea typeface="Calibri"/>
                <a:cs typeface="Calibri"/>
                <a:sym typeface="Calibri"/>
              </a:rPr>
              <a:t>Processes in a computer system can be categorized based on their functionality and interaction with the system. Here are the key types:</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None/>
            </a:pPr>
            <a:r>
              <a:rPr b="1" lang="en-US" sz="3000">
                <a:solidFill>
                  <a:srgbClr val="C1FF72"/>
                </a:solidFill>
                <a:latin typeface="Calibri"/>
                <a:ea typeface="Calibri"/>
                <a:cs typeface="Calibri"/>
                <a:sym typeface="Calibri"/>
              </a:rPr>
              <a:t>1. User Processes vs. System Processes</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User Processes: Initiated by users (e.g., opening a web browser, running a text editor).</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System Processes: Managed by the operating system (e.g., background services, kernel tasks).</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chemeClr val="dk1"/>
              </a:buClr>
              <a:buSzPts val="3000"/>
              <a:buFont typeface="Arial"/>
              <a:buNone/>
            </a:pPr>
            <a:r>
              <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2. Foreground vs. Background Processes</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Foreground Process: Requires direct user interaction (e.g., playing a video).</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Background Process (Daemon/Service): Runs without user input (e.g., antivirus scanning).</a:t>
            </a:r>
            <a:endParaRPr b="1" sz="3000">
              <a:solidFill>
                <a:srgbClr val="FFFFFF"/>
              </a:solidFill>
              <a:latin typeface="Calibri"/>
              <a:ea typeface="Calibri"/>
              <a:cs typeface="Calibri"/>
              <a:sym typeface="Calibri"/>
            </a:endParaRPr>
          </a:p>
          <a:p>
            <a:pPr indent="-266700" lvl="0" marL="457200" marR="0" rtl="0" algn="just">
              <a:lnSpc>
                <a:spcPct val="140000"/>
              </a:lnSpc>
              <a:spcBef>
                <a:spcPts val="0"/>
              </a:spcBef>
              <a:spcAft>
                <a:spcPts val="0"/>
              </a:spcAft>
              <a:buClr>
                <a:schemeClr val="dk1"/>
              </a:buClr>
              <a:buSzPts val="3000"/>
              <a:buFont typeface="Arial"/>
              <a:buNone/>
            </a:pPr>
            <a:r>
              <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3. Independent vs. Cooperating Processes</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Independent Process: Doesn't rely on other processes; executes its own tasks.</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Cooperating Process: Shares data or resources with other processes.</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None/>
            </a:pPr>
            <a:r>
              <a:t/>
            </a:r>
            <a:endParaRPr b="1" sz="3000">
              <a:solidFill>
                <a:srgbClr val="FFFFFF"/>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6"/>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9" l="0" r="0" t="-9259"/>
            </a:stretch>
          </a:blipFill>
          <a:ln>
            <a:noFill/>
          </a:ln>
        </p:spPr>
      </p:sp>
      <p:sp>
        <p:nvSpPr>
          <p:cNvPr id="283" name="Google Shape;283;p6"/>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284" name="Google Shape;284;p6"/>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285" name="Google Shape;285;p6"/>
          <p:cNvSpPr/>
          <p:nvPr/>
        </p:nvSpPr>
        <p:spPr>
          <a:xfrm>
            <a:off x="16611712" y="97650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6"/>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287" name="Google Shape;287;p6"/>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6"/>
          <p:cNvSpPr/>
          <p:nvPr/>
        </p:nvSpPr>
        <p:spPr>
          <a:xfrm>
            <a:off x="228601" y="125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289" name="Google Shape;289;p6"/>
          <p:cNvSpPr txBox="1"/>
          <p:nvPr/>
        </p:nvSpPr>
        <p:spPr>
          <a:xfrm>
            <a:off x="558165" y="525780"/>
            <a:ext cx="16959580" cy="9341485"/>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4. Batch, Interactive, and Real-time Processes</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Batch Process: Executes tasks sequentially with little or no user input (e.g., large-scale data processing).</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Interactive Process: Responds to user commands (e.g., editing a document).</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Real-time Process: Requires immediate execution; used in critical systems (e.g., air traffic control, medical devices).</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chemeClr val="dk1"/>
              </a:buClr>
              <a:buSzPts val="3000"/>
              <a:buFont typeface="Arial"/>
              <a:buNone/>
            </a:pPr>
            <a:r>
              <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None/>
            </a:pPr>
            <a:r>
              <a:rPr b="1" lang="en-US" sz="3000">
                <a:solidFill>
                  <a:srgbClr val="C1FF72"/>
                </a:solidFill>
                <a:latin typeface="Calibri"/>
                <a:ea typeface="Calibri"/>
                <a:cs typeface="Calibri"/>
                <a:sym typeface="Calibri"/>
              </a:rPr>
              <a:t>5. Inter-process Communication (IPC) Processes</a:t>
            </a:r>
            <a:endParaRPr b="1" sz="3000">
              <a:solidFill>
                <a:srgbClr val="C1FF72"/>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Parent Process: Initiates child processes.</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Child Process: Spawned by a parent process; can operate independently or under supervision.</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Zombie Process: Completed execution but still occupies system resources.</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Orphan Process: Parent process terminates, leaving it running.</a:t>
            </a:r>
            <a:endParaRPr b="1" sz="3000">
              <a:solidFill>
                <a:srgbClr val="FFFFFF"/>
              </a:solidFill>
              <a:latin typeface="Calibri"/>
              <a:ea typeface="Calibri"/>
              <a:cs typeface="Calibri"/>
              <a:sym typeface="Calibri"/>
            </a:endParaRPr>
          </a:p>
          <a:p>
            <a:pPr indent="-266700" lvl="0" marL="457200" marR="0" rtl="0" algn="just">
              <a:lnSpc>
                <a:spcPct val="140000"/>
              </a:lnSpc>
              <a:spcBef>
                <a:spcPts val="0"/>
              </a:spcBef>
              <a:spcAft>
                <a:spcPts val="0"/>
              </a:spcAft>
              <a:buClr>
                <a:schemeClr val="dk1"/>
              </a:buClr>
              <a:buSzPts val="3000"/>
              <a:buFont typeface="Arial"/>
              <a:buNone/>
            </a:pPr>
            <a:r>
              <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6. Multi-threaded vs. Single-threaded Processes</a:t>
            </a:r>
            <a:endParaRPr b="1" sz="3000">
              <a:solidFill>
                <a:srgbClr val="C1FF72"/>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Single-threaded Process: Contains only one thread of execution, handling tasks sequentially.</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Multi-threaded Process: Has multiple threads running concurrently, improving efficiency.</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chemeClr val="dk1"/>
              </a:buClr>
              <a:buSzPts val="3000"/>
              <a:buFont typeface="Arial"/>
              <a:buNone/>
            </a:pPr>
            <a:r>
              <a:t/>
            </a:r>
            <a:endParaRPr b="1" sz="3000">
              <a:solidFill>
                <a:srgbClr val="C1FF72"/>
              </a:solidFill>
              <a:latin typeface="Calibri"/>
              <a:ea typeface="Calibri"/>
              <a:cs typeface="Calibri"/>
              <a:sym typeface="Calibri"/>
            </a:endParaRPr>
          </a:p>
          <a:p>
            <a:pPr indent="0" lvl="0" marL="0" marR="0" rtl="0" algn="just">
              <a:lnSpc>
                <a:spcPct val="140000"/>
              </a:lnSpc>
              <a:spcBef>
                <a:spcPts val="0"/>
              </a:spcBef>
              <a:spcAft>
                <a:spcPts val="0"/>
              </a:spcAft>
              <a:buNone/>
            </a:pPr>
            <a:r>
              <a:t/>
            </a:r>
            <a:endParaRPr b="1" sz="3000">
              <a:solidFill>
                <a:srgbClr val="C1FF7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7"/>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9" l="0" r="0" t="-9259"/>
            </a:stretch>
          </a:blipFill>
          <a:ln>
            <a:noFill/>
          </a:ln>
        </p:spPr>
      </p:sp>
      <p:sp>
        <p:nvSpPr>
          <p:cNvPr id="295" name="Google Shape;295;p7"/>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296" name="Google Shape;296;p7"/>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297" name="Google Shape;297;p7"/>
          <p:cNvSpPr/>
          <p:nvPr/>
        </p:nvSpPr>
        <p:spPr>
          <a:xfrm>
            <a:off x="16611712" y="97650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7"/>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299" name="Google Shape;299;p7"/>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7"/>
          <p:cNvSpPr/>
          <p:nvPr/>
        </p:nvSpPr>
        <p:spPr>
          <a:xfrm>
            <a:off x="228601" y="125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01" name="Google Shape;301;p7"/>
          <p:cNvSpPr txBox="1"/>
          <p:nvPr/>
        </p:nvSpPr>
        <p:spPr>
          <a:xfrm>
            <a:off x="558165" y="572135"/>
            <a:ext cx="16959580" cy="929513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7. Long-lived vs. Short-lived Processes</a:t>
            </a:r>
            <a:endParaRPr b="1" sz="3000">
              <a:solidFill>
                <a:srgbClr val="C1FF72"/>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Long-lived Process: Runs continuously, often system-related (e.g., OS services, network daemons).</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Short-lived Process: Executes briefly and then terminates (e.g., small computation tasks).</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chemeClr val="dk1"/>
              </a:buClr>
              <a:buSzPts val="3000"/>
              <a:buFont typeface="Arial"/>
              <a:buNone/>
            </a:pPr>
            <a:r>
              <a:t/>
            </a:r>
            <a:endParaRPr b="1" sz="3000">
              <a:solidFill>
                <a:srgbClr val="C1FF72"/>
              </a:solidFill>
              <a:latin typeface="Calibri"/>
              <a:ea typeface="Calibri"/>
              <a:cs typeface="Calibri"/>
              <a:sym typeface="Calibri"/>
            </a:endParaRPr>
          </a:p>
          <a:p>
            <a:pPr indent="0" lvl="0" marL="0" marR="0" rtl="0" algn="just">
              <a:lnSpc>
                <a:spcPct val="140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8. Kernel Processes vs. User-space Processes</a:t>
            </a:r>
            <a:endParaRPr b="1" sz="3000">
              <a:solidFill>
                <a:srgbClr val="C1FF72"/>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Kernel Processes: Operate within the OS kernel, managing system operations (e.g., memory management).</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User-space Processes: Run applications outside the kernel, interacting with the system through APIs.</a:t>
            </a:r>
            <a:endParaRPr b="1" sz="3000">
              <a:solidFill>
                <a:srgbClr val="C1FF72"/>
              </a:solidFill>
              <a:latin typeface="Calibri"/>
              <a:ea typeface="Calibri"/>
              <a:cs typeface="Calibri"/>
              <a:sym typeface="Calibri"/>
            </a:endParaRPr>
          </a:p>
          <a:p>
            <a:pPr indent="0" lvl="0" marL="0" marR="0" rtl="0" algn="just">
              <a:lnSpc>
                <a:spcPct val="140000"/>
              </a:lnSpc>
              <a:spcBef>
                <a:spcPts val="0"/>
              </a:spcBef>
              <a:spcAft>
                <a:spcPts val="0"/>
              </a:spcAft>
              <a:buNone/>
            </a:pPr>
            <a:r>
              <a:t/>
            </a:r>
            <a:endParaRPr b="1" sz="3000">
              <a:solidFill>
                <a:srgbClr val="C1FF7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8"/>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9" l="0" r="0" t="-9259"/>
            </a:stretch>
          </a:blipFill>
          <a:ln>
            <a:noFill/>
          </a:ln>
        </p:spPr>
      </p:sp>
      <p:sp>
        <p:nvSpPr>
          <p:cNvPr id="307" name="Google Shape;307;p8"/>
          <p:cNvSpPr txBox="1"/>
          <p:nvPr/>
        </p:nvSpPr>
        <p:spPr>
          <a:xfrm>
            <a:off x="5991225" y="571500"/>
            <a:ext cx="6328410" cy="506730"/>
          </a:xfrm>
          <a:prstGeom prst="rect">
            <a:avLst/>
          </a:prstGeom>
          <a:noFill/>
          <a:ln>
            <a:noFill/>
          </a:ln>
        </p:spPr>
        <p:txBody>
          <a:bodyPr anchorCtr="0" anchor="t" bIns="0" lIns="0" spcFirstLastPara="1" rIns="0" wrap="square" tIns="0">
            <a:noAutofit/>
          </a:bodyPr>
          <a:lstStyle/>
          <a:p>
            <a:pPr indent="0" lvl="0" marL="0" marR="0" rtl="0" algn="l">
              <a:lnSpc>
                <a:spcPct val="54687"/>
              </a:lnSpc>
              <a:spcBef>
                <a:spcPts val="0"/>
              </a:spcBef>
              <a:spcAft>
                <a:spcPts val="0"/>
              </a:spcAft>
              <a:buNone/>
            </a:pPr>
            <a:r>
              <a:rPr b="1" lang="en-US" sz="8000">
                <a:solidFill>
                  <a:srgbClr val="C1FF72"/>
                </a:solidFill>
                <a:latin typeface="Calibri"/>
                <a:ea typeface="Calibri"/>
                <a:cs typeface="Calibri"/>
                <a:sym typeface="Calibri"/>
              </a:rPr>
              <a:t>Process States</a:t>
            </a:r>
            <a:endParaRPr b="1" sz="8000">
              <a:solidFill>
                <a:srgbClr val="C1FF72"/>
              </a:solidFill>
              <a:latin typeface="Calibri"/>
              <a:ea typeface="Calibri"/>
              <a:cs typeface="Calibri"/>
              <a:sym typeface="Calibri"/>
            </a:endParaRPr>
          </a:p>
        </p:txBody>
      </p:sp>
      <p:sp>
        <p:nvSpPr>
          <p:cNvPr id="308" name="Google Shape;308;p8"/>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09" name="Google Shape;309;p8"/>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10" name="Google Shape;310;p8"/>
          <p:cNvSpPr/>
          <p:nvPr/>
        </p:nvSpPr>
        <p:spPr>
          <a:xfrm>
            <a:off x="16611712" y="97650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8"/>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12" name="Google Shape;312;p8"/>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8"/>
          <p:cNvSpPr/>
          <p:nvPr/>
        </p:nvSpPr>
        <p:spPr>
          <a:xfrm>
            <a:off x="228601" y="125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14" name="Google Shape;314;p8"/>
          <p:cNvSpPr txBox="1"/>
          <p:nvPr/>
        </p:nvSpPr>
        <p:spPr>
          <a:xfrm>
            <a:off x="9152255" y="1388745"/>
            <a:ext cx="8580755" cy="847852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FFFFFF"/>
              </a:buClr>
              <a:buSzPts val="3000"/>
              <a:buFont typeface="Arial"/>
              <a:buNone/>
            </a:pPr>
            <a:r>
              <a:rPr b="1" lang="en-US" sz="3000">
                <a:solidFill>
                  <a:srgbClr val="FFFFFF"/>
                </a:solidFill>
                <a:latin typeface="Calibri"/>
                <a:ea typeface="Calibri"/>
                <a:cs typeface="Calibri"/>
                <a:sym typeface="Calibri"/>
              </a:rPr>
              <a:t>A </a:t>
            </a:r>
            <a:r>
              <a:rPr b="1" lang="en-US" sz="3000">
                <a:solidFill>
                  <a:srgbClr val="C1FF72"/>
                </a:solidFill>
                <a:latin typeface="Calibri"/>
                <a:ea typeface="Calibri"/>
                <a:cs typeface="Calibri"/>
                <a:sym typeface="Calibri"/>
              </a:rPr>
              <a:t>process state </a:t>
            </a:r>
            <a:r>
              <a:rPr b="1" lang="en-US" sz="3000">
                <a:solidFill>
                  <a:srgbClr val="FFFFFF"/>
                </a:solidFill>
                <a:latin typeface="Calibri"/>
                <a:ea typeface="Calibri"/>
                <a:cs typeface="Calibri"/>
                <a:sym typeface="Calibri"/>
              </a:rPr>
              <a:t>refers to the current condition of a process as it executes within the operating system. A process moves through various states during its lifecycle. Here are the key process states:</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chemeClr val="dk1"/>
              </a:buClr>
              <a:buSzPts val="3000"/>
              <a:buFont typeface="Arial"/>
              <a:buNone/>
            </a:pPr>
            <a:r>
              <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1. New</a:t>
            </a:r>
            <a:endParaRPr b="1" sz="3000">
              <a:solidFill>
                <a:srgbClr val="C1FF72"/>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The process is being created.</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It has been initialized but has not yet started execution.</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chemeClr val="dk1"/>
              </a:buClr>
              <a:buSzPts val="3000"/>
              <a:buFont typeface="Arial"/>
              <a:buNone/>
            </a:pPr>
            <a:r>
              <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2. Ready</a:t>
            </a:r>
            <a:endParaRPr b="1" sz="3000">
              <a:solidFill>
                <a:srgbClr val="C1FF72"/>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The process is waiting for CPU time.</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It is prepared to run but is waiting for scheduling by the OS.</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chemeClr val="dk1"/>
              </a:buClr>
              <a:buSzPts val="3000"/>
              <a:buFont typeface="Arial"/>
              <a:buNone/>
            </a:pPr>
            <a:r>
              <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None/>
            </a:pPr>
            <a:r>
              <a:t/>
            </a:r>
            <a:endParaRPr b="1" sz="3000">
              <a:solidFill>
                <a:srgbClr val="C1FF72"/>
              </a:solidFill>
              <a:latin typeface="Calibri"/>
              <a:ea typeface="Calibri"/>
              <a:cs typeface="Calibri"/>
              <a:sym typeface="Calibri"/>
            </a:endParaRPr>
          </a:p>
        </p:txBody>
      </p:sp>
      <p:pic>
        <p:nvPicPr>
          <p:cNvPr descr="process-state-diagram" id="315" name="Google Shape;315;p8"/>
          <p:cNvPicPr preferRelativeResize="0"/>
          <p:nvPr/>
        </p:nvPicPr>
        <p:blipFill rotWithShape="1">
          <a:blip r:embed="rId5">
            <a:alphaModFix/>
          </a:blip>
          <a:srcRect b="0" l="0" r="0" t="0"/>
          <a:stretch/>
        </p:blipFill>
        <p:spPr>
          <a:xfrm>
            <a:off x="228600" y="2095500"/>
            <a:ext cx="8506460" cy="603758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9"/>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9" l="0" r="0" t="-9259"/>
            </a:stretch>
          </a:blipFill>
          <a:ln>
            <a:noFill/>
          </a:ln>
        </p:spPr>
      </p:sp>
      <p:sp>
        <p:nvSpPr>
          <p:cNvPr id="321" name="Google Shape;321;p9"/>
          <p:cNvSpPr txBox="1"/>
          <p:nvPr/>
        </p:nvSpPr>
        <p:spPr>
          <a:xfrm>
            <a:off x="5991225" y="571500"/>
            <a:ext cx="6328410" cy="506730"/>
          </a:xfrm>
          <a:prstGeom prst="rect">
            <a:avLst/>
          </a:prstGeom>
          <a:noFill/>
          <a:ln>
            <a:noFill/>
          </a:ln>
        </p:spPr>
        <p:txBody>
          <a:bodyPr anchorCtr="0" anchor="t" bIns="0" lIns="0" spcFirstLastPara="1" rIns="0" wrap="square" tIns="0">
            <a:noAutofit/>
          </a:bodyPr>
          <a:lstStyle/>
          <a:p>
            <a:pPr indent="0" lvl="0" marL="0" marR="0" rtl="0" algn="l">
              <a:lnSpc>
                <a:spcPct val="54687"/>
              </a:lnSpc>
              <a:spcBef>
                <a:spcPts val="0"/>
              </a:spcBef>
              <a:spcAft>
                <a:spcPts val="0"/>
              </a:spcAft>
              <a:buNone/>
            </a:pPr>
            <a:r>
              <a:rPr b="1" lang="en-US" sz="8000">
                <a:solidFill>
                  <a:srgbClr val="C1FF72"/>
                </a:solidFill>
                <a:latin typeface="Calibri"/>
                <a:ea typeface="Calibri"/>
                <a:cs typeface="Calibri"/>
                <a:sym typeface="Calibri"/>
              </a:rPr>
              <a:t>Process States</a:t>
            </a:r>
            <a:endParaRPr b="1" sz="8000">
              <a:solidFill>
                <a:srgbClr val="C1FF72"/>
              </a:solidFill>
              <a:latin typeface="Calibri"/>
              <a:ea typeface="Calibri"/>
              <a:cs typeface="Calibri"/>
              <a:sym typeface="Calibri"/>
            </a:endParaRPr>
          </a:p>
        </p:txBody>
      </p:sp>
      <p:sp>
        <p:nvSpPr>
          <p:cNvPr id="322" name="Google Shape;322;p9"/>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23" name="Google Shape;323;p9"/>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24" name="Google Shape;324;p9"/>
          <p:cNvSpPr/>
          <p:nvPr/>
        </p:nvSpPr>
        <p:spPr>
          <a:xfrm>
            <a:off x="16611712" y="97650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9"/>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26" name="Google Shape;326;p9"/>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9"/>
          <p:cNvSpPr/>
          <p:nvPr/>
        </p:nvSpPr>
        <p:spPr>
          <a:xfrm>
            <a:off x="228601" y="125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28" name="Google Shape;328;p9"/>
          <p:cNvSpPr txBox="1"/>
          <p:nvPr/>
        </p:nvSpPr>
        <p:spPr>
          <a:xfrm>
            <a:off x="602615" y="1388745"/>
            <a:ext cx="17130395" cy="847852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3. Running</a:t>
            </a:r>
            <a:endParaRPr b="1" sz="3000">
              <a:solidFill>
                <a:srgbClr val="C1FF72"/>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The process is actively being executed by the CPU.</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At any time, only one process per processor can be in this state.</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chemeClr val="dk1"/>
              </a:buClr>
              <a:buSzPts val="3000"/>
              <a:buFont typeface="Arial"/>
              <a:buNone/>
            </a:pPr>
            <a:r>
              <a:t/>
            </a:r>
            <a:endParaRPr b="1" sz="3000">
              <a:solidFill>
                <a:srgbClr val="C1FF72"/>
              </a:solidFill>
              <a:latin typeface="Calibri"/>
              <a:ea typeface="Calibri"/>
              <a:cs typeface="Calibri"/>
              <a:sym typeface="Calibri"/>
            </a:endParaRPr>
          </a:p>
          <a:p>
            <a:pPr indent="0" lvl="0" marL="0" marR="0" rtl="0" algn="just">
              <a:lnSpc>
                <a:spcPct val="140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4. Waiting (Blocked)</a:t>
            </a:r>
            <a:endParaRPr b="1" sz="3000">
              <a:solidFill>
                <a:srgbClr val="C1FF72"/>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The process is paused, waiting for an event (e.g., I/O operation, user input).</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It cannot proceed until the required event occurs.</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chemeClr val="dk1"/>
              </a:buClr>
              <a:buSzPts val="3000"/>
              <a:buFont typeface="Arial"/>
              <a:buNone/>
            </a:pPr>
            <a:r>
              <a:t/>
            </a:r>
            <a:endParaRPr b="1" sz="3000">
              <a:solidFill>
                <a:srgbClr val="C1FF72"/>
              </a:solidFill>
              <a:latin typeface="Calibri"/>
              <a:ea typeface="Calibri"/>
              <a:cs typeface="Calibri"/>
              <a:sym typeface="Calibri"/>
            </a:endParaRPr>
          </a:p>
          <a:p>
            <a:pPr indent="0" lvl="0" marL="0" marR="0" rtl="0" algn="just">
              <a:lnSpc>
                <a:spcPct val="140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5. Terminated (Exit)</a:t>
            </a:r>
            <a:endParaRPr b="1" sz="3000">
              <a:solidFill>
                <a:srgbClr val="C1FF72"/>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The process has completed execution or has been forcefully stopped.</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Resources allocated to the process are released.</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Clr>
                <a:schemeClr val="dk1"/>
              </a:buClr>
              <a:buSzPts val="3000"/>
              <a:buFont typeface="Arial"/>
              <a:buNone/>
            </a:pPr>
            <a:r>
              <a:t/>
            </a:r>
            <a:endParaRPr b="1" sz="3000">
              <a:solidFill>
                <a:srgbClr val="C1FF72"/>
              </a:solidFill>
              <a:latin typeface="Calibri"/>
              <a:ea typeface="Calibri"/>
              <a:cs typeface="Calibri"/>
              <a:sym typeface="Calibri"/>
            </a:endParaRPr>
          </a:p>
          <a:p>
            <a:pPr indent="0" lvl="0" marL="0" marR="0" rtl="0" algn="just">
              <a:lnSpc>
                <a:spcPct val="140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6. Suspended States (Optional)</a:t>
            </a:r>
            <a:endParaRPr b="1" sz="3000">
              <a:solidFill>
                <a:srgbClr val="C1FF72"/>
              </a:solidFill>
              <a:latin typeface="Calibri"/>
              <a:ea typeface="Calibri"/>
              <a:cs typeface="Calibri"/>
              <a:sym typeface="Calibri"/>
            </a:endParaRPr>
          </a:p>
          <a:p>
            <a:pPr indent="0" lvl="0" marL="0" marR="0" rtl="0" algn="just">
              <a:lnSpc>
                <a:spcPct val="140000"/>
              </a:lnSpc>
              <a:spcBef>
                <a:spcPts val="0"/>
              </a:spcBef>
              <a:spcAft>
                <a:spcPts val="0"/>
              </a:spcAft>
              <a:buClr>
                <a:srgbClr val="FFFFFF"/>
              </a:buClr>
              <a:buSzPts val="3000"/>
              <a:buFont typeface="Arial"/>
              <a:buNone/>
            </a:pPr>
            <a:r>
              <a:rPr b="1" lang="en-US" sz="3000">
                <a:solidFill>
                  <a:srgbClr val="FFFFFF"/>
                </a:solidFill>
                <a:latin typeface="Calibri"/>
                <a:ea typeface="Calibri"/>
                <a:cs typeface="Calibri"/>
                <a:sym typeface="Calibri"/>
              </a:rPr>
              <a:t>Some operating systems introduce suspended states:</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Suspended-Ready</a:t>
            </a:r>
            <a:r>
              <a:rPr b="1" lang="en-US" sz="3000">
                <a:solidFill>
                  <a:srgbClr val="FFFFFF"/>
                </a:solidFill>
                <a:latin typeface="Calibri"/>
                <a:ea typeface="Calibri"/>
                <a:cs typeface="Calibri"/>
                <a:sym typeface="Calibri"/>
              </a:rPr>
              <a:t>: The process is in secondary memory, waiting to be moved back to the ready queue.</a:t>
            </a:r>
            <a:endParaRPr b="1" sz="3000">
              <a:solidFill>
                <a:srgbClr val="FFFFFF"/>
              </a:solidFill>
              <a:latin typeface="Calibri"/>
              <a:ea typeface="Calibri"/>
              <a:cs typeface="Calibri"/>
              <a:sym typeface="Calibri"/>
            </a:endParaRPr>
          </a:p>
          <a:p>
            <a:pPr indent="-457200" lvl="0" marL="457200" marR="0" rtl="0" algn="just">
              <a:lnSpc>
                <a:spcPct val="140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Suspended-Blocked</a:t>
            </a:r>
            <a:r>
              <a:rPr b="1" lang="en-US" sz="3000">
                <a:solidFill>
                  <a:srgbClr val="FFFFFF"/>
                </a:solidFill>
                <a:latin typeface="Calibri"/>
                <a:ea typeface="Calibri"/>
                <a:cs typeface="Calibri"/>
                <a:sym typeface="Calibri"/>
              </a:rPr>
              <a:t>: The process is paused and placed in secondary memory, waiting for an event.</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None/>
            </a:pPr>
            <a:r>
              <a:t/>
            </a:r>
            <a:endParaRPr b="1" sz="3000">
              <a:solidFill>
                <a:srgbClr val="C1FF72"/>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0"/>
          <p:cNvSpPr/>
          <p:nvPr/>
        </p:nvSpPr>
        <p:spPr>
          <a:xfrm>
            <a:off x="0" y="11430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334" name="Google Shape;334;p10"/>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35" name="Google Shape;335;p10"/>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36" name="Google Shape;336;p10"/>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37" name="Google Shape;337;p10"/>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338" name="Google Shape;338;p10"/>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339" name="Google Shape;339;p10"/>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40" name="Google Shape;340;p10"/>
          <p:cNvSpPr txBox="1"/>
          <p:nvPr/>
        </p:nvSpPr>
        <p:spPr>
          <a:xfrm>
            <a:off x="533400" y="617220"/>
            <a:ext cx="17063085" cy="110553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You can verify the state of a process in Linux using various commands. Here are some common methods:</a:t>
            </a:r>
            <a:endParaRPr b="1" sz="3000">
              <a:solidFill>
                <a:srgbClr val="C1FF72"/>
              </a:solidFill>
              <a:latin typeface="Calibri"/>
              <a:ea typeface="Calibri"/>
              <a:cs typeface="Calibri"/>
              <a:sym typeface="Calibri"/>
            </a:endParaRPr>
          </a:p>
          <a:p>
            <a:pPr indent="0" lvl="0" marL="0" marR="0" rtl="0" algn="l">
              <a:lnSpc>
                <a:spcPct val="133000"/>
              </a:lnSpc>
              <a:spcBef>
                <a:spcPts val="0"/>
              </a:spcBef>
              <a:spcAft>
                <a:spcPts val="0"/>
              </a:spcAft>
              <a:buNone/>
            </a:pPr>
            <a:r>
              <a:t/>
            </a:r>
            <a:endParaRPr b="1" sz="3000">
              <a:solidFill>
                <a:srgbClr val="C1FF72"/>
              </a:solidFill>
              <a:latin typeface="Calibri"/>
              <a:ea typeface="Calibri"/>
              <a:cs typeface="Calibri"/>
              <a:sym typeface="Calibri"/>
            </a:endParaRPr>
          </a:p>
        </p:txBody>
      </p:sp>
      <p:sp>
        <p:nvSpPr>
          <p:cNvPr id="341" name="Google Shape;341;p10"/>
          <p:cNvSpPr txBox="1"/>
          <p:nvPr/>
        </p:nvSpPr>
        <p:spPr>
          <a:xfrm>
            <a:off x="457200" y="1366520"/>
            <a:ext cx="8180705" cy="840232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None/>
            </a:pPr>
            <a:r>
              <a:rPr b="1" lang="en-US" sz="3000">
                <a:solidFill>
                  <a:schemeClr val="lt1"/>
                </a:solidFill>
                <a:latin typeface="Calibri"/>
                <a:ea typeface="Calibri"/>
                <a:cs typeface="Calibri"/>
                <a:sym typeface="Calibri"/>
              </a:rPr>
              <a:t>1. Using the </a:t>
            </a:r>
            <a:r>
              <a:rPr b="1" lang="en-US" sz="3000">
                <a:solidFill>
                  <a:srgbClr val="C1FF72"/>
                </a:solidFill>
                <a:latin typeface="Calibri"/>
                <a:ea typeface="Calibri"/>
                <a:cs typeface="Calibri"/>
                <a:sym typeface="Calibri"/>
              </a:rPr>
              <a:t>ps </a:t>
            </a:r>
            <a:r>
              <a:rPr b="1" lang="en-US" sz="3000">
                <a:solidFill>
                  <a:schemeClr val="lt1"/>
                </a:solidFill>
                <a:latin typeface="Calibri"/>
                <a:ea typeface="Calibri"/>
                <a:cs typeface="Calibri"/>
                <a:sym typeface="Calibri"/>
              </a:rPr>
              <a:t>Command</a:t>
            </a:r>
            <a:endParaRPr b="1" sz="3000">
              <a:solidFill>
                <a:schemeClr val="lt1"/>
              </a:solidFill>
              <a:latin typeface="Calibri"/>
              <a:ea typeface="Calibri"/>
              <a:cs typeface="Calibri"/>
              <a:sym typeface="Calibri"/>
            </a:endParaRPr>
          </a:p>
          <a:p>
            <a:pPr indent="0" lvl="0" marL="0" marR="0" rtl="0" algn="l">
              <a:lnSpc>
                <a:spcPct val="133000"/>
              </a:lnSpc>
              <a:spcBef>
                <a:spcPts val="0"/>
              </a:spcBef>
              <a:spcAft>
                <a:spcPts val="0"/>
              </a:spcAft>
              <a:buNone/>
            </a:pPr>
            <a:r>
              <a:rPr b="1" lang="en-US" sz="3000">
                <a:solidFill>
                  <a:schemeClr val="lt1"/>
                </a:solidFill>
                <a:latin typeface="Calibri"/>
                <a:ea typeface="Calibri"/>
                <a:cs typeface="Calibri"/>
                <a:sym typeface="Calibri"/>
              </a:rPr>
              <a:t>The ps command displays information about active processes. </a:t>
            </a:r>
            <a:endParaRPr b="1" sz="3000">
              <a:solidFill>
                <a:schemeClr val="lt1"/>
              </a:solidFill>
              <a:latin typeface="Calibri"/>
              <a:ea typeface="Calibri"/>
              <a:cs typeface="Calibri"/>
              <a:sym typeface="Calibri"/>
            </a:endParaRPr>
          </a:p>
          <a:p>
            <a:pPr indent="0" lvl="0" marL="0" marR="0" rtl="0" algn="l">
              <a:lnSpc>
                <a:spcPct val="133000"/>
              </a:lnSpc>
              <a:spcBef>
                <a:spcPts val="0"/>
              </a:spcBef>
              <a:spcAft>
                <a:spcPts val="0"/>
              </a:spcAft>
              <a:buNone/>
            </a:pPr>
            <a:r>
              <a:rPr b="1" lang="en-US" sz="3000">
                <a:solidFill>
                  <a:schemeClr val="lt1"/>
                </a:solidFill>
                <a:latin typeface="Calibri"/>
                <a:ea typeface="Calibri"/>
                <a:cs typeface="Calibri"/>
                <a:sym typeface="Calibri"/>
              </a:rPr>
              <a:t>To check the state of a process:</a:t>
            </a:r>
            <a:endParaRPr b="1" sz="3000">
              <a:solidFill>
                <a:schemeClr val="lt1"/>
              </a:solidFill>
              <a:latin typeface="Calibri"/>
              <a:ea typeface="Calibri"/>
              <a:cs typeface="Calibri"/>
              <a:sym typeface="Calibri"/>
            </a:endParaRPr>
          </a:p>
          <a:p>
            <a:pPr indent="0" lvl="0" marL="0" marR="0" rtl="0" algn="l">
              <a:lnSpc>
                <a:spcPct val="133000"/>
              </a:lnSpc>
              <a:spcBef>
                <a:spcPts val="0"/>
              </a:spcBef>
              <a:spcAft>
                <a:spcPts val="0"/>
              </a:spcAft>
              <a:buNone/>
            </a:pPr>
            <a:r>
              <a:rPr b="1" lang="en-US" sz="3000">
                <a:solidFill>
                  <a:srgbClr val="E5B8B7"/>
                </a:solidFill>
                <a:latin typeface="Calibri"/>
                <a:ea typeface="Calibri"/>
                <a:cs typeface="Calibri"/>
                <a:sym typeface="Calibri"/>
              </a:rPr>
              <a:t>$ps aux | grep &lt;process_name&gt;</a:t>
            </a:r>
            <a:endParaRPr b="1" sz="3000">
              <a:solidFill>
                <a:srgbClr val="E5B8B7"/>
              </a:solidFill>
              <a:latin typeface="Calibri"/>
              <a:ea typeface="Calibri"/>
              <a:cs typeface="Calibri"/>
              <a:sym typeface="Calibri"/>
            </a:endParaRPr>
          </a:p>
          <a:p>
            <a:pPr indent="0" lvl="0" marL="0" marR="0" rtl="0" algn="l">
              <a:lnSpc>
                <a:spcPct val="133000"/>
              </a:lnSpc>
              <a:spcBef>
                <a:spcPts val="0"/>
              </a:spcBef>
              <a:spcAft>
                <a:spcPts val="0"/>
              </a:spcAft>
              <a:buNone/>
            </a:pPr>
            <a:r>
              <a:t/>
            </a:r>
            <a:endParaRPr b="1" sz="3000">
              <a:solidFill>
                <a:srgbClr val="C1FF72"/>
              </a:solidFill>
              <a:latin typeface="Calibri"/>
              <a:ea typeface="Calibri"/>
              <a:cs typeface="Calibri"/>
              <a:sym typeface="Calibri"/>
            </a:endParaRPr>
          </a:p>
          <a:p>
            <a:pPr indent="0" lvl="0" marL="0" marR="0" rtl="0" algn="l">
              <a:lnSpc>
                <a:spcPct val="133000"/>
              </a:lnSpc>
              <a:spcBef>
                <a:spcPts val="0"/>
              </a:spcBef>
              <a:spcAft>
                <a:spcPts val="0"/>
              </a:spcAft>
              <a:buNone/>
            </a:pPr>
            <a:r>
              <a:rPr b="1" lang="en-US" sz="3000">
                <a:solidFill>
                  <a:schemeClr val="lt1"/>
                </a:solidFill>
                <a:latin typeface="Calibri"/>
                <a:ea typeface="Calibri"/>
                <a:cs typeface="Calibri"/>
                <a:sym typeface="Calibri"/>
              </a:rPr>
              <a:t>2. Using the </a:t>
            </a:r>
            <a:r>
              <a:rPr b="1" lang="en-US" sz="3000">
                <a:solidFill>
                  <a:srgbClr val="C1FF72"/>
                </a:solidFill>
                <a:latin typeface="Calibri"/>
                <a:ea typeface="Calibri"/>
                <a:cs typeface="Calibri"/>
                <a:sym typeface="Calibri"/>
              </a:rPr>
              <a:t>top </a:t>
            </a:r>
            <a:r>
              <a:rPr b="1" lang="en-US" sz="3000">
                <a:solidFill>
                  <a:schemeClr val="lt1"/>
                </a:solidFill>
                <a:latin typeface="Calibri"/>
                <a:ea typeface="Calibri"/>
                <a:cs typeface="Calibri"/>
                <a:sym typeface="Calibri"/>
              </a:rPr>
              <a:t>Command</a:t>
            </a:r>
            <a:endParaRPr b="1" sz="3000">
              <a:solidFill>
                <a:schemeClr val="lt1"/>
              </a:solidFill>
              <a:latin typeface="Calibri"/>
              <a:ea typeface="Calibri"/>
              <a:cs typeface="Calibri"/>
              <a:sym typeface="Calibri"/>
            </a:endParaRPr>
          </a:p>
          <a:p>
            <a:pPr indent="0" lvl="0" marL="0" marR="0" rtl="0" algn="l">
              <a:lnSpc>
                <a:spcPct val="133000"/>
              </a:lnSpc>
              <a:spcBef>
                <a:spcPts val="0"/>
              </a:spcBef>
              <a:spcAft>
                <a:spcPts val="0"/>
              </a:spcAft>
              <a:buNone/>
            </a:pPr>
            <a:r>
              <a:rPr b="1" lang="en-US" sz="3000">
                <a:solidFill>
                  <a:srgbClr val="E5B8B7"/>
                </a:solidFill>
                <a:latin typeface="Calibri"/>
                <a:ea typeface="Calibri"/>
                <a:cs typeface="Calibri"/>
                <a:sym typeface="Calibri"/>
              </a:rPr>
              <a:t>$top</a:t>
            </a:r>
            <a:endParaRPr b="1" sz="3000">
              <a:solidFill>
                <a:srgbClr val="E5B8B7"/>
              </a:solidFill>
              <a:latin typeface="Calibri"/>
              <a:ea typeface="Calibri"/>
              <a:cs typeface="Calibri"/>
              <a:sym typeface="Calibri"/>
            </a:endParaRPr>
          </a:p>
          <a:p>
            <a:pPr indent="0" lvl="0" marL="0" marR="0" rtl="0" algn="l">
              <a:lnSpc>
                <a:spcPct val="133000"/>
              </a:lnSpc>
              <a:spcBef>
                <a:spcPts val="0"/>
              </a:spcBef>
              <a:spcAft>
                <a:spcPts val="0"/>
              </a:spcAft>
              <a:buNone/>
            </a:pPr>
            <a:r>
              <a:t/>
            </a:r>
            <a:endParaRPr b="1" sz="3000">
              <a:solidFill>
                <a:srgbClr val="E5B8B7"/>
              </a:solidFill>
              <a:latin typeface="Calibri"/>
              <a:ea typeface="Calibri"/>
              <a:cs typeface="Calibri"/>
              <a:sym typeface="Calibri"/>
            </a:endParaRPr>
          </a:p>
        </p:txBody>
      </p:sp>
      <p:pic>
        <p:nvPicPr>
          <p:cNvPr id="342" name="Google Shape;342;p10"/>
          <p:cNvPicPr preferRelativeResize="0"/>
          <p:nvPr/>
        </p:nvPicPr>
        <p:blipFill rotWithShape="1">
          <a:blip r:embed="rId5">
            <a:alphaModFix/>
          </a:blip>
          <a:srcRect b="0" l="0" r="0" t="0"/>
          <a:stretch/>
        </p:blipFill>
        <p:spPr>
          <a:xfrm>
            <a:off x="8763000" y="1722755"/>
            <a:ext cx="8949055" cy="1567815"/>
          </a:xfrm>
          <a:prstGeom prst="rect">
            <a:avLst/>
          </a:prstGeom>
          <a:noFill/>
          <a:ln>
            <a:noFill/>
          </a:ln>
        </p:spPr>
      </p:pic>
      <p:pic>
        <p:nvPicPr>
          <p:cNvPr id="343" name="Google Shape;343;p10"/>
          <p:cNvPicPr preferRelativeResize="0"/>
          <p:nvPr/>
        </p:nvPicPr>
        <p:blipFill rotWithShape="1">
          <a:blip r:embed="rId6">
            <a:alphaModFix/>
          </a:blip>
          <a:srcRect b="0" l="0" r="0" t="0"/>
          <a:stretch/>
        </p:blipFill>
        <p:spPr>
          <a:xfrm>
            <a:off x="8839200" y="4762500"/>
            <a:ext cx="8919210" cy="388683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349" name="Google Shape;349;p11"/>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50" name="Google Shape;350;p11"/>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51" name="Google Shape;351;p11"/>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52" name="Google Shape;352;p11"/>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353" name="Google Shape;353;p11"/>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354" name="Google Shape;354;p11"/>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55" name="Google Shape;355;p11"/>
          <p:cNvSpPr txBox="1"/>
          <p:nvPr/>
        </p:nvSpPr>
        <p:spPr>
          <a:xfrm>
            <a:off x="547370" y="647700"/>
            <a:ext cx="8246110" cy="5401310"/>
          </a:xfrm>
          <a:prstGeom prst="rect">
            <a:avLst/>
          </a:prstGeom>
          <a:noFill/>
          <a:ln>
            <a:noFill/>
          </a:ln>
        </p:spPr>
        <p:txBody>
          <a:bodyPr anchorCtr="0" anchor="t" bIns="0" lIns="0" spcFirstLastPara="1" rIns="0" wrap="square" tIns="0">
            <a:spAutoFit/>
          </a:bodyPr>
          <a:lstStyle/>
          <a:p>
            <a:pPr indent="0" lvl="0" marL="0" marR="0" rtl="0" algn="just">
              <a:lnSpc>
                <a:spcPct val="116999"/>
              </a:lnSpc>
              <a:spcBef>
                <a:spcPts val="0"/>
              </a:spcBef>
              <a:spcAft>
                <a:spcPts val="0"/>
              </a:spcAft>
              <a:buClr>
                <a:srgbClr val="FFFFFF"/>
              </a:buClr>
              <a:buSzPts val="3000"/>
              <a:buFont typeface="Calibri"/>
              <a:buNone/>
            </a:pPr>
            <a:r>
              <a:rPr b="1" lang="en-US" sz="3000">
                <a:solidFill>
                  <a:srgbClr val="FFFFFF"/>
                </a:solidFill>
                <a:latin typeface="Calibri"/>
                <a:ea typeface="Calibri"/>
                <a:cs typeface="Calibri"/>
                <a:sym typeface="Calibri"/>
              </a:rPr>
              <a:t>3. Checking /proc Filesystem</a:t>
            </a:r>
            <a:endParaRPr b="1" sz="3000">
              <a:solidFill>
                <a:srgbClr val="FFFFFF"/>
              </a:solidFill>
              <a:latin typeface="Calibri"/>
              <a:ea typeface="Calibri"/>
              <a:cs typeface="Calibri"/>
              <a:sym typeface="Calibri"/>
            </a:endParaRPr>
          </a:p>
          <a:p>
            <a:pPr indent="0" lvl="0" marL="0" marR="0" rtl="0" algn="just">
              <a:lnSpc>
                <a:spcPct val="116999"/>
              </a:lnSpc>
              <a:spcBef>
                <a:spcPts val="0"/>
              </a:spcBef>
              <a:spcAft>
                <a:spcPts val="0"/>
              </a:spcAft>
              <a:buClr>
                <a:srgbClr val="FFFFFF"/>
              </a:buClr>
              <a:buSzPts val="3000"/>
              <a:buFont typeface="Calibri"/>
              <a:buNone/>
            </a:pPr>
            <a:r>
              <a:rPr b="1" lang="en-US" sz="3000">
                <a:solidFill>
                  <a:srgbClr val="FFFFFF"/>
                </a:solidFill>
                <a:latin typeface="Calibri"/>
                <a:ea typeface="Calibri"/>
                <a:cs typeface="Calibri"/>
                <a:sym typeface="Calibri"/>
              </a:rPr>
              <a:t>Each process has a directory under /proc with its PID. You can check its status:</a:t>
            </a:r>
            <a:endParaRPr b="1" sz="3000">
              <a:solidFill>
                <a:srgbClr val="FFFFFF"/>
              </a:solidFill>
              <a:latin typeface="Calibri"/>
              <a:ea typeface="Calibri"/>
              <a:cs typeface="Calibri"/>
              <a:sym typeface="Calibri"/>
            </a:endParaRPr>
          </a:p>
          <a:p>
            <a:pPr indent="0" lvl="0" marL="0" marR="0" rtl="0" algn="just">
              <a:lnSpc>
                <a:spcPct val="116999"/>
              </a:lnSpc>
              <a:spcBef>
                <a:spcPts val="0"/>
              </a:spcBef>
              <a:spcAft>
                <a:spcPts val="0"/>
              </a:spcAft>
              <a:buClr>
                <a:schemeClr val="dk1"/>
              </a:buClr>
              <a:buSzPts val="3000"/>
              <a:buFont typeface="Calibri"/>
              <a:buNone/>
            </a:pPr>
            <a:r>
              <a:t/>
            </a:r>
            <a:endParaRPr b="1" sz="3000">
              <a:solidFill>
                <a:srgbClr val="FFFFFF"/>
              </a:solidFill>
              <a:latin typeface="Calibri"/>
              <a:ea typeface="Calibri"/>
              <a:cs typeface="Calibri"/>
              <a:sym typeface="Calibri"/>
            </a:endParaRPr>
          </a:p>
          <a:p>
            <a:pPr indent="0" lvl="0" marL="0" marR="0" rtl="0" algn="just">
              <a:lnSpc>
                <a:spcPct val="116999"/>
              </a:lnSpc>
              <a:spcBef>
                <a:spcPts val="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$cat /proc/&lt;PID&gt;/status | grep State</a:t>
            </a:r>
            <a:endParaRPr b="1" sz="3000">
              <a:solidFill>
                <a:srgbClr val="E5B8B7"/>
              </a:solidFill>
              <a:latin typeface="Calibri"/>
              <a:ea typeface="Calibri"/>
              <a:cs typeface="Calibri"/>
              <a:sym typeface="Calibri"/>
            </a:endParaRPr>
          </a:p>
          <a:p>
            <a:pPr indent="0" lvl="0" marL="0" marR="0" rtl="0" algn="just">
              <a:lnSpc>
                <a:spcPct val="116999"/>
              </a:lnSpc>
              <a:spcBef>
                <a:spcPts val="0"/>
              </a:spcBef>
              <a:spcAft>
                <a:spcPts val="0"/>
              </a:spcAft>
              <a:buClr>
                <a:schemeClr val="dk1"/>
              </a:buClr>
              <a:buSzPts val="3000"/>
              <a:buFont typeface="Calibri"/>
              <a:buNone/>
            </a:pPr>
            <a:r>
              <a:t/>
            </a:r>
            <a:endParaRPr b="1" sz="3000">
              <a:solidFill>
                <a:srgbClr val="E5B8B7"/>
              </a:solidFill>
              <a:latin typeface="Calibri"/>
              <a:ea typeface="Calibri"/>
              <a:cs typeface="Calibri"/>
              <a:sym typeface="Calibri"/>
            </a:endParaRPr>
          </a:p>
          <a:p>
            <a:pPr indent="0" lvl="0" marL="0" marR="0" rtl="0" algn="just">
              <a:lnSpc>
                <a:spcPct val="116999"/>
              </a:lnSpc>
              <a:spcBef>
                <a:spcPts val="0"/>
              </a:spcBef>
              <a:spcAft>
                <a:spcPts val="0"/>
              </a:spcAft>
              <a:buClr>
                <a:schemeClr val="dk1"/>
              </a:buClr>
              <a:buSzPts val="3000"/>
              <a:buFont typeface="Calibri"/>
              <a:buNone/>
            </a:pPr>
            <a:r>
              <a:t/>
            </a:r>
            <a:endParaRPr b="1" sz="3000">
              <a:solidFill>
                <a:srgbClr val="E5B8B7"/>
              </a:solidFill>
              <a:latin typeface="Calibri"/>
              <a:ea typeface="Calibri"/>
              <a:cs typeface="Calibri"/>
              <a:sym typeface="Calibri"/>
            </a:endParaRPr>
          </a:p>
          <a:p>
            <a:pPr indent="0" lvl="0" marL="0" marR="0" rtl="0" algn="just">
              <a:lnSpc>
                <a:spcPct val="116999"/>
              </a:lnSpc>
              <a:spcBef>
                <a:spcPts val="0"/>
              </a:spcBef>
              <a:spcAft>
                <a:spcPts val="0"/>
              </a:spcAft>
              <a:buClr>
                <a:srgbClr val="FFFFFF"/>
              </a:buClr>
              <a:buSzPts val="3000"/>
              <a:buFont typeface="Calibri"/>
              <a:buNone/>
            </a:pPr>
            <a:r>
              <a:rPr b="1" lang="en-US" sz="3000">
                <a:solidFill>
                  <a:srgbClr val="FFFFFF"/>
                </a:solidFill>
                <a:latin typeface="Calibri"/>
                <a:ea typeface="Calibri"/>
                <a:cs typeface="Calibri"/>
                <a:sym typeface="Calibri"/>
              </a:rPr>
              <a:t>4. Terminate the process</a:t>
            </a:r>
            <a:endParaRPr b="1" sz="3000">
              <a:solidFill>
                <a:srgbClr val="FFFFFF"/>
              </a:solidFill>
              <a:latin typeface="Calibri"/>
              <a:ea typeface="Calibri"/>
              <a:cs typeface="Calibri"/>
              <a:sym typeface="Calibri"/>
            </a:endParaRPr>
          </a:p>
          <a:p>
            <a:pPr indent="0" lvl="0" marL="0" marR="0" rtl="0" algn="just">
              <a:lnSpc>
                <a:spcPct val="116999"/>
              </a:lnSpc>
              <a:spcBef>
                <a:spcPts val="0"/>
              </a:spcBef>
              <a:spcAft>
                <a:spcPts val="0"/>
              </a:spcAft>
              <a:buClr>
                <a:srgbClr val="FFFFFF"/>
              </a:buClr>
              <a:buSzPts val="3000"/>
              <a:buFont typeface="Calibri"/>
              <a:buNone/>
            </a:pPr>
            <a:r>
              <a:rPr b="1" lang="en-US" sz="3000">
                <a:solidFill>
                  <a:srgbClr val="FFFFFF"/>
                </a:solidFill>
                <a:latin typeface="Calibri"/>
                <a:ea typeface="Calibri"/>
                <a:cs typeface="Calibri"/>
                <a:sym typeface="Calibri"/>
              </a:rPr>
              <a:t>The process can be terminated by using the kill command.</a:t>
            </a:r>
            <a:endParaRPr b="1" sz="3000">
              <a:solidFill>
                <a:srgbClr val="FFFFFF"/>
              </a:solidFill>
              <a:latin typeface="Calibri"/>
              <a:ea typeface="Calibri"/>
              <a:cs typeface="Calibri"/>
              <a:sym typeface="Calibri"/>
            </a:endParaRPr>
          </a:p>
          <a:p>
            <a:pPr indent="0" lvl="0" marL="0" marR="0" rtl="0" algn="just">
              <a:lnSpc>
                <a:spcPct val="116999"/>
              </a:lnSpc>
              <a:spcBef>
                <a:spcPts val="0"/>
              </a:spcBef>
              <a:spcAft>
                <a:spcPts val="0"/>
              </a:spcAft>
              <a:buClr>
                <a:schemeClr val="dk1"/>
              </a:buClr>
              <a:buSzPts val="3000"/>
              <a:buFont typeface="Calibri"/>
              <a:buNone/>
            </a:pPr>
            <a:r>
              <a:t/>
            </a:r>
            <a:endParaRPr b="1" sz="3000">
              <a:solidFill>
                <a:srgbClr val="FFFFFF"/>
              </a:solidFill>
              <a:latin typeface="Calibri"/>
              <a:ea typeface="Calibri"/>
              <a:cs typeface="Calibri"/>
              <a:sym typeface="Calibri"/>
            </a:endParaRPr>
          </a:p>
          <a:p>
            <a:pPr indent="0" lvl="0" marL="0" marR="0" rtl="0" algn="just">
              <a:lnSpc>
                <a:spcPct val="116999"/>
              </a:lnSpc>
              <a:spcBef>
                <a:spcPts val="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$kill -9 &lt;PID&gt;</a:t>
            </a:r>
            <a:endParaRPr b="1" sz="3000">
              <a:solidFill>
                <a:srgbClr val="E5B8B7"/>
              </a:solidFill>
              <a:latin typeface="Calibri"/>
              <a:ea typeface="Calibri"/>
              <a:cs typeface="Calibri"/>
              <a:sym typeface="Calibri"/>
            </a:endParaRPr>
          </a:p>
        </p:txBody>
      </p:sp>
      <p:pic>
        <p:nvPicPr>
          <p:cNvPr id="356" name="Google Shape;356;p11"/>
          <p:cNvPicPr preferRelativeResize="0"/>
          <p:nvPr/>
        </p:nvPicPr>
        <p:blipFill rotWithShape="1">
          <a:blip r:embed="rId5">
            <a:alphaModFix/>
          </a:blip>
          <a:srcRect b="0" l="0" r="0" t="0"/>
          <a:stretch/>
        </p:blipFill>
        <p:spPr>
          <a:xfrm>
            <a:off x="9773920" y="414655"/>
            <a:ext cx="7821930" cy="941959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362" name="Google Shape;362;p12"/>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63" name="Google Shape;363;p12"/>
          <p:cNvSpPr txBox="1"/>
          <p:nvPr/>
        </p:nvSpPr>
        <p:spPr>
          <a:xfrm>
            <a:off x="3352800" y="342900"/>
            <a:ext cx="11379200" cy="179514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Process Control Block (PCB)</a:t>
            </a:r>
            <a:endParaRPr b="1" sz="8000" u="none" strike="noStrike">
              <a:solidFill>
                <a:srgbClr val="C1FF72"/>
              </a:solidFill>
              <a:latin typeface="Calibri"/>
              <a:ea typeface="Calibri"/>
              <a:cs typeface="Calibri"/>
              <a:sym typeface="Calibri"/>
            </a:endParaRPr>
          </a:p>
        </p:txBody>
      </p:sp>
      <p:sp>
        <p:nvSpPr>
          <p:cNvPr id="364" name="Google Shape;364;p12"/>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65" name="Google Shape;365;p12"/>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66" name="Google Shape;366;p12"/>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367" name="Google Shape;367;p12"/>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368" name="Google Shape;368;p12"/>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69" name="Google Shape;369;p12"/>
          <p:cNvSpPr txBox="1"/>
          <p:nvPr/>
        </p:nvSpPr>
        <p:spPr>
          <a:xfrm>
            <a:off x="381000" y="2476500"/>
            <a:ext cx="17265650" cy="3086735"/>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chemeClr val="lt1"/>
                </a:solidFill>
                <a:latin typeface="Calibri"/>
                <a:ea typeface="Calibri"/>
                <a:cs typeface="Calibri"/>
                <a:sym typeface="Calibri"/>
              </a:rPr>
              <a:t>A </a:t>
            </a:r>
            <a:r>
              <a:rPr b="1" lang="en-US" sz="3000">
                <a:solidFill>
                  <a:srgbClr val="C1FF72"/>
                </a:solidFill>
                <a:latin typeface="Calibri"/>
                <a:ea typeface="Calibri"/>
                <a:cs typeface="Calibri"/>
                <a:sym typeface="Calibri"/>
              </a:rPr>
              <a:t>Process Control Block (PCB)</a:t>
            </a:r>
            <a:r>
              <a:rPr b="1" lang="en-US" sz="3000">
                <a:solidFill>
                  <a:schemeClr val="lt1"/>
                </a:solidFill>
                <a:latin typeface="Calibri"/>
                <a:ea typeface="Calibri"/>
                <a:cs typeface="Calibri"/>
                <a:sym typeface="Calibri"/>
              </a:rPr>
              <a:t> is a data structure that is used by an Operating System to manage and regulate how processes are carried out. In operating systems, managing the process and scheduling them properly play the most significant role in the efficient usage of memory and other system resources. In the </a:t>
            </a:r>
            <a:r>
              <a:rPr b="1" lang="en-US" sz="3000">
                <a:solidFill>
                  <a:srgbClr val="C1FF72"/>
                </a:solidFill>
                <a:latin typeface="Calibri"/>
                <a:ea typeface="Calibri"/>
                <a:cs typeface="Calibri"/>
                <a:sym typeface="Calibri"/>
              </a:rPr>
              <a:t>process control block</a:t>
            </a:r>
            <a:r>
              <a:rPr b="1" lang="en-US" sz="3000">
                <a:solidFill>
                  <a:schemeClr val="lt1"/>
                </a:solidFill>
                <a:latin typeface="Calibri"/>
                <a:ea typeface="Calibri"/>
                <a:cs typeface="Calibri"/>
                <a:sym typeface="Calibri"/>
              </a:rPr>
              <a:t>, all the details regarding the process corresponding to it like its </a:t>
            </a:r>
            <a:r>
              <a:rPr b="1" lang="en-US" sz="3000">
                <a:solidFill>
                  <a:srgbClr val="C1FF72"/>
                </a:solidFill>
                <a:latin typeface="Calibri"/>
                <a:ea typeface="Calibri"/>
                <a:cs typeface="Calibri"/>
                <a:sym typeface="Calibri"/>
              </a:rPr>
              <a:t>current status</a:t>
            </a:r>
            <a:r>
              <a:rPr b="1" lang="en-US" sz="3000">
                <a:solidFill>
                  <a:schemeClr val="lt1"/>
                </a:solidFill>
                <a:latin typeface="Calibri"/>
                <a:ea typeface="Calibri"/>
                <a:cs typeface="Calibri"/>
                <a:sym typeface="Calibri"/>
              </a:rPr>
              <a:t>, its </a:t>
            </a:r>
            <a:r>
              <a:rPr b="1" lang="en-US" sz="3000">
                <a:solidFill>
                  <a:srgbClr val="C1FF72"/>
                </a:solidFill>
                <a:latin typeface="Calibri"/>
                <a:ea typeface="Calibri"/>
                <a:cs typeface="Calibri"/>
                <a:sym typeface="Calibri"/>
              </a:rPr>
              <a:t>program counter</a:t>
            </a:r>
            <a:r>
              <a:rPr b="1" lang="en-US" sz="3000">
                <a:solidFill>
                  <a:schemeClr val="lt1"/>
                </a:solidFill>
                <a:latin typeface="Calibri"/>
                <a:ea typeface="Calibri"/>
                <a:cs typeface="Calibri"/>
                <a:sym typeface="Calibri"/>
              </a:rPr>
              <a:t>, its </a:t>
            </a:r>
            <a:r>
              <a:rPr b="1" lang="en-US" sz="3000">
                <a:solidFill>
                  <a:srgbClr val="C1FF72"/>
                </a:solidFill>
                <a:latin typeface="Calibri"/>
                <a:ea typeface="Calibri"/>
                <a:cs typeface="Calibri"/>
                <a:sym typeface="Calibri"/>
              </a:rPr>
              <a:t>memory use</a:t>
            </a:r>
            <a:r>
              <a:rPr b="1" lang="en-US" sz="3000">
                <a:solidFill>
                  <a:schemeClr val="lt1"/>
                </a:solidFill>
                <a:latin typeface="Calibri"/>
                <a:ea typeface="Calibri"/>
                <a:cs typeface="Calibri"/>
                <a:sym typeface="Calibri"/>
              </a:rPr>
              <a:t>, its </a:t>
            </a:r>
            <a:r>
              <a:rPr b="1" lang="en-US" sz="3000">
                <a:solidFill>
                  <a:srgbClr val="C1FF72"/>
                </a:solidFill>
                <a:latin typeface="Calibri"/>
                <a:ea typeface="Calibri"/>
                <a:cs typeface="Calibri"/>
                <a:sym typeface="Calibri"/>
              </a:rPr>
              <a:t>open files</a:t>
            </a:r>
            <a:r>
              <a:rPr b="1" lang="en-US" sz="3000">
                <a:solidFill>
                  <a:schemeClr val="lt1"/>
                </a:solidFill>
                <a:latin typeface="Calibri"/>
                <a:ea typeface="Calibri"/>
                <a:cs typeface="Calibri"/>
                <a:sym typeface="Calibri"/>
              </a:rPr>
              <a:t>, and details about </a:t>
            </a:r>
            <a:r>
              <a:rPr b="1" lang="en-US" sz="3000">
                <a:solidFill>
                  <a:srgbClr val="C1FF72"/>
                </a:solidFill>
                <a:latin typeface="Calibri"/>
                <a:ea typeface="Calibri"/>
                <a:cs typeface="Calibri"/>
                <a:sym typeface="Calibri"/>
              </a:rPr>
              <a:t>CPU scheduling</a:t>
            </a:r>
            <a:r>
              <a:rPr b="1" lang="en-US" sz="3000">
                <a:solidFill>
                  <a:schemeClr val="lt1"/>
                </a:solidFill>
                <a:latin typeface="Calibri"/>
                <a:ea typeface="Calibri"/>
                <a:cs typeface="Calibri"/>
                <a:sym typeface="Calibri"/>
              </a:rPr>
              <a:t> are stored. With the creation of a  aim of helping the OS to manage the enormous amounts of tasks that are being </a:t>
            </a:r>
            <a:endParaRPr b="1" sz="3000">
              <a:solidFill>
                <a:schemeClr val="lt1"/>
              </a:solidFill>
              <a:latin typeface="Calibri"/>
              <a:ea typeface="Calibri"/>
              <a:cs typeface="Calibri"/>
              <a:sym typeface="Calibri"/>
            </a:endParaRPr>
          </a:p>
        </p:txBody>
      </p:sp>
      <p:pic>
        <p:nvPicPr>
          <p:cNvPr descr="PCB" id="370" name="Google Shape;370;p12"/>
          <p:cNvPicPr preferRelativeResize="0"/>
          <p:nvPr/>
        </p:nvPicPr>
        <p:blipFill rotWithShape="1">
          <a:blip r:embed="rId5">
            <a:alphaModFix/>
          </a:blip>
          <a:srcRect b="0" l="0" r="0" t="0"/>
          <a:stretch/>
        </p:blipFill>
        <p:spPr>
          <a:xfrm>
            <a:off x="13322935" y="5084445"/>
            <a:ext cx="4323715" cy="4599305"/>
          </a:xfrm>
          <a:prstGeom prst="rect">
            <a:avLst/>
          </a:prstGeom>
          <a:noFill/>
          <a:ln>
            <a:noFill/>
          </a:ln>
        </p:spPr>
      </p:pic>
      <p:sp>
        <p:nvSpPr>
          <p:cNvPr id="371" name="Google Shape;371;p12"/>
          <p:cNvSpPr txBox="1"/>
          <p:nvPr/>
        </p:nvSpPr>
        <p:spPr>
          <a:xfrm>
            <a:off x="381000" y="5513705"/>
            <a:ext cx="12720320" cy="4170045"/>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chemeClr val="lt1"/>
                </a:solidFill>
                <a:latin typeface="Calibri"/>
                <a:ea typeface="Calibri"/>
                <a:cs typeface="Calibri"/>
                <a:sym typeface="Calibri"/>
              </a:rPr>
              <a:t>process, a PCB is created which controls how that process is being carried out. The </a:t>
            </a:r>
            <a:r>
              <a:rPr b="1" lang="en-US" sz="3000">
                <a:solidFill>
                  <a:srgbClr val="C1FF72"/>
                </a:solidFill>
                <a:latin typeface="Calibri"/>
                <a:ea typeface="Calibri"/>
                <a:cs typeface="Calibri"/>
                <a:sym typeface="Calibri"/>
              </a:rPr>
              <a:t>PCB </a:t>
            </a:r>
            <a:r>
              <a:rPr b="1" lang="en-US" sz="3000">
                <a:solidFill>
                  <a:schemeClr val="lt1"/>
                </a:solidFill>
                <a:latin typeface="Calibri"/>
                <a:ea typeface="Calibri"/>
                <a:cs typeface="Calibri"/>
                <a:sym typeface="Calibri"/>
              </a:rPr>
              <a:t>is created with thecarried out in the system. PCB is helpful in doing that as it helps the OS to actively </a:t>
            </a:r>
            <a:r>
              <a:rPr b="1" lang="en-US" sz="3000">
                <a:solidFill>
                  <a:srgbClr val="C1FF72"/>
                </a:solidFill>
                <a:latin typeface="Calibri"/>
                <a:ea typeface="Calibri"/>
                <a:cs typeface="Calibri"/>
                <a:sym typeface="Calibri"/>
              </a:rPr>
              <a:t>monitor the process</a:t>
            </a:r>
            <a:r>
              <a:rPr b="1" lang="en-US" sz="3000">
                <a:solidFill>
                  <a:schemeClr val="lt1"/>
                </a:solidFill>
                <a:latin typeface="Calibri"/>
                <a:ea typeface="Calibri"/>
                <a:cs typeface="Calibri"/>
                <a:sym typeface="Calibri"/>
              </a:rPr>
              <a:t> and </a:t>
            </a:r>
            <a:r>
              <a:rPr b="1" lang="en-US" sz="3000">
                <a:solidFill>
                  <a:srgbClr val="C1FF72"/>
                </a:solidFill>
                <a:latin typeface="Calibri"/>
                <a:ea typeface="Calibri"/>
                <a:cs typeface="Calibri"/>
                <a:sym typeface="Calibri"/>
              </a:rPr>
              <a:t>redirect system resources</a:t>
            </a:r>
            <a:r>
              <a:rPr b="1" lang="en-US" sz="3000">
                <a:solidFill>
                  <a:schemeClr val="lt1"/>
                </a:solidFill>
                <a:latin typeface="Calibri"/>
                <a:ea typeface="Calibri"/>
                <a:cs typeface="Calibri"/>
                <a:sym typeface="Calibri"/>
              </a:rPr>
              <a:t> to each process  to accordingly. The OS creates a PCB for every process which is created, and it contains all the important information about the process. All this information is afterward used by the OS to manage processes and run them efficiently.</a:t>
            </a:r>
            <a:endParaRPr b="1" sz="300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377" name="Google Shape;377;p13"/>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78" name="Google Shape;378;p13"/>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79" name="Google Shape;379;p13"/>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80" name="Google Shape;380;p13"/>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381" name="Google Shape;381;p13"/>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382" name="Google Shape;382;p13"/>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83" name="Google Shape;383;p13"/>
          <p:cNvSpPr txBox="1"/>
          <p:nvPr/>
        </p:nvSpPr>
        <p:spPr>
          <a:xfrm>
            <a:off x="438785" y="495300"/>
            <a:ext cx="11690985" cy="8385175"/>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Process Control Block Terminologies :</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Process State:</a:t>
            </a:r>
            <a:r>
              <a:rPr b="1" lang="en-US" sz="3000">
                <a:solidFill>
                  <a:schemeClr val="lt1"/>
                </a:solidFill>
                <a:latin typeface="Calibri"/>
                <a:ea typeface="Calibri"/>
                <a:cs typeface="Calibri"/>
                <a:sym typeface="Calibri"/>
              </a:rPr>
              <a:t> Indicates the current state of the process (e.g., new, ready, running, waiting, or terminated).</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Process ID: </a:t>
            </a:r>
            <a:r>
              <a:rPr b="1" lang="en-US" sz="3000">
                <a:solidFill>
                  <a:schemeClr val="lt1"/>
                </a:solidFill>
                <a:latin typeface="Calibri"/>
                <a:ea typeface="Calibri"/>
                <a:cs typeface="Calibri"/>
                <a:sym typeface="Calibri"/>
              </a:rPr>
              <a:t>A unique identifier assigned to each process to distinguish it from others.</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Program Counter: </a:t>
            </a:r>
            <a:r>
              <a:rPr b="1" lang="en-US" sz="3000">
                <a:solidFill>
                  <a:schemeClr val="lt1"/>
                </a:solidFill>
                <a:latin typeface="Calibri"/>
                <a:ea typeface="Calibri"/>
                <a:cs typeface="Calibri"/>
                <a:sym typeface="Calibri"/>
              </a:rPr>
              <a:t>Stores the address of the next instruction to be executed.</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CPU Registers:</a:t>
            </a:r>
            <a:r>
              <a:rPr b="1" lang="en-US" sz="3000">
                <a:solidFill>
                  <a:schemeClr val="lt1"/>
                </a:solidFill>
                <a:latin typeface="Calibri"/>
                <a:ea typeface="Calibri"/>
                <a:cs typeface="Calibri"/>
                <a:sym typeface="Calibri"/>
              </a:rPr>
              <a:t> Holds the values of registers used by the process, including accumulators, index registers, and stack pointers.</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Memory Management Information:</a:t>
            </a:r>
            <a:r>
              <a:rPr b="1" lang="en-US" sz="3000">
                <a:solidFill>
                  <a:schemeClr val="lt1"/>
                </a:solidFill>
                <a:latin typeface="Calibri"/>
                <a:ea typeface="Calibri"/>
                <a:cs typeface="Calibri"/>
                <a:sym typeface="Calibri"/>
              </a:rPr>
              <a:t> Includes details like base address, limit registers, and memory allocation tables.</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Process Scheduling Information: </a:t>
            </a:r>
            <a:r>
              <a:rPr b="1" lang="en-US" sz="3000">
                <a:solidFill>
                  <a:schemeClr val="lt1"/>
                </a:solidFill>
                <a:latin typeface="Calibri"/>
                <a:ea typeface="Calibri"/>
                <a:cs typeface="Calibri"/>
                <a:sym typeface="Calibri"/>
              </a:rPr>
              <a:t>Contains priority levels, scheduling queues, and other parameters used for scheduling decisions.</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Accounting Information:</a:t>
            </a:r>
            <a:r>
              <a:rPr b="1" lang="en-US" sz="3000">
                <a:solidFill>
                  <a:schemeClr val="lt1"/>
                </a:solidFill>
                <a:latin typeface="Calibri"/>
                <a:ea typeface="Calibri"/>
                <a:cs typeface="Calibri"/>
                <a:sym typeface="Calibri"/>
              </a:rPr>
              <a:t> Tracks CPU usage, memory consumption, execution time, and other performance metrics.</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p:txBody>
      </p:sp>
      <p:pic>
        <p:nvPicPr>
          <p:cNvPr descr="Add-a-subheading(1)" id="384" name="Google Shape;384;p13"/>
          <p:cNvPicPr preferRelativeResize="0"/>
          <p:nvPr/>
        </p:nvPicPr>
        <p:blipFill rotWithShape="1">
          <a:blip r:embed="rId5">
            <a:alphaModFix/>
          </a:blip>
          <a:srcRect b="0" l="0" r="0" t="0"/>
          <a:stretch/>
        </p:blipFill>
        <p:spPr>
          <a:xfrm>
            <a:off x="12268200" y="1028700"/>
            <a:ext cx="5670550" cy="85064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390" name="Google Shape;390;p14"/>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91" name="Google Shape;391;p14"/>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92" name="Google Shape;392;p14"/>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93" name="Google Shape;393;p14"/>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394" name="Google Shape;394;p14"/>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395" name="Google Shape;395;p14"/>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96" name="Google Shape;396;p14"/>
          <p:cNvSpPr txBox="1"/>
          <p:nvPr/>
        </p:nvSpPr>
        <p:spPr>
          <a:xfrm>
            <a:off x="438785" y="495300"/>
            <a:ext cx="17299940" cy="9415145"/>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Process Control Block Operations:</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1. Process Scheduling</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 PCB stores information like process priority, state, and resources used, which helps the OS schedule processes efficiently.</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It assists in context switching, allowing the OS to save and restore process states when switching between tasks.</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2. Memory Management</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 PCB contains memory allocation details, including base address and limit registers.</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It helps the OS track memory usage and allocate resources dynamically.</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3. Process Synchronization &amp; Communication</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 PCB maintains process dependencies, ensuring smooth execution of interdependent processes.</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It facilitates Inter-Process Communication (IPC) by storing information about shared resources.</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4. Resource Allocation &amp; Accounting</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 PCB tracks CPU usage, execution time, and I/O operations to optimize resource distribution.</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It helps in monitoring system performance and enforcing security policies.</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402" name="Google Shape;402;p15"/>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03" name="Google Shape;403;p15"/>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04" name="Google Shape;404;p15"/>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05" name="Google Shape;405;p15"/>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406" name="Google Shape;406;p15"/>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407" name="Google Shape;407;p15"/>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08" name="Google Shape;408;p15"/>
          <p:cNvSpPr txBox="1"/>
          <p:nvPr/>
        </p:nvSpPr>
        <p:spPr>
          <a:xfrm>
            <a:off x="438785" y="495300"/>
            <a:ext cx="17299940" cy="9415145"/>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5. Error Handling &amp; Termination</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 PCB stores error codes and process exit status, allowing the OS to handle failures gracefully.</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It ensures proper cleanup of resources when a process terminates.</a:t>
            </a:r>
            <a:endParaRPr b="1" sz="3000">
              <a:solidFill>
                <a:schemeClr val="lt1"/>
              </a:solidFill>
              <a:latin typeface="Calibri"/>
              <a:ea typeface="Calibri"/>
              <a:cs typeface="Calibri"/>
              <a:sym typeface="Calibri"/>
            </a:endParaRPr>
          </a:p>
          <a:p>
            <a:pPr indent="-266700" lvl="0" marL="45720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414" name="Google Shape;414;p16"/>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15" name="Google Shape;415;p16"/>
          <p:cNvSpPr txBox="1"/>
          <p:nvPr/>
        </p:nvSpPr>
        <p:spPr>
          <a:xfrm>
            <a:off x="4553585" y="647700"/>
            <a:ext cx="8225155" cy="560705"/>
          </a:xfrm>
          <a:prstGeom prst="rect">
            <a:avLst/>
          </a:prstGeom>
          <a:noFill/>
          <a:ln>
            <a:noFill/>
          </a:ln>
        </p:spPr>
        <p:txBody>
          <a:bodyPr anchorCtr="0" anchor="t" bIns="0" lIns="0" spcFirstLastPara="1" rIns="0" wrap="square" tIns="0">
            <a:spAutoFit/>
          </a:bodyPr>
          <a:lstStyle/>
          <a:p>
            <a:pPr indent="0" lvl="0" marL="0" marR="0" rtl="0" algn="l">
              <a:lnSpc>
                <a:spcPct val="54687"/>
              </a:lnSpc>
              <a:spcBef>
                <a:spcPts val="0"/>
              </a:spcBef>
              <a:spcAft>
                <a:spcPts val="0"/>
              </a:spcAft>
              <a:buNone/>
            </a:pPr>
            <a:r>
              <a:rPr b="1" lang="en-US" sz="8000">
                <a:solidFill>
                  <a:srgbClr val="C1FF72"/>
                </a:solidFill>
                <a:latin typeface="Calibri"/>
                <a:ea typeface="Calibri"/>
                <a:cs typeface="Calibri"/>
                <a:sym typeface="Calibri"/>
              </a:rPr>
              <a:t> Context Switching</a:t>
            </a:r>
            <a:endParaRPr b="1" sz="8000" u="none" strike="noStrike">
              <a:solidFill>
                <a:srgbClr val="C1FF72"/>
              </a:solidFill>
              <a:latin typeface="Calibri"/>
              <a:ea typeface="Calibri"/>
              <a:cs typeface="Calibri"/>
              <a:sym typeface="Calibri"/>
            </a:endParaRPr>
          </a:p>
        </p:txBody>
      </p:sp>
      <p:sp>
        <p:nvSpPr>
          <p:cNvPr id="416" name="Google Shape;416;p16"/>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17" name="Google Shape;417;p16"/>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18" name="Google Shape;418;p16"/>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419" name="Google Shape;419;p16"/>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420" name="Google Shape;420;p16"/>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21" name="Google Shape;421;p16"/>
          <p:cNvSpPr txBox="1"/>
          <p:nvPr/>
        </p:nvSpPr>
        <p:spPr>
          <a:xfrm>
            <a:off x="381000" y="1613535"/>
            <a:ext cx="17265650" cy="8098790"/>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Context switching</a:t>
            </a:r>
            <a:r>
              <a:rPr b="1" lang="en-US" sz="3000">
                <a:solidFill>
                  <a:schemeClr val="lt1"/>
                </a:solidFill>
                <a:latin typeface="Calibri"/>
                <a:ea typeface="Calibri"/>
                <a:cs typeface="Calibri"/>
                <a:sym typeface="Calibri"/>
              </a:rPr>
              <a:t> is a crucial mechanism in operating systems that allows the CPU to </a:t>
            </a:r>
            <a:r>
              <a:rPr b="1" lang="en-US" sz="3000">
                <a:solidFill>
                  <a:srgbClr val="C1FF72"/>
                </a:solidFill>
                <a:latin typeface="Calibri"/>
                <a:ea typeface="Calibri"/>
                <a:cs typeface="Calibri"/>
                <a:sym typeface="Calibri"/>
              </a:rPr>
              <a:t>switch between multiple processes</a:t>
            </a:r>
            <a:r>
              <a:rPr b="1" lang="en-US" sz="3000">
                <a:solidFill>
                  <a:schemeClr val="lt1"/>
                </a:solidFill>
                <a:latin typeface="Calibri"/>
                <a:ea typeface="Calibri"/>
                <a:cs typeface="Calibri"/>
                <a:sym typeface="Calibri"/>
              </a:rPr>
              <a:t> efficiently. Context switching refers to the process of </a:t>
            </a:r>
            <a:r>
              <a:rPr b="1" lang="en-US" sz="3000">
                <a:solidFill>
                  <a:srgbClr val="C1FF72"/>
                </a:solidFill>
                <a:latin typeface="Calibri"/>
                <a:ea typeface="Calibri"/>
                <a:cs typeface="Calibri"/>
                <a:sym typeface="Calibri"/>
              </a:rPr>
              <a:t>saving the state</a:t>
            </a:r>
            <a:r>
              <a:rPr b="1" lang="en-US" sz="3000">
                <a:solidFill>
                  <a:schemeClr val="lt1"/>
                </a:solidFill>
                <a:latin typeface="Calibri"/>
                <a:ea typeface="Calibri"/>
                <a:cs typeface="Calibri"/>
                <a:sym typeface="Calibri"/>
              </a:rPr>
              <a:t> of a currently running process and </a:t>
            </a:r>
            <a:r>
              <a:rPr b="1" lang="en-US" sz="3000">
                <a:solidFill>
                  <a:srgbClr val="C1FF72"/>
                </a:solidFill>
                <a:latin typeface="Calibri"/>
                <a:ea typeface="Calibri"/>
                <a:cs typeface="Calibri"/>
                <a:sym typeface="Calibri"/>
              </a:rPr>
              <a:t>loading the state</a:t>
            </a:r>
            <a:r>
              <a:rPr b="1" lang="en-US" sz="3000">
                <a:solidFill>
                  <a:schemeClr val="lt1"/>
                </a:solidFill>
                <a:latin typeface="Calibri"/>
                <a:ea typeface="Calibri"/>
                <a:cs typeface="Calibri"/>
                <a:sym typeface="Calibri"/>
              </a:rPr>
              <a:t> of another process. This enables </a:t>
            </a:r>
            <a:r>
              <a:rPr b="1" lang="en-US" sz="3000">
                <a:solidFill>
                  <a:srgbClr val="C1FF72"/>
                </a:solidFill>
                <a:latin typeface="Calibri"/>
                <a:ea typeface="Calibri"/>
                <a:cs typeface="Calibri"/>
                <a:sym typeface="Calibri"/>
              </a:rPr>
              <a:t>multitasking </a:t>
            </a:r>
            <a:r>
              <a:rPr b="1" lang="en-US" sz="3000">
                <a:solidFill>
                  <a:schemeClr val="lt1"/>
                </a:solidFill>
                <a:latin typeface="Calibri"/>
                <a:ea typeface="Calibri"/>
                <a:cs typeface="Calibri"/>
                <a:sym typeface="Calibri"/>
              </a:rPr>
              <a:t>and ensures that different processes get a fair share of CPU time.</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Context switching occurrence: </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Multitasking:</a:t>
            </a:r>
            <a:r>
              <a:rPr b="1" lang="en-US" sz="3000">
                <a:solidFill>
                  <a:schemeClr val="lt1"/>
                </a:solidFill>
                <a:latin typeface="Calibri"/>
                <a:ea typeface="Calibri"/>
                <a:cs typeface="Calibri"/>
                <a:sym typeface="Calibri"/>
              </a:rPr>
              <a:t> The OS switches between processes to allow multiple applications to run simultaneously.</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Interrupt Handling:</a:t>
            </a:r>
            <a:r>
              <a:rPr b="1" lang="en-US" sz="3000">
                <a:solidFill>
                  <a:schemeClr val="lt1"/>
                </a:solidFill>
                <a:latin typeface="Calibri"/>
                <a:ea typeface="Calibri"/>
                <a:cs typeface="Calibri"/>
                <a:sym typeface="Calibri"/>
              </a:rPr>
              <a:t> When an interrupt occurs (e.g., I/O request or hardware event), the OS switches to handle it.</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User &amp; Kernel Mode Switching: </a:t>
            </a:r>
            <a:r>
              <a:rPr b="1" lang="en-US" sz="3000">
                <a:solidFill>
                  <a:schemeClr val="lt1"/>
                </a:solidFill>
                <a:latin typeface="Calibri"/>
                <a:ea typeface="Calibri"/>
                <a:cs typeface="Calibri"/>
                <a:sym typeface="Calibri"/>
              </a:rPr>
              <a:t>When a process transitions between user mode and kernel mode, a context switch may be required.</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427" name="Google Shape;427;p17"/>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28" name="Google Shape;428;p17"/>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29" name="Google Shape;429;p17"/>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30" name="Google Shape;430;p17"/>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431" name="Google Shape;431;p17"/>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432" name="Google Shape;432;p17"/>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33" name="Google Shape;433;p17"/>
          <p:cNvSpPr txBox="1"/>
          <p:nvPr/>
        </p:nvSpPr>
        <p:spPr>
          <a:xfrm>
            <a:off x="381000" y="549910"/>
            <a:ext cx="8324215" cy="5758815"/>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Steps in Context Switching</a:t>
            </a:r>
            <a:endParaRPr b="1" sz="3000">
              <a:solidFill>
                <a:srgbClr val="C1FF72"/>
              </a:solidFill>
              <a:latin typeface="Calibri"/>
              <a:ea typeface="Calibri"/>
              <a:cs typeface="Calibri"/>
              <a:sym typeface="Calibri"/>
            </a:endParaRPr>
          </a:p>
          <a:p>
            <a:pPr indent="-514350" lvl="0" marL="514350" marR="0" rtl="0" algn="l">
              <a:lnSpc>
                <a:spcPct val="133000"/>
              </a:lnSpc>
              <a:spcBef>
                <a:spcPts val="0"/>
              </a:spcBef>
              <a:spcAft>
                <a:spcPts val="0"/>
              </a:spcAft>
              <a:buClr>
                <a:schemeClr val="lt1"/>
              </a:buClr>
              <a:buSzPts val="3000"/>
              <a:buFont typeface="Calibri"/>
              <a:buAutoNum type="arabicPeriod"/>
            </a:pPr>
            <a:r>
              <a:rPr b="1" lang="en-US" sz="3000">
                <a:solidFill>
                  <a:schemeClr val="lt1"/>
                </a:solidFill>
                <a:latin typeface="Calibri"/>
                <a:ea typeface="Calibri"/>
                <a:cs typeface="Calibri"/>
                <a:sym typeface="Calibri"/>
              </a:rPr>
              <a:t>Save the current process state (registers, program counter, memory allocation).</a:t>
            </a:r>
            <a:endParaRPr b="1" sz="3000">
              <a:solidFill>
                <a:schemeClr val="lt1"/>
              </a:solidFill>
              <a:latin typeface="Calibri"/>
              <a:ea typeface="Calibri"/>
              <a:cs typeface="Calibri"/>
              <a:sym typeface="Calibri"/>
            </a:endParaRPr>
          </a:p>
          <a:p>
            <a:pPr indent="-514350" lvl="0" marL="514350" marR="0" rtl="0" algn="l">
              <a:lnSpc>
                <a:spcPct val="133000"/>
              </a:lnSpc>
              <a:spcBef>
                <a:spcPts val="0"/>
              </a:spcBef>
              <a:spcAft>
                <a:spcPts val="0"/>
              </a:spcAft>
              <a:buClr>
                <a:schemeClr val="lt1"/>
              </a:buClr>
              <a:buSzPts val="3000"/>
              <a:buFont typeface="Calibri"/>
              <a:buAutoNum type="arabicPeriod"/>
            </a:pPr>
            <a:r>
              <a:rPr b="1" lang="en-US" sz="3000">
                <a:solidFill>
                  <a:schemeClr val="lt1"/>
                </a:solidFill>
                <a:latin typeface="Calibri"/>
                <a:ea typeface="Calibri"/>
                <a:cs typeface="Calibri"/>
                <a:sym typeface="Calibri"/>
              </a:rPr>
              <a:t>Update the PCB (Process Control Block) of the current process.</a:t>
            </a:r>
            <a:endParaRPr b="1" sz="3000">
              <a:solidFill>
                <a:schemeClr val="lt1"/>
              </a:solidFill>
              <a:latin typeface="Calibri"/>
              <a:ea typeface="Calibri"/>
              <a:cs typeface="Calibri"/>
              <a:sym typeface="Calibri"/>
            </a:endParaRPr>
          </a:p>
          <a:p>
            <a:pPr indent="-514350" lvl="0" marL="514350" marR="0" rtl="0" algn="l">
              <a:lnSpc>
                <a:spcPct val="133000"/>
              </a:lnSpc>
              <a:spcBef>
                <a:spcPts val="0"/>
              </a:spcBef>
              <a:spcAft>
                <a:spcPts val="0"/>
              </a:spcAft>
              <a:buClr>
                <a:schemeClr val="lt1"/>
              </a:buClr>
              <a:buSzPts val="3000"/>
              <a:buFont typeface="Calibri"/>
              <a:buAutoNum type="arabicPeriod"/>
            </a:pPr>
            <a:r>
              <a:rPr b="1" lang="en-US" sz="3000">
                <a:solidFill>
                  <a:schemeClr val="lt1"/>
                </a:solidFill>
                <a:latin typeface="Calibri"/>
                <a:ea typeface="Calibri"/>
                <a:cs typeface="Calibri"/>
                <a:sym typeface="Calibri"/>
              </a:rPr>
              <a:t>Move the process to the appropriate queue (ready queue, I/O queue, etc.).</a:t>
            </a:r>
            <a:endParaRPr b="1" sz="3000">
              <a:solidFill>
                <a:schemeClr val="lt1"/>
              </a:solidFill>
              <a:latin typeface="Calibri"/>
              <a:ea typeface="Calibri"/>
              <a:cs typeface="Calibri"/>
              <a:sym typeface="Calibri"/>
            </a:endParaRPr>
          </a:p>
          <a:p>
            <a:pPr indent="-514350" lvl="0" marL="514350" marR="0" rtl="0" algn="l">
              <a:lnSpc>
                <a:spcPct val="133000"/>
              </a:lnSpc>
              <a:spcBef>
                <a:spcPts val="0"/>
              </a:spcBef>
              <a:spcAft>
                <a:spcPts val="0"/>
              </a:spcAft>
              <a:buClr>
                <a:schemeClr val="lt1"/>
              </a:buClr>
              <a:buSzPts val="3000"/>
              <a:buFont typeface="Calibri"/>
              <a:buAutoNum type="arabicPeriod"/>
            </a:pPr>
            <a:r>
              <a:rPr b="1" lang="en-US" sz="3000">
                <a:solidFill>
                  <a:schemeClr val="lt1"/>
                </a:solidFill>
                <a:latin typeface="Calibri"/>
                <a:ea typeface="Calibri"/>
                <a:cs typeface="Calibri"/>
                <a:sym typeface="Calibri"/>
              </a:rPr>
              <a:t>Select a new process for execution based on scheduling policies.</a:t>
            </a:r>
            <a:endParaRPr b="1" sz="3000">
              <a:solidFill>
                <a:schemeClr val="lt1"/>
              </a:solidFill>
              <a:latin typeface="Calibri"/>
              <a:ea typeface="Calibri"/>
              <a:cs typeface="Calibri"/>
              <a:sym typeface="Calibri"/>
            </a:endParaRPr>
          </a:p>
          <a:p>
            <a:pPr indent="-514350" lvl="0" marL="514350" marR="0" rtl="0" algn="l">
              <a:lnSpc>
                <a:spcPct val="133000"/>
              </a:lnSpc>
              <a:spcBef>
                <a:spcPts val="0"/>
              </a:spcBef>
              <a:spcAft>
                <a:spcPts val="0"/>
              </a:spcAft>
              <a:buClr>
                <a:schemeClr val="lt1"/>
              </a:buClr>
              <a:buSzPts val="3000"/>
              <a:buFont typeface="Calibri"/>
              <a:buAutoNum type="arabicPeriod"/>
            </a:pPr>
            <a:r>
              <a:rPr b="1" lang="en-US" sz="3000">
                <a:solidFill>
                  <a:schemeClr val="lt1"/>
                </a:solidFill>
                <a:latin typeface="Calibri"/>
                <a:ea typeface="Calibri"/>
                <a:cs typeface="Calibri"/>
                <a:sym typeface="Calibri"/>
              </a:rPr>
              <a:t>Load the new process state from its PCB.</a:t>
            </a:r>
            <a:endParaRPr b="1" sz="3000">
              <a:solidFill>
                <a:schemeClr val="lt1"/>
              </a:solidFill>
              <a:latin typeface="Calibri"/>
              <a:ea typeface="Calibri"/>
              <a:cs typeface="Calibri"/>
              <a:sym typeface="Calibri"/>
            </a:endParaRPr>
          </a:p>
          <a:p>
            <a:pPr indent="-514350" lvl="0" marL="514350" marR="0" rtl="0" algn="l">
              <a:lnSpc>
                <a:spcPct val="133000"/>
              </a:lnSpc>
              <a:spcBef>
                <a:spcPts val="0"/>
              </a:spcBef>
              <a:spcAft>
                <a:spcPts val="0"/>
              </a:spcAft>
              <a:buClr>
                <a:schemeClr val="lt1"/>
              </a:buClr>
              <a:buSzPts val="3000"/>
              <a:buFont typeface="Calibri"/>
              <a:buAutoNum type="arabicPeriod"/>
            </a:pPr>
            <a:r>
              <a:rPr b="1" lang="en-US" sz="3000">
                <a:solidFill>
                  <a:schemeClr val="lt1"/>
                </a:solidFill>
                <a:latin typeface="Calibri"/>
                <a:ea typeface="Calibri"/>
                <a:cs typeface="Calibri"/>
                <a:sym typeface="Calibri"/>
              </a:rPr>
              <a:t>Resume execution of the new process.</a:t>
            </a:r>
            <a:endParaRPr b="1" sz="3000">
              <a:solidFill>
                <a:schemeClr val="lt1"/>
              </a:solidFill>
              <a:latin typeface="Calibri"/>
              <a:ea typeface="Calibri"/>
              <a:cs typeface="Calibri"/>
              <a:sym typeface="Calibri"/>
            </a:endParaRPr>
          </a:p>
          <a:p>
            <a:pPr indent="-323850" lvl="0" marL="514350" marR="0" rtl="0" algn="just">
              <a:lnSpc>
                <a:spcPct val="133000"/>
              </a:lnSpc>
              <a:spcBef>
                <a:spcPts val="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p:txBody>
      </p:sp>
      <p:pic>
        <p:nvPicPr>
          <p:cNvPr id="434" name="Google Shape;434;p17"/>
          <p:cNvPicPr preferRelativeResize="0"/>
          <p:nvPr/>
        </p:nvPicPr>
        <p:blipFill rotWithShape="1">
          <a:blip r:embed="rId5">
            <a:alphaModFix/>
          </a:blip>
          <a:srcRect b="0" l="0" r="0" t="0"/>
          <a:stretch/>
        </p:blipFill>
        <p:spPr>
          <a:xfrm>
            <a:off x="9051290" y="647700"/>
            <a:ext cx="8894445" cy="5529580"/>
          </a:xfrm>
          <a:prstGeom prst="rect">
            <a:avLst/>
          </a:prstGeom>
          <a:noFill/>
          <a:ln>
            <a:noFill/>
          </a:ln>
        </p:spPr>
      </p:pic>
      <p:sp>
        <p:nvSpPr>
          <p:cNvPr id="435" name="Google Shape;435;p17"/>
          <p:cNvSpPr txBox="1"/>
          <p:nvPr/>
        </p:nvSpPr>
        <p:spPr>
          <a:xfrm>
            <a:off x="304800" y="6438900"/>
            <a:ext cx="17506950" cy="3540125"/>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Context Switching Overhead</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Context switching introduces </a:t>
            </a:r>
            <a:r>
              <a:rPr b="1" lang="en-US" sz="3000">
                <a:solidFill>
                  <a:srgbClr val="C1FF72"/>
                </a:solidFill>
                <a:latin typeface="Calibri"/>
                <a:ea typeface="Calibri"/>
                <a:cs typeface="Calibri"/>
                <a:sym typeface="Calibri"/>
              </a:rPr>
              <a:t>overhead</a:t>
            </a:r>
            <a:r>
              <a:rPr b="1" lang="en-US" sz="3000">
                <a:solidFill>
                  <a:schemeClr val="lt1"/>
                </a:solidFill>
                <a:latin typeface="Calibri"/>
                <a:ea typeface="Calibri"/>
                <a:cs typeface="Calibri"/>
                <a:sym typeface="Calibri"/>
              </a:rPr>
              <a:t>, as the CPU spends time </a:t>
            </a:r>
            <a:r>
              <a:rPr b="1" lang="en-US" sz="3000">
                <a:solidFill>
                  <a:srgbClr val="C1FF72"/>
                </a:solidFill>
                <a:latin typeface="Calibri"/>
                <a:ea typeface="Calibri"/>
                <a:cs typeface="Calibri"/>
                <a:sym typeface="Calibri"/>
              </a:rPr>
              <a:t>saving and restoring process states</a:t>
            </a:r>
            <a:r>
              <a:rPr b="1" lang="en-US" sz="3000">
                <a:solidFill>
                  <a:schemeClr val="lt1"/>
                </a:solidFill>
                <a:latin typeface="Calibri"/>
                <a:ea typeface="Calibri"/>
                <a:cs typeface="Calibri"/>
                <a:sym typeface="Calibri"/>
              </a:rPr>
              <a:t> instead of executing instructions. The efficiency of context switching depends on factors like:</a:t>
            </a:r>
            <a:endParaRPr b="1" sz="3000">
              <a:solidFill>
                <a:schemeClr val="lt1"/>
              </a:solidFill>
              <a:latin typeface="Calibri"/>
              <a:ea typeface="Calibri"/>
              <a:cs typeface="Calibri"/>
              <a:sym typeface="Calibri"/>
            </a:endParaRPr>
          </a:p>
          <a:p>
            <a:pPr indent="-457200" lvl="0" marL="457200" marR="0" rtl="0" algn="l">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Hardware support:</a:t>
            </a:r>
            <a:r>
              <a:rPr b="1" lang="en-US" sz="3000">
                <a:solidFill>
                  <a:schemeClr val="lt1"/>
                </a:solidFill>
                <a:latin typeface="Calibri"/>
                <a:ea typeface="Calibri"/>
                <a:cs typeface="Calibri"/>
                <a:sym typeface="Calibri"/>
              </a:rPr>
              <a:t> Some processors have multiple register sets, reducing the time needed for switching.</a:t>
            </a:r>
            <a:endParaRPr b="1" sz="3000">
              <a:solidFill>
                <a:schemeClr val="lt1"/>
              </a:solidFill>
              <a:latin typeface="Calibri"/>
              <a:ea typeface="Calibri"/>
              <a:cs typeface="Calibri"/>
              <a:sym typeface="Calibri"/>
            </a:endParaRPr>
          </a:p>
          <a:p>
            <a:pPr indent="-457200" lvl="0" marL="457200" marR="0" rtl="0" algn="l">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Operating system design: </a:t>
            </a:r>
            <a:r>
              <a:rPr b="1" lang="en-US" sz="3000">
                <a:solidFill>
                  <a:schemeClr val="lt1"/>
                </a:solidFill>
                <a:latin typeface="Calibri"/>
                <a:ea typeface="Calibri"/>
                <a:cs typeface="Calibri"/>
                <a:sym typeface="Calibri"/>
              </a:rPr>
              <a:t>More complex OS designs require additional work during a context switch.</a:t>
            </a:r>
            <a:endParaRPr b="1" sz="3000">
              <a:solidFill>
                <a:schemeClr val="lt1"/>
              </a:solidFill>
              <a:latin typeface="Calibri"/>
              <a:ea typeface="Calibri"/>
              <a:cs typeface="Calibri"/>
              <a:sym typeface="Calibri"/>
            </a:endParaRPr>
          </a:p>
          <a:p>
            <a:pPr indent="-457200" lvl="0" marL="457200" marR="0" rtl="0" algn="l">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Memory speed: </a:t>
            </a:r>
            <a:r>
              <a:rPr b="1" lang="en-US" sz="3000">
                <a:solidFill>
                  <a:schemeClr val="lt1"/>
                </a:solidFill>
                <a:latin typeface="Calibri"/>
                <a:ea typeface="Calibri"/>
                <a:cs typeface="Calibri"/>
                <a:sym typeface="Calibri"/>
              </a:rPr>
              <a:t>Faster memory access reduces the delay in saving and restoring process states.</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441" name="Google Shape;441;p18"/>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42" name="Google Shape;442;p18"/>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43" name="Google Shape;443;p18"/>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44" name="Google Shape;444;p18"/>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445" name="Google Shape;445;p18"/>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446" name="Google Shape;446;p18"/>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47" name="Google Shape;447;p18"/>
          <p:cNvSpPr txBox="1"/>
          <p:nvPr/>
        </p:nvSpPr>
        <p:spPr>
          <a:xfrm>
            <a:off x="438785" y="495300"/>
            <a:ext cx="17299940" cy="9415145"/>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Process Control Blocks (PCBs) are essential for managing processes in operating systems, and they play a crucial role in various real-world applications. Here are some examples of PCB usage:</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Clr>
                <a:schemeClr val="dk1"/>
              </a:buClr>
              <a:buSzPts val="3000"/>
              <a:buFont typeface="Arial"/>
              <a:buNone/>
            </a:pPr>
            <a:r>
              <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1. Operating Systems in Computers</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Every modern operating system, including </a:t>
            </a:r>
            <a:r>
              <a:rPr b="1" lang="en-US" sz="3000">
                <a:solidFill>
                  <a:srgbClr val="C1FF72"/>
                </a:solidFill>
                <a:latin typeface="Calibri"/>
                <a:ea typeface="Calibri"/>
                <a:cs typeface="Calibri"/>
                <a:sym typeface="Calibri"/>
              </a:rPr>
              <a:t>Windows</a:t>
            </a:r>
            <a:r>
              <a:rPr b="1" lang="en-US" sz="3000">
                <a:solidFill>
                  <a:schemeClr val="lt1"/>
                </a:solidFill>
                <a:latin typeface="Calibri"/>
                <a:ea typeface="Calibri"/>
                <a:cs typeface="Calibri"/>
                <a:sym typeface="Calibri"/>
              </a:rPr>
              <a:t>, </a:t>
            </a:r>
            <a:r>
              <a:rPr b="1" lang="en-US" sz="3000">
                <a:solidFill>
                  <a:srgbClr val="C1FF72"/>
                </a:solidFill>
                <a:latin typeface="Calibri"/>
                <a:ea typeface="Calibri"/>
                <a:cs typeface="Calibri"/>
                <a:sym typeface="Calibri"/>
              </a:rPr>
              <a:t>Linux</a:t>
            </a:r>
            <a:r>
              <a:rPr b="1" lang="en-US" sz="3000">
                <a:solidFill>
                  <a:schemeClr val="lt1"/>
                </a:solidFill>
                <a:latin typeface="Calibri"/>
                <a:ea typeface="Calibri"/>
                <a:cs typeface="Calibri"/>
                <a:sym typeface="Calibri"/>
              </a:rPr>
              <a:t>, and </a:t>
            </a:r>
            <a:r>
              <a:rPr b="1" lang="en-US" sz="3000">
                <a:solidFill>
                  <a:srgbClr val="C1FF72"/>
                </a:solidFill>
                <a:latin typeface="Calibri"/>
                <a:ea typeface="Calibri"/>
                <a:cs typeface="Calibri"/>
                <a:sym typeface="Calibri"/>
              </a:rPr>
              <a:t>macOS</a:t>
            </a:r>
            <a:r>
              <a:rPr b="1" lang="en-US" sz="3000">
                <a:solidFill>
                  <a:schemeClr val="lt1"/>
                </a:solidFill>
                <a:latin typeface="Calibri"/>
                <a:ea typeface="Calibri"/>
                <a:cs typeface="Calibri"/>
                <a:sym typeface="Calibri"/>
              </a:rPr>
              <a:t>, uses PCBs to manage multiple processes efficiently.</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They help in </a:t>
            </a:r>
            <a:r>
              <a:rPr b="1" lang="en-US" sz="3000">
                <a:solidFill>
                  <a:srgbClr val="C1FF72"/>
                </a:solidFill>
                <a:latin typeface="Calibri"/>
                <a:ea typeface="Calibri"/>
                <a:cs typeface="Calibri"/>
                <a:sym typeface="Calibri"/>
              </a:rPr>
              <a:t>context switching</a:t>
            </a:r>
            <a:r>
              <a:rPr b="1" lang="en-US" sz="3000">
                <a:solidFill>
                  <a:schemeClr val="lt1"/>
                </a:solidFill>
                <a:latin typeface="Calibri"/>
                <a:ea typeface="Calibri"/>
                <a:cs typeface="Calibri"/>
                <a:sym typeface="Calibri"/>
              </a:rPr>
              <a:t>, ensuring smooth multitasking.</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2. Embedded Systems</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Devices like </a:t>
            </a:r>
            <a:r>
              <a:rPr b="1" lang="en-US" sz="3000">
                <a:solidFill>
                  <a:srgbClr val="C1FF72"/>
                </a:solidFill>
                <a:latin typeface="Calibri"/>
                <a:ea typeface="Calibri"/>
                <a:cs typeface="Calibri"/>
                <a:sym typeface="Calibri"/>
              </a:rPr>
              <a:t>smartphones, routers, and IoT devices</a:t>
            </a:r>
            <a:r>
              <a:rPr b="1" lang="en-US" sz="3000">
                <a:solidFill>
                  <a:schemeClr val="lt1"/>
                </a:solidFill>
                <a:latin typeface="Calibri"/>
                <a:ea typeface="Calibri"/>
                <a:cs typeface="Calibri"/>
                <a:sym typeface="Calibri"/>
              </a:rPr>
              <a:t> use PCBs to manage background processes.</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They ensure efficient resource allocation and process scheduling.</a:t>
            </a:r>
            <a:endParaRPr b="1" sz="3000">
              <a:solidFill>
                <a:schemeClr val="lt1"/>
              </a:solidFill>
              <a:latin typeface="Calibri"/>
              <a:ea typeface="Calibri"/>
              <a:cs typeface="Calibri"/>
              <a:sym typeface="Calibri"/>
            </a:endParaRPr>
          </a:p>
          <a:p>
            <a:pPr indent="-266700" lvl="0" marL="45720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3. Banking Systems</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ATMs and online banking platforms rely on PCBs to handle multiple transactions securely.</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They help in </a:t>
            </a:r>
            <a:r>
              <a:rPr b="1" lang="en-US" sz="3000">
                <a:solidFill>
                  <a:srgbClr val="C1FF72"/>
                </a:solidFill>
                <a:latin typeface="Calibri"/>
                <a:ea typeface="Calibri"/>
                <a:cs typeface="Calibri"/>
                <a:sym typeface="Calibri"/>
              </a:rPr>
              <a:t>process synchronization</a:t>
            </a:r>
            <a:r>
              <a:rPr b="1" lang="en-US" sz="3000">
                <a:solidFill>
                  <a:schemeClr val="lt1"/>
                </a:solidFill>
                <a:latin typeface="Calibri"/>
                <a:ea typeface="Calibri"/>
                <a:cs typeface="Calibri"/>
                <a:sym typeface="Calibri"/>
              </a:rPr>
              <a:t> to prevent conflicts in financial operations.</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chemeClr val="dk1"/>
              </a:buClr>
              <a:buSzPts val="3000"/>
              <a:buFont typeface="Arial"/>
              <a:buNone/>
            </a:pPr>
            <a:r>
              <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4. Industrial Automation</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Factories use </a:t>
            </a:r>
            <a:r>
              <a:rPr b="1" lang="en-US" sz="3000">
                <a:solidFill>
                  <a:srgbClr val="C1FF72"/>
                </a:solidFill>
                <a:latin typeface="Calibri"/>
                <a:ea typeface="Calibri"/>
                <a:cs typeface="Calibri"/>
                <a:sym typeface="Calibri"/>
              </a:rPr>
              <a:t>robotic systems and automated machinery</a:t>
            </a:r>
            <a:r>
              <a:rPr b="1" lang="en-US" sz="3000">
                <a:solidFill>
                  <a:schemeClr val="lt1"/>
                </a:solidFill>
                <a:latin typeface="Calibri"/>
                <a:ea typeface="Calibri"/>
                <a:cs typeface="Calibri"/>
                <a:sym typeface="Calibri"/>
              </a:rPr>
              <a:t> that depend on PCBs for process control.</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453" name="Google Shape;453;p19"/>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54" name="Google Shape;454;p19"/>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55" name="Google Shape;455;p19"/>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56" name="Google Shape;456;p19"/>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457" name="Google Shape;457;p19"/>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458" name="Google Shape;458;p19"/>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59" name="Google Shape;459;p19"/>
          <p:cNvSpPr txBox="1"/>
          <p:nvPr/>
        </p:nvSpPr>
        <p:spPr>
          <a:xfrm>
            <a:off x="438785" y="495300"/>
            <a:ext cx="17299940" cy="9415145"/>
          </a:xfrm>
          <a:prstGeom prst="rect">
            <a:avLst/>
          </a:prstGeom>
          <a:noFill/>
          <a:ln>
            <a:noFill/>
          </a:ln>
        </p:spPr>
        <p:txBody>
          <a:bodyPr anchorCtr="0" anchor="t" bIns="0" lIns="0" spcFirstLastPara="1" rIns="0" wrap="square" tIns="0">
            <a:noAutofit/>
          </a:bodyPr>
          <a:lstStyle/>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They ensure </a:t>
            </a:r>
            <a:r>
              <a:rPr b="1" lang="en-US" sz="3000">
                <a:solidFill>
                  <a:srgbClr val="C1FF72"/>
                </a:solidFill>
                <a:latin typeface="Calibri"/>
                <a:ea typeface="Calibri"/>
                <a:cs typeface="Calibri"/>
                <a:sym typeface="Calibri"/>
              </a:rPr>
              <a:t>real-time execution</a:t>
            </a:r>
            <a:r>
              <a:rPr b="1" lang="en-US" sz="3000">
                <a:solidFill>
                  <a:schemeClr val="lt1"/>
                </a:solidFill>
                <a:latin typeface="Calibri"/>
                <a:ea typeface="Calibri"/>
                <a:cs typeface="Calibri"/>
                <a:sym typeface="Calibri"/>
              </a:rPr>
              <a:t> of tasks like assembly line operations.</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5. Healthcare Systems</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Medical devices such as </a:t>
            </a:r>
            <a:r>
              <a:rPr b="1" lang="en-US" sz="3000">
                <a:solidFill>
                  <a:srgbClr val="C1FF72"/>
                </a:solidFill>
                <a:latin typeface="Calibri"/>
                <a:ea typeface="Calibri"/>
                <a:cs typeface="Calibri"/>
                <a:sym typeface="Calibri"/>
              </a:rPr>
              <a:t>MRI machines, patient monitoring systems, and diagnostic tools</a:t>
            </a:r>
            <a:r>
              <a:rPr b="1" lang="en-US" sz="3000">
                <a:solidFill>
                  <a:schemeClr val="lt1"/>
                </a:solidFill>
                <a:latin typeface="Calibri"/>
                <a:ea typeface="Calibri"/>
                <a:cs typeface="Calibri"/>
                <a:sym typeface="Calibri"/>
              </a:rPr>
              <a:t> use PCBs to manage multiple processes.</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They help in </a:t>
            </a:r>
            <a:r>
              <a:rPr b="1" lang="en-US" sz="3000">
                <a:solidFill>
                  <a:srgbClr val="C1FF72"/>
                </a:solidFill>
                <a:latin typeface="Calibri"/>
                <a:ea typeface="Calibri"/>
                <a:cs typeface="Calibri"/>
                <a:sym typeface="Calibri"/>
              </a:rPr>
              <a:t>data processing and real-time monitoring</a:t>
            </a:r>
            <a:r>
              <a:rPr b="1" lang="en-US" sz="3000">
                <a:solidFill>
                  <a:schemeClr val="lt1"/>
                </a:solidFill>
                <a:latin typeface="Calibri"/>
                <a:ea typeface="Calibri"/>
                <a:cs typeface="Calibri"/>
                <a:sym typeface="Calibri"/>
              </a:rPr>
              <a:t>.</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6. Telecommunications</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Mobile networks and internet services rely on PCBs to handle </a:t>
            </a:r>
            <a:r>
              <a:rPr b="1" lang="en-US" sz="3000">
                <a:solidFill>
                  <a:srgbClr val="C1FF72"/>
                </a:solidFill>
                <a:latin typeface="Calibri"/>
                <a:ea typeface="Calibri"/>
                <a:cs typeface="Calibri"/>
                <a:sym typeface="Calibri"/>
              </a:rPr>
              <a:t>data transmission and call processing</a:t>
            </a:r>
            <a:r>
              <a:rPr b="1" lang="en-US" sz="3000">
                <a:solidFill>
                  <a:schemeClr val="lt1"/>
                </a:solidFill>
                <a:latin typeface="Calibri"/>
                <a:ea typeface="Calibri"/>
                <a:cs typeface="Calibri"/>
                <a:sym typeface="Calibri"/>
              </a:rPr>
              <a:t>.</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They ensure</a:t>
            </a:r>
            <a:r>
              <a:rPr b="1" lang="en-US" sz="3000">
                <a:solidFill>
                  <a:srgbClr val="C1FF72"/>
                </a:solidFill>
                <a:latin typeface="Calibri"/>
                <a:ea typeface="Calibri"/>
                <a:cs typeface="Calibri"/>
                <a:sym typeface="Calibri"/>
              </a:rPr>
              <a:t> efficient communication between multiple users</a:t>
            </a:r>
            <a:r>
              <a:rPr b="1" lang="en-US" sz="3000">
                <a:solidFill>
                  <a:schemeClr val="lt1"/>
                </a:solidFill>
                <a:latin typeface="Calibri"/>
                <a:ea typeface="Calibri"/>
                <a:cs typeface="Calibri"/>
                <a:sym typeface="Calibri"/>
              </a:rPr>
              <a:t>.</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7. Aerospace &amp; Defense</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Flight control systems in </a:t>
            </a:r>
            <a:r>
              <a:rPr b="1" lang="en-US" sz="3000">
                <a:solidFill>
                  <a:srgbClr val="C1FF72"/>
                </a:solidFill>
                <a:latin typeface="Calibri"/>
                <a:ea typeface="Calibri"/>
                <a:cs typeface="Calibri"/>
                <a:sym typeface="Calibri"/>
              </a:rPr>
              <a:t>aircraft and satellites</a:t>
            </a:r>
            <a:r>
              <a:rPr b="1" lang="en-US" sz="3000">
                <a:solidFill>
                  <a:schemeClr val="lt1"/>
                </a:solidFill>
                <a:latin typeface="Calibri"/>
                <a:ea typeface="Calibri"/>
                <a:cs typeface="Calibri"/>
                <a:sym typeface="Calibri"/>
              </a:rPr>
              <a:t> use PCBs to manage navigation and communication.</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They help in </a:t>
            </a:r>
            <a:r>
              <a:rPr b="1" lang="en-US" sz="3000">
                <a:solidFill>
                  <a:srgbClr val="C1FF72"/>
                </a:solidFill>
                <a:latin typeface="Calibri"/>
                <a:ea typeface="Calibri"/>
                <a:cs typeface="Calibri"/>
                <a:sym typeface="Calibri"/>
              </a:rPr>
              <a:t>real-time decision-making and system monitoring</a:t>
            </a:r>
            <a:r>
              <a:rPr b="1" lang="en-US" sz="3000">
                <a:solidFill>
                  <a:schemeClr val="lt1"/>
                </a:solidFill>
                <a:latin typeface="Calibri"/>
                <a:ea typeface="Calibri"/>
                <a:cs typeface="Calibri"/>
                <a:sym typeface="Calibri"/>
              </a:rPr>
              <a:t>.</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465" name="Google Shape;465;p20"/>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66" name="Google Shape;466;p20"/>
          <p:cNvSpPr txBox="1"/>
          <p:nvPr/>
        </p:nvSpPr>
        <p:spPr>
          <a:xfrm>
            <a:off x="5031740" y="647700"/>
            <a:ext cx="8225155" cy="560705"/>
          </a:xfrm>
          <a:prstGeom prst="rect">
            <a:avLst/>
          </a:prstGeom>
          <a:noFill/>
          <a:ln>
            <a:noFill/>
          </a:ln>
        </p:spPr>
        <p:txBody>
          <a:bodyPr anchorCtr="0" anchor="t" bIns="0" lIns="0" spcFirstLastPara="1" rIns="0" wrap="square" tIns="0">
            <a:spAutoFit/>
          </a:bodyPr>
          <a:lstStyle/>
          <a:p>
            <a:pPr indent="0" lvl="0" marL="0" marR="0" rtl="0" algn="l">
              <a:lnSpc>
                <a:spcPct val="54687"/>
              </a:lnSpc>
              <a:spcBef>
                <a:spcPts val="0"/>
              </a:spcBef>
              <a:spcAft>
                <a:spcPts val="0"/>
              </a:spcAft>
              <a:buNone/>
            </a:pPr>
            <a:r>
              <a:rPr b="1" lang="en-US" sz="8000" u="none" strike="noStrike">
                <a:solidFill>
                  <a:srgbClr val="C1FF72"/>
                </a:solidFill>
                <a:latin typeface="Calibri"/>
                <a:ea typeface="Calibri"/>
                <a:cs typeface="Calibri"/>
                <a:sym typeface="Calibri"/>
              </a:rPr>
              <a:t>CPU Scheduling</a:t>
            </a:r>
            <a:endParaRPr b="1" sz="8000" u="none" strike="noStrike">
              <a:solidFill>
                <a:srgbClr val="C1FF72"/>
              </a:solidFill>
              <a:latin typeface="Calibri"/>
              <a:ea typeface="Calibri"/>
              <a:cs typeface="Calibri"/>
              <a:sym typeface="Calibri"/>
            </a:endParaRPr>
          </a:p>
        </p:txBody>
      </p:sp>
      <p:sp>
        <p:nvSpPr>
          <p:cNvPr id="467" name="Google Shape;467;p20"/>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68" name="Google Shape;468;p20"/>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69" name="Google Shape;469;p20"/>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470" name="Google Shape;470;p20"/>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471" name="Google Shape;471;p20"/>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72" name="Google Shape;472;p20"/>
          <p:cNvSpPr txBox="1"/>
          <p:nvPr/>
        </p:nvSpPr>
        <p:spPr>
          <a:xfrm>
            <a:off x="381000" y="1613535"/>
            <a:ext cx="17265650" cy="8098790"/>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CPU scheduling</a:t>
            </a:r>
            <a:r>
              <a:rPr b="1" lang="en-US" sz="3000">
                <a:solidFill>
                  <a:schemeClr val="lt1"/>
                </a:solidFill>
                <a:latin typeface="Calibri"/>
                <a:ea typeface="Calibri"/>
                <a:cs typeface="Calibri"/>
                <a:sym typeface="Calibri"/>
              </a:rPr>
              <a:t> is a process that allows one process to use the CPU while the execution of another process is on hold(in waiting state) due to unavailability of any resource like I/O etc, thereby making full use of CPU. The aim of CPU scheduling is to make the system efficient, fast, and fair.</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chemeClr val="lt1"/>
                </a:solidFill>
                <a:latin typeface="Calibri"/>
                <a:ea typeface="Calibri"/>
                <a:cs typeface="Calibri"/>
                <a:sym typeface="Calibri"/>
              </a:rPr>
              <a:t>Whenever the CPU becomes idle, the operating system must select one of the processes in the ready queue to be executed. The selection process is carried out by the </a:t>
            </a:r>
            <a:r>
              <a:rPr b="1" lang="en-US" sz="3000">
                <a:solidFill>
                  <a:srgbClr val="C1FF72"/>
                </a:solidFill>
                <a:latin typeface="Calibri"/>
                <a:ea typeface="Calibri"/>
                <a:cs typeface="Calibri"/>
                <a:sym typeface="Calibri"/>
              </a:rPr>
              <a:t>short-term scheduler (or CPU scheduler)</a:t>
            </a:r>
            <a:r>
              <a:rPr b="1" lang="en-US" sz="3000">
                <a:solidFill>
                  <a:schemeClr val="lt1"/>
                </a:solidFill>
                <a:latin typeface="Calibri"/>
                <a:ea typeface="Calibri"/>
                <a:cs typeface="Calibri"/>
                <a:sym typeface="Calibri"/>
              </a:rPr>
              <a:t>. The scheduler selects from among the processes in memory that are ready to execute and allocates the CPU to one of them.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chemeClr val="lt1"/>
                </a:solidFill>
                <a:latin typeface="Calibri"/>
                <a:ea typeface="Calibri"/>
                <a:cs typeface="Calibri"/>
                <a:sym typeface="Calibri"/>
              </a:rPr>
              <a:t>In </a:t>
            </a:r>
            <a:r>
              <a:rPr b="1" lang="en-US" sz="3000">
                <a:solidFill>
                  <a:srgbClr val="C1FF72"/>
                </a:solidFill>
                <a:latin typeface="Calibri"/>
                <a:ea typeface="Calibri"/>
                <a:cs typeface="Calibri"/>
                <a:sym typeface="Calibri"/>
              </a:rPr>
              <a:t>Multiprogramming</a:t>
            </a:r>
            <a:r>
              <a:rPr b="1" lang="en-US" sz="3000">
                <a:solidFill>
                  <a:schemeClr val="lt1"/>
                </a:solidFill>
                <a:latin typeface="Calibri"/>
                <a:ea typeface="Calibri"/>
                <a:cs typeface="Calibri"/>
                <a:sym typeface="Calibri"/>
              </a:rPr>
              <a:t>, if the long-term scheduler selects </a:t>
            </a:r>
            <a:r>
              <a:rPr b="1" lang="en-US" sz="3000">
                <a:solidFill>
                  <a:srgbClr val="C1FF72"/>
                </a:solidFill>
                <a:latin typeface="Calibri"/>
                <a:ea typeface="Calibri"/>
                <a:cs typeface="Calibri"/>
                <a:sym typeface="Calibri"/>
              </a:rPr>
              <a:t>multiple I/O binding processes</a:t>
            </a:r>
            <a:r>
              <a:rPr b="1" lang="en-US" sz="3000">
                <a:solidFill>
                  <a:schemeClr val="lt1"/>
                </a:solidFill>
                <a:latin typeface="Calibri"/>
                <a:ea typeface="Calibri"/>
                <a:cs typeface="Calibri"/>
                <a:sym typeface="Calibri"/>
              </a:rPr>
              <a:t> then most of the time, the CPU remains idle. How does the CPU decide which process should be executed next from the ready queue for maximum utilization of the CPU? This procedure of "</a:t>
            </a:r>
            <a:r>
              <a:rPr b="1" lang="en-US" sz="3000">
                <a:solidFill>
                  <a:srgbClr val="C1FF72"/>
                </a:solidFill>
                <a:latin typeface="Calibri"/>
                <a:ea typeface="Calibri"/>
                <a:cs typeface="Calibri"/>
                <a:sym typeface="Calibri"/>
              </a:rPr>
              <a:t>scheduling</a:t>
            </a:r>
            <a:r>
              <a:rPr b="1" lang="en-US" sz="3000">
                <a:solidFill>
                  <a:schemeClr val="lt1"/>
                </a:solidFill>
                <a:latin typeface="Calibri"/>
                <a:ea typeface="Calibri"/>
                <a:cs typeface="Calibri"/>
                <a:sym typeface="Calibri"/>
              </a:rPr>
              <a:t>" the processes, is called </a:t>
            </a:r>
            <a:r>
              <a:rPr b="1" lang="en-US" sz="3000">
                <a:solidFill>
                  <a:srgbClr val="C1FF72"/>
                </a:solidFill>
                <a:latin typeface="Calibri"/>
                <a:ea typeface="Calibri"/>
                <a:cs typeface="Calibri"/>
                <a:sym typeface="Calibri"/>
              </a:rPr>
              <a:t>CPU scheduling</a:t>
            </a:r>
            <a:r>
              <a:rPr b="1" lang="en-US" sz="3000">
                <a:solidFill>
                  <a:schemeClr val="lt1"/>
                </a:solidFill>
                <a:latin typeface="Calibri"/>
                <a:ea typeface="Calibri"/>
                <a:cs typeface="Calibri"/>
                <a:sym typeface="Calibri"/>
              </a:rPr>
              <a:t>.</a:t>
            </a:r>
            <a:endParaRPr b="1" sz="3000">
              <a:solidFill>
                <a:schemeClr val="lt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478" name="Google Shape;478;p21"/>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79" name="Google Shape;479;p21"/>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80" name="Google Shape;480;p21"/>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81" name="Google Shape;481;p21"/>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482" name="Google Shape;482;p21"/>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483" name="Google Shape;483;p21"/>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84" name="Google Shape;484;p21"/>
          <p:cNvSpPr txBox="1"/>
          <p:nvPr/>
        </p:nvSpPr>
        <p:spPr>
          <a:xfrm>
            <a:off x="381000" y="563245"/>
            <a:ext cx="17265650" cy="9149080"/>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CPU Scheduling Time Terminologies:</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Arrival Time: </a:t>
            </a:r>
            <a:r>
              <a:rPr b="1" lang="en-US" sz="3000">
                <a:solidFill>
                  <a:schemeClr val="lt1"/>
                </a:solidFill>
                <a:latin typeface="Calibri"/>
                <a:ea typeface="Calibri"/>
                <a:cs typeface="Calibri"/>
                <a:sym typeface="Calibri"/>
              </a:rPr>
              <a:t>The time at which the process arrives in the ready queue.</a:t>
            </a:r>
            <a:endParaRPr b="1" sz="3000">
              <a:solidFill>
                <a:schemeClr val="lt1"/>
              </a:solidFill>
              <a:latin typeface="Calibri"/>
              <a:ea typeface="Calibri"/>
              <a:cs typeface="Calibri"/>
              <a:sym typeface="Calibri"/>
            </a:endParaRPr>
          </a:p>
          <a:p>
            <a:pPr indent="-266700" lvl="0" marL="45720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Completion Time: </a:t>
            </a:r>
            <a:r>
              <a:rPr b="1" lang="en-US" sz="3000">
                <a:solidFill>
                  <a:schemeClr val="lt1"/>
                </a:solidFill>
                <a:latin typeface="Calibri"/>
                <a:ea typeface="Calibri"/>
                <a:cs typeface="Calibri"/>
                <a:sym typeface="Calibri"/>
              </a:rPr>
              <a:t>The time at which the process completes its execution.</a:t>
            </a:r>
            <a:endParaRPr b="1" sz="3000">
              <a:solidFill>
                <a:schemeClr val="lt1"/>
              </a:solidFill>
              <a:latin typeface="Calibri"/>
              <a:ea typeface="Calibri"/>
              <a:cs typeface="Calibri"/>
              <a:sym typeface="Calibri"/>
            </a:endParaRPr>
          </a:p>
          <a:p>
            <a:pPr indent="-266700" lvl="0" marL="45720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Burst Time: </a:t>
            </a:r>
            <a:r>
              <a:rPr b="1" lang="en-US" sz="3000">
                <a:solidFill>
                  <a:schemeClr val="lt1"/>
                </a:solidFill>
                <a:latin typeface="Calibri"/>
                <a:ea typeface="Calibri"/>
                <a:cs typeface="Calibri"/>
                <a:sym typeface="Calibri"/>
              </a:rPr>
              <a:t>Time required by a process for CPU execution.</a:t>
            </a:r>
            <a:endParaRPr b="1" sz="3000">
              <a:solidFill>
                <a:schemeClr val="lt1"/>
              </a:solidFill>
              <a:latin typeface="Calibri"/>
              <a:ea typeface="Calibri"/>
              <a:cs typeface="Calibri"/>
              <a:sym typeface="Calibri"/>
            </a:endParaRPr>
          </a:p>
          <a:p>
            <a:pPr indent="-266700" lvl="0" marL="45720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Turn Around Time: </a:t>
            </a:r>
            <a:r>
              <a:rPr b="1" lang="en-US" sz="3000">
                <a:solidFill>
                  <a:schemeClr val="lt1"/>
                </a:solidFill>
                <a:latin typeface="Calibri"/>
                <a:ea typeface="Calibri"/>
                <a:cs typeface="Calibri"/>
                <a:sym typeface="Calibri"/>
              </a:rPr>
              <a:t>Time Difference between completion time and arrival time.</a:t>
            </a:r>
            <a:endParaRPr b="1" sz="3000">
              <a:solidFill>
                <a:schemeClr val="lt1"/>
              </a:solidFill>
              <a:latin typeface="Calibri"/>
              <a:ea typeface="Calibri"/>
              <a:cs typeface="Calibri"/>
              <a:sym typeface="Calibri"/>
            </a:endParaRPr>
          </a:p>
          <a:p>
            <a:pPr indent="-266700" lvl="6" marL="3200400" marR="0" rtl="0" algn="just">
              <a:lnSpc>
                <a:spcPct val="133000"/>
              </a:lnSpc>
              <a:spcBef>
                <a:spcPts val="0"/>
              </a:spcBef>
              <a:spcAft>
                <a:spcPts val="0"/>
              </a:spcAft>
              <a:buClr>
                <a:schemeClr val="dk1"/>
              </a:buClr>
              <a:buSzPts val="3000"/>
              <a:buFont typeface="Arial"/>
              <a:buNone/>
            </a:pPr>
            <a:r>
              <a:t/>
            </a:r>
            <a:endParaRPr b="1" i="0" sz="3000" u="none" cap="none" strike="noStrike">
              <a:solidFill>
                <a:schemeClr val="lt1"/>
              </a:solidFill>
              <a:latin typeface="Calibri"/>
              <a:ea typeface="Calibri"/>
              <a:cs typeface="Calibri"/>
              <a:sym typeface="Calibri"/>
            </a:endParaRPr>
          </a:p>
          <a:p>
            <a:pPr indent="-457200" lvl="6" marL="3200400" marR="0" rtl="0" algn="just">
              <a:lnSpc>
                <a:spcPct val="133000"/>
              </a:lnSpc>
              <a:spcBef>
                <a:spcPts val="0"/>
              </a:spcBef>
              <a:spcAft>
                <a:spcPts val="0"/>
              </a:spcAft>
              <a:buClr>
                <a:schemeClr val="lt1"/>
              </a:buClr>
              <a:buSzPts val="3000"/>
              <a:buFont typeface="Arial"/>
              <a:buChar char="•"/>
            </a:pPr>
            <a:r>
              <a:rPr b="1" i="0" lang="en-US" sz="3000" u="none" cap="none" strike="noStrike">
                <a:solidFill>
                  <a:schemeClr val="lt1"/>
                </a:solidFill>
                <a:highlight>
                  <a:srgbClr val="000080"/>
                </a:highlight>
                <a:latin typeface="Calibri"/>
                <a:ea typeface="Calibri"/>
                <a:cs typeface="Calibri"/>
                <a:sym typeface="Calibri"/>
              </a:rPr>
              <a:t>Turn Around Time = Completion Time  –  Arrival Time</a:t>
            </a:r>
            <a:endParaRPr b="1" i="0" sz="3000" u="none" cap="none" strike="noStrike">
              <a:solidFill>
                <a:schemeClr val="lt1"/>
              </a:solidFill>
              <a:highlight>
                <a:srgbClr val="000080"/>
              </a:highlight>
              <a:latin typeface="Calibri"/>
              <a:ea typeface="Calibri"/>
              <a:cs typeface="Calibri"/>
              <a:sym typeface="Calibri"/>
            </a:endParaRPr>
          </a:p>
          <a:p>
            <a:pPr indent="-266700" lvl="0" marL="457200" marR="0" rtl="0" algn="just">
              <a:lnSpc>
                <a:spcPct val="133000"/>
              </a:lnSpc>
              <a:spcBef>
                <a:spcPts val="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Waiting Time(W.T): </a:t>
            </a:r>
            <a:r>
              <a:rPr b="1" lang="en-US" sz="3000">
                <a:solidFill>
                  <a:schemeClr val="lt1"/>
                </a:solidFill>
                <a:latin typeface="Calibri"/>
                <a:ea typeface="Calibri"/>
                <a:cs typeface="Calibri"/>
                <a:sym typeface="Calibri"/>
              </a:rPr>
              <a:t>Time Difference between turn around time and burst time.</a:t>
            </a:r>
            <a:endParaRPr b="1" sz="3000">
              <a:solidFill>
                <a:schemeClr val="lt1"/>
              </a:solidFill>
              <a:latin typeface="Calibri"/>
              <a:ea typeface="Calibri"/>
              <a:cs typeface="Calibri"/>
              <a:sym typeface="Calibri"/>
            </a:endParaRPr>
          </a:p>
          <a:p>
            <a:pPr indent="-266700" lvl="6" marL="3200400" marR="0" rtl="0" algn="just">
              <a:lnSpc>
                <a:spcPct val="133000"/>
              </a:lnSpc>
              <a:spcBef>
                <a:spcPts val="0"/>
              </a:spcBef>
              <a:spcAft>
                <a:spcPts val="0"/>
              </a:spcAft>
              <a:buClr>
                <a:schemeClr val="dk1"/>
              </a:buClr>
              <a:buSzPts val="3000"/>
              <a:buFont typeface="Arial"/>
              <a:buNone/>
            </a:pPr>
            <a:r>
              <a:t/>
            </a:r>
            <a:endParaRPr b="1" i="0" sz="3000" u="none" cap="none" strike="noStrike">
              <a:solidFill>
                <a:schemeClr val="lt1"/>
              </a:solidFill>
              <a:latin typeface="Calibri"/>
              <a:ea typeface="Calibri"/>
              <a:cs typeface="Calibri"/>
              <a:sym typeface="Calibri"/>
            </a:endParaRPr>
          </a:p>
          <a:p>
            <a:pPr indent="457200" lvl="6" marL="2743200" marR="0" rtl="0" algn="just">
              <a:lnSpc>
                <a:spcPct val="133000"/>
              </a:lnSpc>
              <a:spcBef>
                <a:spcPts val="0"/>
              </a:spcBef>
              <a:spcAft>
                <a:spcPts val="0"/>
              </a:spcAft>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chemeClr val="lt1"/>
                </a:solidFill>
                <a:highlight>
                  <a:srgbClr val="000080"/>
                </a:highlight>
                <a:latin typeface="Calibri"/>
                <a:ea typeface="Calibri"/>
                <a:cs typeface="Calibri"/>
                <a:sym typeface="Calibri"/>
              </a:rPr>
              <a:t>Waiting Time = Turn Around Time  –  Burst Time </a:t>
            </a:r>
            <a:endParaRPr b="1" i="0" sz="3000" u="none" cap="none" strike="noStrike">
              <a:solidFill>
                <a:schemeClr val="lt1"/>
              </a:solidFill>
              <a:highlight>
                <a:srgbClr val="000080"/>
              </a:highlight>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2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490" name="Google Shape;490;p22"/>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91" name="Google Shape;491;p22"/>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92" name="Google Shape;492;p22"/>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93" name="Google Shape;493;p22"/>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494" name="Google Shape;494;p22"/>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495" name="Google Shape;495;p22"/>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96" name="Google Shape;496;p22"/>
          <p:cNvSpPr txBox="1"/>
          <p:nvPr/>
        </p:nvSpPr>
        <p:spPr>
          <a:xfrm>
            <a:off x="381000" y="563245"/>
            <a:ext cx="17265650" cy="9149080"/>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Types of CPU Scheduling Algorithms:</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Preemptive Scheduling: </a:t>
            </a:r>
            <a:r>
              <a:rPr b="1" lang="en-US" sz="3000">
                <a:solidFill>
                  <a:schemeClr val="lt1"/>
                </a:solidFill>
                <a:latin typeface="Calibri"/>
                <a:ea typeface="Calibri"/>
                <a:cs typeface="Calibri"/>
                <a:sym typeface="Calibri"/>
              </a:rPr>
              <a:t>Preemptive scheduling is used when a process switches from running state to ready state or from the waiting state to the ready state.</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Non-Preemptive Scheduling: </a:t>
            </a:r>
            <a:r>
              <a:rPr b="1" lang="en-US" sz="3000">
                <a:solidFill>
                  <a:schemeClr val="lt1"/>
                </a:solidFill>
                <a:latin typeface="Calibri"/>
                <a:ea typeface="Calibri"/>
                <a:cs typeface="Calibri"/>
                <a:sym typeface="Calibri"/>
              </a:rPr>
              <a:t>Non-Preemptive scheduling is used when a process terminates , or when a process switches from running state to waiting state.</a:t>
            </a:r>
            <a:endParaRPr b="1" sz="3000">
              <a:solidFill>
                <a:schemeClr val="lt1"/>
              </a:solidFill>
              <a:latin typeface="Calibri"/>
              <a:ea typeface="Calibri"/>
              <a:cs typeface="Calibri"/>
              <a:sym typeface="Calibri"/>
            </a:endParaRPr>
          </a:p>
        </p:txBody>
      </p:sp>
      <p:pic>
        <p:nvPicPr>
          <p:cNvPr descr="CPU-Scheduling" id="497" name="Google Shape;497;p22"/>
          <p:cNvPicPr preferRelativeResize="0"/>
          <p:nvPr/>
        </p:nvPicPr>
        <p:blipFill rotWithShape="1">
          <a:blip r:embed="rId5">
            <a:alphaModFix/>
          </a:blip>
          <a:srcRect b="0" l="0" r="0" t="0"/>
          <a:stretch/>
        </p:blipFill>
        <p:spPr>
          <a:xfrm>
            <a:off x="2355215" y="4381500"/>
            <a:ext cx="13316586" cy="5309870"/>
          </a:xfrm>
          <a:prstGeom prst="rect">
            <a:avLst/>
          </a:prstGeom>
          <a:noFill/>
          <a:ln>
            <a:noFill/>
          </a:ln>
        </p:spPr>
      </p:pic>
      <p:sp>
        <p:nvSpPr>
          <p:cNvPr id="498" name="Google Shape;498;p22"/>
          <p:cNvSpPr txBox="1"/>
          <p:nvPr/>
        </p:nvSpPr>
        <p:spPr>
          <a:xfrm>
            <a:off x="4114800" y="571500"/>
            <a:ext cx="9801225" cy="560705"/>
          </a:xfrm>
          <a:prstGeom prst="rect">
            <a:avLst/>
          </a:prstGeom>
          <a:noFill/>
          <a:ln>
            <a:noFill/>
          </a:ln>
        </p:spPr>
        <p:txBody>
          <a:bodyPr anchorCtr="0" anchor="t" bIns="0" lIns="0" spcFirstLastPara="1" rIns="0" wrap="square" tIns="0">
            <a:spAutoFit/>
          </a:bodyPr>
          <a:lstStyle/>
          <a:p>
            <a:pPr indent="0" lvl="0" marL="0" marR="0" rtl="0" algn="l">
              <a:lnSpc>
                <a:spcPct val="54687"/>
              </a:lnSpc>
              <a:spcBef>
                <a:spcPts val="0"/>
              </a:spcBef>
              <a:spcAft>
                <a:spcPts val="0"/>
              </a:spcAft>
              <a:buNone/>
            </a:pPr>
            <a:r>
              <a:rPr b="1" lang="en-US" sz="8000" u="none" strike="noStrike">
                <a:solidFill>
                  <a:srgbClr val="C1FF72"/>
                </a:solidFill>
                <a:latin typeface="Calibri"/>
                <a:ea typeface="Calibri"/>
                <a:cs typeface="Calibri"/>
                <a:sym typeface="Calibri"/>
              </a:rPr>
              <a:t>Scheduling Algorithms</a:t>
            </a:r>
            <a:endParaRPr b="1" sz="8000" u="none" strike="noStrike">
              <a:solidFill>
                <a:srgbClr val="C1FF72"/>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504" name="Google Shape;504;p23"/>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05" name="Google Shape;505;p23"/>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06" name="Google Shape;506;p23"/>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07" name="Google Shape;507;p23"/>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508" name="Google Shape;508;p23"/>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509" name="Google Shape;509;p23"/>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10" name="Google Shape;510;p23"/>
          <p:cNvSpPr txBox="1"/>
          <p:nvPr/>
        </p:nvSpPr>
        <p:spPr>
          <a:xfrm>
            <a:off x="381000" y="563245"/>
            <a:ext cx="17265650" cy="9149080"/>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Preemptive Scheduling Algorithms: </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chemeClr val="lt1"/>
                </a:solidFill>
                <a:latin typeface="Calibri"/>
                <a:ea typeface="Calibri"/>
                <a:cs typeface="Calibri"/>
                <a:sym typeface="Calibri"/>
              </a:rPr>
              <a:t>Preemptive scheduling allows the operating system to interrupt a running process and allocate CPU time to another process based on priority or execution time. Here are some common preemptive scheduling algorithms:</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1. Priority Scheduling (Preemptive)</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Each process is assigned a priority.</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 CPU is allocated to the highest-priority process.</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If a new process arrives with a higher priority, it preempts the current process.</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Advantage: </a:t>
            </a:r>
            <a:r>
              <a:rPr b="1" lang="en-US" sz="3000">
                <a:solidFill>
                  <a:schemeClr val="lt1"/>
                </a:solidFill>
                <a:latin typeface="Calibri"/>
                <a:ea typeface="Calibri"/>
                <a:cs typeface="Calibri"/>
                <a:sym typeface="Calibri"/>
              </a:rPr>
              <a:t>Ensures important tasks are executed first.</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Disadvantage:</a:t>
            </a:r>
            <a:r>
              <a:rPr b="1" lang="en-US" sz="3000">
                <a:solidFill>
                  <a:schemeClr val="lt1"/>
                </a:solidFill>
                <a:latin typeface="Calibri"/>
                <a:ea typeface="Calibri"/>
                <a:cs typeface="Calibri"/>
                <a:sym typeface="Calibri"/>
              </a:rPr>
              <a:t> Lower-priority processes may suffer starvation.</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2. Shortest Remaining Job First (SRTF)</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 process with the shortest remaining execution time is selected.</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If a new process arrives with a shorter remaining time, it preempts the current process.</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Advantage:</a:t>
            </a:r>
            <a:r>
              <a:rPr b="1" lang="en-US" sz="3000">
                <a:solidFill>
                  <a:schemeClr val="lt1"/>
                </a:solidFill>
                <a:latin typeface="Calibri"/>
                <a:ea typeface="Calibri"/>
                <a:cs typeface="Calibri"/>
                <a:sym typeface="Calibri"/>
              </a:rPr>
              <a:t> Minimizes average waiting time.</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Disadvantage:</a:t>
            </a:r>
            <a:r>
              <a:rPr b="1" lang="en-US" sz="3000">
                <a:solidFill>
                  <a:schemeClr val="lt1"/>
                </a:solidFill>
                <a:latin typeface="Calibri"/>
                <a:ea typeface="Calibri"/>
                <a:cs typeface="Calibri"/>
                <a:sym typeface="Calibri"/>
              </a:rPr>
              <a:t> Requires accurate burst time prediction.</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516" name="Google Shape;516;p24"/>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17" name="Google Shape;517;p24"/>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18" name="Google Shape;518;p24"/>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19" name="Google Shape;519;p24"/>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520" name="Google Shape;520;p24"/>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521" name="Google Shape;521;p24"/>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22" name="Google Shape;522;p24"/>
          <p:cNvSpPr txBox="1"/>
          <p:nvPr/>
        </p:nvSpPr>
        <p:spPr>
          <a:xfrm>
            <a:off x="381000" y="563245"/>
            <a:ext cx="17265650" cy="9149080"/>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3. Longest Remaining Job First (LRJF)</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 process with the longest remaining execution time is selected.</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If a new process arrives with a longer remaining time, it preempts the current process.</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Advantage:</a:t>
            </a:r>
            <a:r>
              <a:rPr b="1" lang="en-US" sz="3000">
                <a:solidFill>
                  <a:schemeClr val="lt1"/>
                </a:solidFill>
                <a:latin typeface="Calibri"/>
                <a:ea typeface="Calibri"/>
                <a:cs typeface="Calibri"/>
                <a:sym typeface="Calibri"/>
              </a:rPr>
              <a:t> Can be useful in specific scenarios where long processes need priority.</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Disadvantage:</a:t>
            </a:r>
            <a:r>
              <a:rPr b="1" lang="en-US" sz="3000">
                <a:solidFill>
                  <a:schemeClr val="lt1"/>
                </a:solidFill>
                <a:latin typeface="Calibri"/>
                <a:ea typeface="Calibri"/>
                <a:cs typeface="Calibri"/>
                <a:sym typeface="Calibri"/>
              </a:rPr>
              <a:t> Shorter tasks may experience delays.</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4. Round Robin (RR)</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Each process gets a fixed time slice (quantum).</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After the time slice expires, the process is preempted and moved to the back of the queue.</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Advantage:</a:t>
            </a:r>
            <a:r>
              <a:rPr b="1" lang="en-US" sz="3000">
                <a:solidFill>
                  <a:schemeClr val="lt1"/>
                </a:solidFill>
                <a:latin typeface="Calibri"/>
                <a:ea typeface="Calibri"/>
                <a:cs typeface="Calibri"/>
                <a:sym typeface="Calibri"/>
              </a:rPr>
              <a:t> Ensures fairness among processes.</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Disadvantage:</a:t>
            </a:r>
            <a:r>
              <a:rPr b="1" lang="en-US" sz="3000">
                <a:solidFill>
                  <a:schemeClr val="lt1"/>
                </a:solidFill>
                <a:latin typeface="Calibri"/>
                <a:ea typeface="Calibri"/>
                <a:cs typeface="Calibri"/>
                <a:sym typeface="Calibri"/>
              </a:rPr>
              <a:t> Frequent context switching can reduce efficiency.</a:t>
            </a:r>
            <a:endParaRPr b="1" sz="3000">
              <a:solidFill>
                <a:schemeClr val="lt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2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528" name="Google Shape;528;p25"/>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29" name="Google Shape;529;p25"/>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30" name="Google Shape;530;p25"/>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31" name="Google Shape;531;p25"/>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532" name="Google Shape;532;p25"/>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533" name="Google Shape;533;p25"/>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34" name="Google Shape;534;p25"/>
          <p:cNvSpPr txBox="1"/>
          <p:nvPr/>
        </p:nvSpPr>
        <p:spPr>
          <a:xfrm>
            <a:off x="381000" y="563245"/>
            <a:ext cx="17265650" cy="9149080"/>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Non-Preemptive Scheduling Algorithms:</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chemeClr val="lt1"/>
                </a:solidFill>
                <a:latin typeface="Calibri"/>
                <a:ea typeface="Calibri"/>
                <a:cs typeface="Calibri"/>
                <a:sym typeface="Calibri"/>
              </a:rPr>
              <a:t>Non-preemptive scheduling ensures that once a process starts execution, it cannot be interrupted until it either completes or voluntarily enters a waiting state. Here are some common non-preemptive scheduling algorithms:</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1. First Come First Serve (FCFS)</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Processes execute in the order they arrive.</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Implemented using a FIFO (First-In-First-Out) queue.</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Advantage: </a:t>
            </a:r>
            <a:r>
              <a:rPr b="1" lang="en-US" sz="3000">
                <a:solidFill>
                  <a:schemeClr val="lt1"/>
                </a:solidFill>
                <a:latin typeface="Calibri"/>
                <a:ea typeface="Calibri"/>
                <a:cs typeface="Calibri"/>
                <a:sym typeface="Calibri"/>
              </a:rPr>
              <a:t>Simple and easy to implement.</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Disadvantage:</a:t>
            </a:r>
            <a:r>
              <a:rPr b="1" lang="en-US" sz="3000">
                <a:solidFill>
                  <a:schemeClr val="lt1"/>
                </a:solidFill>
                <a:latin typeface="Calibri"/>
                <a:ea typeface="Calibri"/>
                <a:cs typeface="Calibri"/>
                <a:sym typeface="Calibri"/>
              </a:rPr>
              <a:t> Can lead to convoy effect, where long processes delay shorter ones.</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2. Shortest Job First (SJF)</a:t>
            </a:r>
            <a:endParaRPr b="1" sz="3000">
              <a:solidFill>
                <a:srgbClr val="C1FF72"/>
              </a:solidFill>
              <a:latin typeface="Calibri"/>
              <a:ea typeface="Calibri"/>
              <a:cs typeface="Calibri"/>
              <a:sym typeface="Calibri"/>
            </a:endParaRPr>
          </a:p>
          <a:p>
            <a:pPr indent="-457200" lvl="0" marL="457200" marR="0" rtl="0" algn="just">
              <a:lnSpc>
                <a:spcPct val="133000"/>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 process with the shortest burst time is executed first.</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Advantage:</a:t>
            </a:r>
            <a:r>
              <a:rPr b="1" lang="en-US" sz="3000">
                <a:solidFill>
                  <a:schemeClr val="lt1"/>
                </a:solidFill>
                <a:latin typeface="Calibri"/>
                <a:ea typeface="Calibri"/>
                <a:cs typeface="Calibri"/>
                <a:sym typeface="Calibri"/>
              </a:rPr>
              <a:t> Minimizes average waiting time.</a:t>
            </a:r>
            <a:endParaRPr b="1" sz="3000">
              <a:solidFill>
                <a:schemeClr val="lt1"/>
              </a:solidFill>
              <a:latin typeface="Calibri"/>
              <a:ea typeface="Calibri"/>
              <a:cs typeface="Calibri"/>
              <a:sym typeface="Calibri"/>
            </a:endParaRPr>
          </a:p>
          <a:p>
            <a:pPr indent="-457200" lvl="0" marL="457200" marR="0" rtl="0" algn="just">
              <a:lnSpc>
                <a:spcPct val="133000"/>
              </a:lnSpc>
              <a:spcBef>
                <a:spcPts val="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Disadvantage: </a:t>
            </a:r>
            <a:r>
              <a:rPr b="1" lang="en-US" sz="3000">
                <a:solidFill>
                  <a:schemeClr val="lt1"/>
                </a:solidFill>
                <a:latin typeface="Calibri"/>
                <a:ea typeface="Calibri"/>
                <a:cs typeface="Calibri"/>
                <a:sym typeface="Calibri"/>
              </a:rPr>
              <a:t>Can cause starvation for longer processes.</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2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540" name="Google Shape;540;p26"/>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41" name="Google Shape;541;p26"/>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42" name="Google Shape;542;p26"/>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43" name="Google Shape;543;p26"/>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544" name="Google Shape;544;p26"/>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545" name="Google Shape;545;p26"/>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46" name="Google Shape;546;p26"/>
          <p:cNvSpPr txBox="1"/>
          <p:nvPr/>
        </p:nvSpPr>
        <p:spPr>
          <a:xfrm>
            <a:off x="381000" y="563245"/>
            <a:ext cx="17265650" cy="9149080"/>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3. Longest Job First (LJF)</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chemeClr val="lt1"/>
                </a:solidFill>
                <a:latin typeface="Calibri"/>
                <a:ea typeface="Calibri"/>
                <a:cs typeface="Calibri"/>
                <a:sym typeface="Calibri"/>
              </a:rPr>
              <a:t>The process with the longest burst time is executed first.</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chemeClr val="lt1"/>
                </a:solidFill>
                <a:latin typeface="Calibri"/>
                <a:ea typeface="Calibri"/>
                <a:cs typeface="Calibri"/>
                <a:sym typeface="Calibri"/>
              </a:rPr>
              <a:t>Advantage: Ensures longer tasks get priority.</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chemeClr val="lt1"/>
                </a:solidFill>
                <a:latin typeface="Calibri"/>
                <a:ea typeface="Calibri"/>
                <a:cs typeface="Calibri"/>
                <a:sym typeface="Calibri"/>
              </a:rPr>
              <a:t>Disadvantage: Shorter tasks may experience delays.</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rgbClr val="C1FF72"/>
                </a:solidFill>
                <a:latin typeface="Calibri"/>
                <a:ea typeface="Calibri"/>
                <a:cs typeface="Calibri"/>
                <a:sym typeface="Calibri"/>
              </a:rPr>
              <a:t>4. Highest Response Ratio Next (HRRN)</a:t>
            </a:r>
            <a:endParaRPr b="1" sz="3000">
              <a:solidFill>
                <a:srgbClr val="C1FF72"/>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chemeClr val="lt1"/>
                </a:solidFill>
                <a:latin typeface="Calibri"/>
                <a:ea typeface="Calibri"/>
                <a:cs typeface="Calibri"/>
                <a:sym typeface="Calibri"/>
              </a:rPr>
              <a:t>Prioritizes processes based on response ratio: </a:t>
            </a:r>
            <a:endParaRPr b="1" sz="3000">
              <a:solidFill>
                <a:schemeClr val="lt1"/>
              </a:solidFill>
              <a:latin typeface="Calibri"/>
              <a:ea typeface="Calibri"/>
              <a:cs typeface="Calibri"/>
              <a:sym typeface="Calibri"/>
            </a:endParaRPr>
          </a:p>
          <a:p>
            <a:pPr indent="457200" lvl="1" marL="457200" marR="0" rtl="0" algn="just">
              <a:lnSpc>
                <a:spcPct val="133000"/>
              </a:lnSpc>
              <a:spcBef>
                <a:spcPts val="0"/>
              </a:spcBef>
              <a:spcAft>
                <a:spcPts val="0"/>
              </a:spcAft>
              <a:buNone/>
            </a:pPr>
            <a:r>
              <a:t/>
            </a:r>
            <a:endParaRPr b="1" i="0" sz="3000" u="none" cap="none" strike="noStrike">
              <a:solidFill>
                <a:schemeClr val="lt1"/>
              </a:solidFill>
              <a:latin typeface="Calibri"/>
              <a:ea typeface="Calibri"/>
              <a:cs typeface="Calibri"/>
              <a:sym typeface="Calibri"/>
            </a:endParaRPr>
          </a:p>
          <a:p>
            <a:pPr indent="457200" lvl="1" marL="457200" marR="0" rtl="0" algn="just">
              <a:lnSpc>
                <a:spcPct val="133000"/>
              </a:lnSpc>
              <a:spcBef>
                <a:spcPts val="0"/>
              </a:spcBef>
              <a:spcAft>
                <a:spcPts val="0"/>
              </a:spcAft>
              <a:buNone/>
            </a:pPr>
            <a:r>
              <a:rPr b="1" i="0" lang="en-US" sz="3000" u="none" cap="none" strike="noStrike">
                <a:solidFill>
                  <a:schemeClr val="lt1"/>
                </a:solidFill>
                <a:highlight>
                  <a:srgbClr val="000080"/>
                </a:highlight>
                <a:latin typeface="Calibri"/>
                <a:ea typeface="Calibri"/>
                <a:cs typeface="Calibri"/>
                <a:sym typeface="Calibri"/>
              </a:rPr>
              <a:t>[ \text{Response Ratio} = \frac{\text{Waiting Time} + \text{Burst Time}}{\text{Burst Time}} ]</a:t>
            </a:r>
            <a:endParaRPr b="1" i="0" sz="3000" u="none" cap="none" strike="noStrike">
              <a:solidFill>
                <a:schemeClr val="lt1"/>
              </a:solidFill>
              <a:highlight>
                <a:srgbClr val="000080"/>
              </a:highlight>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chemeClr val="lt1"/>
                </a:solidFill>
                <a:latin typeface="Calibri"/>
                <a:ea typeface="Calibri"/>
                <a:cs typeface="Calibri"/>
                <a:sym typeface="Calibri"/>
              </a:rPr>
              <a:t>Advantage: Balances fairness and efficiency.</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rPr b="1" lang="en-US" sz="3000">
                <a:solidFill>
                  <a:schemeClr val="lt1"/>
                </a:solidFill>
                <a:latin typeface="Calibri"/>
                <a:ea typeface="Calibri"/>
                <a:cs typeface="Calibri"/>
                <a:sym typeface="Calibri"/>
              </a:rPr>
              <a:t>Disadvantage: Requires complex calculations for response ratio.</a:t>
            </a:r>
            <a:endParaRPr b="1" sz="3000">
              <a:solidFill>
                <a:schemeClr val="lt1"/>
              </a:solidFill>
              <a:latin typeface="Calibri"/>
              <a:ea typeface="Calibri"/>
              <a:cs typeface="Calibri"/>
              <a:sym typeface="Calibri"/>
            </a:endParaRPr>
          </a:p>
          <a:p>
            <a:pPr indent="0" lvl="0" marL="0" marR="0" rtl="0" algn="just">
              <a:lnSpc>
                <a:spcPct val="133000"/>
              </a:lnSpc>
              <a:spcBef>
                <a:spcPts val="0"/>
              </a:spcBef>
              <a:spcAft>
                <a:spcPts val="0"/>
              </a:spcAft>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2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27"/>
          <p:cNvSpPr/>
          <p:nvPr/>
        </p:nvSpPr>
        <p:spPr>
          <a:xfrm>
            <a:off x="457388" y="11407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53" name="Google Shape;553;p27"/>
          <p:cNvSpPr txBox="1"/>
          <p:nvPr/>
        </p:nvSpPr>
        <p:spPr>
          <a:xfrm>
            <a:off x="3961770" y="266711"/>
            <a:ext cx="10364459" cy="89725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5000" u="none" strike="noStrike">
                <a:solidFill>
                  <a:srgbClr val="C1FF72"/>
                </a:solidFill>
                <a:latin typeface="IBM Plex Sans"/>
                <a:ea typeface="IBM Plex Sans"/>
                <a:cs typeface="IBM Plex Sans"/>
                <a:sym typeface="IBM Plex Sans"/>
              </a:rPr>
              <a:t>Synchronization Basics</a:t>
            </a:r>
            <a:endParaRPr b="1" sz="5000" u="none" strike="noStrike">
              <a:solidFill>
                <a:srgbClr val="C1FF72"/>
              </a:solidFill>
              <a:latin typeface="IBM Plex Sans"/>
              <a:ea typeface="IBM Plex Sans"/>
              <a:cs typeface="IBM Plex Sans"/>
              <a:sym typeface="IBM Plex Sans"/>
            </a:endParaRPr>
          </a:p>
        </p:txBody>
      </p:sp>
      <p:sp>
        <p:nvSpPr>
          <p:cNvPr id="554" name="Google Shape;554;p27"/>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55" name="Google Shape;555;p27"/>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56" name="Google Shape;556;p27"/>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557" name="Google Shape;557;p27"/>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558" name="Google Shape;558;p27"/>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59" name="Google Shape;559;p27"/>
          <p:cNvSpPr txBox="1"/>
          <p:nvPr/>
        </p:nvSpPr>
        <p:spPr>
          <a:xfrm>
            <a:off x="491490" y="1333500"/>
            <a:ext cx="17178020" cy="823023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Process Synchronization is used in a computer system to ensure that multiple processes or threads can run concurrently without interfering with each other.</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The main objective of process synchronization is to ensure that multiple processes access shared resources without interfering with each other and to prevent the possibility of inconsistent data due to concurrent access. To achieve this, various synchronization techniques such as semaphores, monitors, and critical sections are used.</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In a multi-process system, synchronization is necessary to ensure data consistency and integrity, and to avoid the risk of deadlocks and other synchronization problems. Process synchronization is an important aspect of modern operating systems, and it plays a crucial role in ensuring the correct and efficient functioning of multi-process systems.</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On the basis of synchronization, processes are categorized as one of the following two types:</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Independent Process:</a:t>
            </a:r>
            <a:r>
              <a:rPr b="1" lang="en-US" sz="3000">
                <a:solidFill>
                  <a:schemeClr val="lt1"/>
                </a:solidFill>
                <a:latin typeface="Calibri"/>
                <a:ea typeface="Calibri"/>
                <a:cs typeface="Calibri"/>
                <a:sym typeface="Calibri"/>
              </a:rPr>
              <a:t> The execution of one process does not affect the execution of other processes.</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Cooperative Process: </a:t>
            </a:r>
            <a:r>
              <a:rPr b="1" lang="en-US" sz="3000">
                <a:solidFill>
                  <a:schemeClr val="lt1"/>
                </a:solidFill>
                <a:latin typeface="Calibri"/>
                <a:ea typeface="Calibri"/>
                <a:cs typeface="Calibri"/>
                <a:sym typeface="Calibri"/>
              </a:rPr>
              <a:t>A process that can affect or be affected by other processes executing in the system.</a:t>
            </a:r>
            <a:endParaRPr b="1" sz="3000">
              <a:solidFill>
                <a:schemeClr val="lt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28"/>
          <p:cNvSpPr/>
          <p:nvPr/>
        </p:nvSpPr>
        <p:spPr>
          <a:xfrm>
            <a:off x="0" y="3810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28"/>
          <p:cNvSpPr/>
          <p:nvPr/>
        </p:nvSpPr>
        <p:spPr>
          <a:xfrm>
            <a:off x="457388" y="11407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66" name="Google Shape;566;p28"/>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67" name="Google Shape;567;p28"/>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68" name="Google Shape;568;p28"/>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569" name="Google Shape;569;p28"/>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570" name="Google Shape;570;p28"/>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71" name="Google Shape;571;p28"/>
          <p:cNvSpPr txBox="1"/>
          <p:nvPr/>
        </p:nvSpPr>
        <p:spPr>
          <a:xfrm>
            <a:off x="491490" y="593725"/>
            <a:ext cx="17193260" cy="8970010"/>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Process Synchronization</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Process Synchronization is the coordination of execution of multiple processes in a multi-process system to ensure that they access shared resources in a controlled and predictable manner. It aims to resolve the problem of race conditions and other synchronization issues in a concurrent system.</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1. Lack of Synchronization in Inter Process Communication Environment leads to following problems:</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Inconsistency: </a:t>
            </a:r>
            <a:r>
              <a:rPr b="1" lang="en-US" sz="3000">
                <a:solidFill>
                  <a:schemeClr val="lt1"/>
                </a:solidFill>
                <a:latin typeface="Calibri"/>
                <a:ea typeface="Calibri"/>
                <a:cs typeface="Calibri"/>
                <a:sym typeface="Calibri"/>
              </a:rPr>
              <a:t>When two or more processes access shared data at the same time without proper synchronization. This can lead to conflicting changes, where one process’s update is overwritten by another, causing the data to become unreliable and incorrect.</a:t>
            </a:r>
            <a:endParaRPr b="1" sz="3000">
              <a:solidFill>
                <a:schemeClr val="lt1"/>
              </a:solidFill>
              <a:latin typeface="Calibri"/>
              <a:ea typeface="Calibri"/>
              <a:cs typeface="Calibri"/>
              <a:sym typeface="Calibri"/>
            </a:endParaRPr>
          </a:p>
        </p:txBody>
      </p:sp>
      <p:pic>
        <p:nvPicPr>
          <p:cNvPr descr="imgk" id="572" name="Google Shape;572;p28"/>
          <p:cNvPicPr preferRelativeResize="0"/>
          <p:nvPr/>
        </p:nvPicPr>
        <p:blipFill rotWithShape="1">
          <a:blip r:embed="rId5">
            <a:alphaModFix/>
          </a:blip>
          <a:srcRect b="0" l="0" r="0" t="0"/>
          <a:stretch/>
        </p:blipFill>
        <p:spPr>
          <a:xfrm>
            <a:off x="4800600" y="2781300"/>
            <a:ext cx="8639175" cy="4191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2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29"/>
          <p:cNvSpPr/>
          <p:nvPr/>
        </p:nvSpPr>
        <p:spPr>
          <a:xfrm>
            <a:off x="457388" y="11407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79" name="Google Shape;579;p29"/>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80" name="Google Shape;580;p29"/>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81" name="Google Shape;581;p29"/>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582" name="Google Shape;582;p29"/>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583" name="Google Shape;583;p29"/>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84" name="Google Shape;584;p29"/>
          <p:cNvSpPr txBox="1"/>
          <p:nvPr/>
        </p:nvSpPr>
        <p:spPr>
          <a:xfrm>
            <a:off x="491490" y="593725"/>
            <a:ext cx="17193260" cy="9344660"/>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2. Loss of Data:</a:t>
            </a:r>
            <a:r>
              <a:rPr b="1" lang="en-US" sz="3000">
                <a:solidFill>
                  <a:schemeClr val="lt1"/>
                </a:solidFill>
                <a:latin typeface="Calibri"/>
                <a:ea typeface="Calibri"/>
                <a:cs typeface="Calibri"/>
                <a:sym typeface="Calibri"/>
              </a:rPr>
              <a:t> Loss of data occurs when multiple processes try to write or modify the same shared resource without coordination. If one process overwrites the data before another process finishes, important information can be lost, leading to incomplete or corrupted data.</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3 Deadlock:</a:t>
            </a:r>
            <a:r>
              <a:rPr b="1" lang="en-US" sz="3000">
                <a:solidFill>
                  <a:schemeClr val="lt1"/>
                </a:solidFill>
                <a:latin typeface="Calibri"/>
                <a:ea typeface="Calibri"/>
                <a:cs typeface="Calibri"/>
                <a:sym typeface="Calibri"/>
              </a:rPr>
              <a:t> Lack of Synchronization leads to Deadlock which means that two or more processes get stuck, each waiting for the other to release a resource. Because none of the processes can continue, the system becomes unresponsive and none of the processes can complete their tasks.</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Types of Process Synchronization</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The two primary type of process Synchronization in an Operating System are:</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Competitive:</a:t>
            </a:r>
            <a:r>
              <a:rPr b="1" lang="en-US" sz="3000">
                <a:solidFill>
                  <a:schemeClr val="lt1"/>
                </a:solidFill>
                <a:latin typeface="Calibri"/>
                <a:ea typeface="Calibri"/>
                <a:cs typeface="Calibri"/>
                <a:sym typeface="Calibri"/>
              </a:rPr>
              <a:t> Two or more processes are said to be in Competitive Synchronization if and only if they compete for the accessibility of a shared resource.</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Cooperative:</a:t>
            </a:r>
            <a:r>
              <a:rPr b="1" lang="en-US" sz="3000">
                <a:solidFill>
                  <a:schemeClr val="lt1"/>
                </a:solidFill>
                <a:latin typeface="Calibri"/>
                <a:ea typeface="Calibri"/>
                <a:cs typeface="Calibri"/>
                <a:sym typeface="Calibri"/>
              </a:rPr>
              <a:t> Two or more processes are said to be in Cooperative Synchronization if and only if they get affected by each other i.e. execution of one process affects the other process.</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3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30"/>
          <p:cNvSpPr/>
          <p:nvPr/>
        </p:nvSpPr>
        <p:spPr>
          <a:xfrm>
            <a:off x="457388" y="11407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91" name="Google Shape;591;p30"/>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92" name="Google Shape;592;p30"/>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93" name="Google Shape;593;p30"/>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594" name="Google Shape;594;p30"/>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595" name="Google Shape;595;p30"/>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96" name="Google Shape;596;p30"/>
          <p:cNvSpPr txBox="1"/>
          <p:nvPr/>
        </p:nvSpPr>
        <p:spPr>
          <a:xfrm>
            <a:off x="491490" y="1479550"/>
            <a:ext cx="17193260" cy="845883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Synchronization techniques </a:t>
            </a:r>
            <a:r>
              <a:rPr b="1" lang="en-US" sz="3000">
                <a:solidFill>
                  <a:schemeClr val="lt1"/>
                </a:solidFill>
                <a:latin typeface="Calibri"/>
                <a:ea typeface="Calibri"/>
                <a:cs typeface="Calibri"/>
                <a:sym typeface="Calibri"/>
              </a:rPr>
              <a:t>refer to methods used in computing to coordinate multiple processes or threads so they can work together efficiently without conflicts. These techniques ensure that shared resources are accessed in a controlled manner, preventing issues like </a:t>
            </a:r>
            <a:r>
              <a:rPr b="1" lang="en-US" sz="3000">
                <a:solidFill>
                  <a:srgbClr val="C1FF72"/>
                </a:solidFill>
                <a:latin typeface="Calibri"/>
                <a:ea typeface="Calibri"/>
                <a:cs typeface="Calibri"/>
                <a:sym typeface="Calibri"/>
              </a:rPr>
              <a:t>race conditions</a:t>
            </a:r>
            <a:r>
              <a:rPr b="1" lang="en-US" sz="3000">
                <a:solidFill>
                  <a:schemeClr val="lt1"/>
                </a:solidFill>
                <a:latin typeface="Calibri"/>
                <a:ea typeface="Calibri"/>
                <a:cs typeface="Calibri"/>
                <a:sym typeface="Calibri"/>
              </a:rPr>
              <a:t>, </a:t>
            </a:r>
            <a:r>
              <a:rPr b="1" lang="en-US" sz="3000">
                <a:solidFill>
                  <a:srgbClr val="C1FF72"/>
                </a:solidFill>
                <a:latin typeface="Calibri"/>
                <a:ea typeface="Calibri"/>
                <a:cs typeface="Calibri"/>
                <a:sym typeface="Calibri"/>
              </a:rPr>
              <a:t>deadlocks</a:t>
            </a:r>
            <a:r>
              <a:rPr b="1" lang="en-US" sz="3000">
                <a:solidFill>
                  <a:schemeClr val="lt1"/>
                </a:solidFill>
                <a:latin typeface="Calibri"/>
                <a:ea typeface="Calibri"/>
                <a:cs typeface="Calibri"/>
                <a:sym typeface="Calibri"/>
              </a:rPr>
              <a:t>, and </a:t>
            </a:r>
            <a:r>
              <a:rPr b="1" lang="en-US" sz="3000">
                <a:solidFill>
                  <a:srgbClr val="C1FF72"/>
                </a:solidFill>
                <a:latin typeface="Calibri"/>
                <a:ea typeface="Calibri"/>
                <a:cs typeface="Calibri"/>
                <a:sym typeface="Calibri"/>
              </a:rPr>
              <a:t>data inconsistencies</a:t>
            </a:r>
            <a:r>
              <a:rPr b="1" lang="en-US" sz="3000">
                <a:solidFill>
                  <a:schemeClr val="lt1"/>
                </a:solidFill>
                <a:latin typeface="Calibri"/>
                <a:ea typeface="Calibri"/>
                <a:cs typeface="Calibri"/>
                <a:sym typeface="Calibri"/>
              </a:rPr>
              <a:t>.</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1. Mutual Exclusion (Mutex)</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Mutual exclusion ensures that only one process accesses a shared resource at a time. This prevents multiple processes from modifying the same data simultaneously.</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Methods of Mutual Exclusion:</a:t>
            </a:r>
            <a:endParaRPr b="1" sz="3000">
              <a:solidFill>
                <a:srgbClr val="C1FF72"/>
              </a:solidFill>
              <a:latin typeface="Calibri"/>
              <a:ea typeface="Calibri"/>
              <a:cs typeface="Calibri"/>
              <a:sym typeface="Calibri"/>
            </a:endParaRPr>
          </a:p>
          <a:p>
            <a:pPr indent="-457200" lvl="0" marL="457200" marR="0" rtl="0" algn="just">
              <a:lnSpc>
                <a:spcPct val="115000"/>
              </a:lnSpc>
              <a:spcBef>
                <a:spcPts val="70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Mutex Locks:</a:t>
            </a:r>
            <a:r>
              <a:rPr b="1" lang="en-US" sz="3000">
                <a:solidFill>
                  <a:schemeClr val="lt1"/>
                </a:solidFill>
                <a:latin typeface="Calibri"/>
                <a:ea typeface="Calibri"/>
                <a:cs typeface="Calibri"/>
                <a:sym typeface="Calibri"/>
              </a:rPr>
              <a:t> Ensures that only one process/thread enters the critical section at a time.</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Spinlocks:</a:t>
            </a:r>
            <a:r>
              <a:rPr b="1" lang="en-US" sz="3000">
                <a:solidFill>
                  <a:schemeClr val="lt1"/>
                </a:solidFill>
                <a:latin typeface="Calibri"/>
                <a:ea typeface="Calibri"/>
                <a:cs typeface="Calibri"/>
                <a:sym typeface="Calibri"/>
              </a:rPr>
              <a:t> Continuously checks if the lock is available (used in busy waiting).</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Test-and-Set Lock: </a:t>
            </a:r>
            <a:r>
              <a:rPr b="1" lang="en-US" sz="3000">
                <a:solidFill>
                  <a:schemeClr val="lt1"/>
                </a:solidFill>
                <a:latin typeface="Calibri"/>
                <a:ea typeface="Calibri"/>
                <a:cs typeface="Calibri"/>
                <a:sym typeface="Calibri"/>
              </a:rPr>
              <a:t>Atomic operation to check and set the lock in one step.</a:t>
            </a:r>
            <a:endParaRPr b="1" sz="3000">
              <a:solidFill>
                <a:schemeClr val="lt1"/>
              </a:solidFill>
              <a:latin typeface="Calibri"/>
              <a:ea typeface="Calibri"/>
              <a:cs typeface="Calibri"/>
              <a:sym typeface="Calibri"/>
            </a:endParaRPr>
          </a:p>
          <a:p>
            <a:pPr indent="-266700" lvl="0" marL="457200" marR="0" rtl="0" algn="just">
              <a:lnSpc>
                <a:spcPct val="115000"/>
              </a:lnSpc>
              <a:spcBef>
                <a:spcPts val="70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p:txBody>
      </p:sp>
      <p:sp>
        <p:nvSpPr>
          <p:cNvPr id="597" name="Google Shape;597;p30"/>
          <p:cNvSpPr txBox="1"/>
          <p:nvPr/>
        </p:nvSpPr>
        <p:spPr>
          <a:xfrm>
            <a:off x="4114800" y="571500"/>
            <a:ext cx="9801300" cy="560700"/>
          </a:xfrm>
          <a:prstGeom prst="rect">
            <a:avLst/>
          </a:prstGeom>
          <a:noFill/>
          <a:ln>
            <a:noFill/>
          </a:ln>
        </p:spPr>
        <p:txBody>
          <a:bodyPr anchorCtr="0" anchor="t" bIns="0" lIns="0" spcFirstLastPara="1" rIns="0" wrap="square" tIns="0">
            <a:spAutoFit/>
          </a:bodyPr>
          <a:lstStyle/>
          <a:p>
            <a:pPr indent="0" lvl="0" marL="0" marR="0" rtl="0" algn="l">
              <a:lnSpc>
                <a:spcPct val="54687"/>
              </a:lnSpc>
              <a:spcBef>
                <a:spcPts val="0"/>
              </a:spcBef>
              <a:spcAft>
                <a:spcPts val="0"/>
              </a:spcAft>
              <a:buNone/>
            </a:pPr>
            <a:r>
              <a:rPr b="1" lang="en-US" sz="8000" u="none" strike="noStrike">
                <a:solidFill>
                  <a:srgbClr val="C1FF72"/>
                </a:solidFill>
                <a:latin typeface="Calibri"/>
                <a:ea typeface="Calibri"/>
                <a:cs typeface="Calibri"/>
                <a:sym typeface="Calibri"/>
              </a:rPr>
              <a:t>Scheduling </a:t>
            </a:r>
            <a:r>
              <a:rPr b="1" lang="en-US" sz="8000" u="none" strike="noStrike">
                <a:solidFill>
                  <a:srgbClr val="C1FF72"/>
                </a:solidFill>
                <a:latin typeface="Calibri"/>
                <a:ea typeface="Calibri"/>
                <a:cs typeface="Calibri"/>
                <a:sym typeface="Calibri"/>
              </a:rPr>
              <a:t>Techniques</a:t>
            </a:r>
            <a:endParaRPr b="1" sz="8000" u="none" strike="noStrike">
              <a:solidFill>
                <a:srgbClr val="C1FF72"/>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3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p31"/>
          <p:cNvSpPr/>
          <p:nvPr/>
        </p:nvSpPr>
        <p:spPr>
          <a:xfrm>
            <a:off x="457388" y="11407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04" name="Google Shape;604;p31"/>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605" name="Google Shape;605;p31"/>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606" name="Google Shape;606;p31"/>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607" name="Google Shape;607;p31"/>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608" name="Google Shape;608;p31"/>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609" name="Google Shape;609;p31"/>
          <p:cNvSpPr txBox="1"/>
          <p:nvPr/>
        </p:nvSpPr>
        <p:spPr>
          <a:xfrm>
            <a:off x="491490" y="416560"/>
            <a:ext cx="17193260" cy="952182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 2. Semaphores</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Semaphores are integer variables used for process synchronization. They help manage resource allocation in a controlled manner.</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Types of Semaphores:</a:t>
            </a:r>
            <a:endParaRPr b="1" sz="3000">
              <a:solidFill>
                <a:srgbClr val="C1FF72"/>
              </a:solidFill>
              <a:latin typeface="Calibri"/>
              <a:ea typeface="Calibri"/>
              <a:cs typeface="Calibri"/>
              <a:sym typeface="Calibri"/>
            </a:endParaRPr>
          </a:p>
          <a:p>
            <a:pPr indent="-457200" lvl="0" marL="457200" marR="0" rtl="0" algn="just">
              <a:lnSpc>
                <a:spcPct val="115000"/>
              </a:lnSpc>
              <a:spcBef>
                <a:spcPts val="70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Binary Semaphore:</a:t>
            </a:r>
            <a:r>
              <a:rPr b="1" lang="en-US" sz="3000">
                <a:solidFill>
                  <a:schemeClr val="lt1"/>
                </a:solidFill>
                <a:latin typeface="Calibri"/>
                <a:ea typeface="Calibri"/>
                <a:cs typeface="Calibri"/>
                <a:sym typeface="Calibri"/>
              </a:rPr>
              <a:t> Works like a simple lock (values: 0 or 1).</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Counting Semaphore: </a:t>
            </a:r>
            <a:r>
              <a:rPr b="1" lang="en-US" sz="3000">
                <a:solidFill>
                  <a:schemeClr val="lt1"/>
                </a:solidFill>
                <a:latin typeface="Calibri"/>
                <a:ea typeface="Calibri"/>
                <a:cs typeface="Calibri"/>
                <a:sym typeface="Calibri"/>
              </a:rPr>
              <a:t>Manages access for multiple processes to a resource (useful for limiting access).</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Operations:</a:t>
            </a:r>
            <a:endParaRPr b="1" sz="3000">
              <a:solidFill>
                <a:srgbClr val="C1FF72"/>
              </a:solidFill>
              <a:latin typeface="Calibri"/>
              <a:ea typeface="Calibri"/>
              <a:cs typeface="Calibri"/>
              <a:sym typeface="Calibri"/>
            </a:endParaRPr>
          </a:p>
          <a:p>
            <a:pPr indent="-457200" lvl="0" marL="457200" marR="0" rtl="0" algn="just">
              <a:lnSpc>
                <a:spcPct val="115000"/>
              </a:lnSpc>
              <a:spcBef>
                <a:spcPts val="70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wait() (P):</a:t>
            </a:r>
            <a:r>
              <a:rPr b="1" lang="en-US" sz="3000">
                <a:solidFill>
                  <a:schemeClr val="lt1"/>
                </a:solidFill>
                <a:latin typeface="Calibri"/>
                <a:ea typeface="Calibri"/>
                <a:cs typeface="Calibri"/>
                <a:sym typeface="Calibri"/>
              </a:rPr>
              <a:t> Decreases the semaphore value; if it reaches zero, the process waits.</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rgbClr val="C1FF72"/>
              </a:buClr>
              <a:buSzPts val="3000"/>
              <a:buFont typeface="Arial"/>
              <a:buChar char="•"/>
            </a:pPr>
            <a:r>
              <a:rPr b="1" lang="en-US" sz="3000">
                <a:solidFill>
                  <a:srgbClr val="C1FF72"/>
                </a:solidFill>
                <a:latin typeface="Calibri"/>
                <a:ea typeface="Calibri"/>
                <a:cs typeface="Calibri"/>
                <a:sym typeface="Calibri"/>
              </a:rPr>
              <a:t>signal() (V):</a:t>
            </a:r>
            <a:r>
              <a:rPr b="1" lang="en-US" sz="3000">
                <a:solidFill>
                  <a:schemeClr val="lt1"/>
                </a:solidFill>
                <a:latin typeface="Calibri"/>
                <a:ea typeface="Calibri"/>
                <a:cs typeface="Calibri"/>
                <a:sym typeface="Calibri"/>
              </a:rPr>
              <a:t> Increases the semaphore value, allowing another process to enter.</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 3. Monitors</a:t>
            </a:r>
            <a:endParaRPr b="1" sz="3000">
              <a:solidFill>
                <a:srgbClr val="C1FF72"/>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Arial"/>
              <a:buNone/>
            </a:pPr>
            <a:r>
              <a:rPr b="1" lang="en-US" sz="3000">
                <a:solidFill>
                  <a:schemeClr val="lt1"/>
                </a:solidFill>
                <a:latin typeface="Calibri"/>
                <a:ea typeface="Calibri"/>
                <a:cs typeface="Calibri"/>
                <a:sym typeface="Calibri"/>
              </a:rPr>
              <a:t>Monitors are high-level synchronization constructs that encapsulate shared resources, allowing safe access through predefined procedures.</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Components of Monitors:</a:t>
            </a:r>
            <a:endParaRPr b="1" sz="3000">
              <a:solidFill>
                <a:srgbClr val="C1FF72"/>
              </a:solidFill>
              <a:latin typeface="Calibri"/>
              <a:ea typeface="Calibri"/>
              <a:cs typeface="Calibri"/>
              <a:sym typeface="Calibri"/>
            </a:endParaRPr>
          </a:p>
          <a:p>
            <a:pPr indent="0" lvl="0" marL="0" marR="0" rtl="0" algn="just">
              <a:lnSpc>
                <a:spcPct val="115000"/>
              </a:lnSpc>
              <a:spcBef>
                <a:spcPts val="70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Condition Variables:</a:t>
            </a:r>
            <a:r>
              <a:rPr b="1" lang="en-US" sz="3000">
                <a:solidFill>
                  <a:schemeClr val="lt1"/>
                </a:solidFill>
                <a:latin typeface="Calibri"/>
                <a:ea typeface="Calibri"/>
                <a:cs typeface="Calibri"/>
                <a:sym typeface="Calibri"/>
              </a:rPr>
              <a:t> Used to block a process until a certain condition is met.</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rgbClr val="C1FF72"/>
              </a:buClr>
              <a:buSzPts val="3000"/>
              <a:buFont typeface="Arial"/>
              <a:buNone/>
            </a:pPr>
            <a:r>
              <a:rPr b="1" lang="en-US" sz="3000">
                <a:solidFill>
                  <a:srgbClr val="C1FF72"/>
                </a:solidFill>
                <a:latin typeface="Calibri"/>
                <a:ea typeface="Calibri"/>
                <a:cs typeface="Calibri"/>
                <a:sym typeface="Calibri"/>
              </a:rPr>
              <a:t>Entry &amp; Exit Procedures:</a:t>
            </a:r>
            <a:r>
              <a:rPr b="1" lang="en-US" sz="3000">
                <a:solidFill>
                  <a:schemeClr val="lt1"/>
                </a:solidFill>
                <a:latin typeface="Calibri"/>
                <a:ea typeface="Calibri"/>
                <a:cs typeface="Calibri"/>
                <a:sym typeface="Calibri"/>
              </a:rPr>
              <a:t> Ensures controlled access to shared data.</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3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5" name="Google Shape;615;p32"/>
          <p:cNvSpPr/>
          <p:nvPr/>
        </p:nvSpPr>
        <p:spPr>
          <a:xfrm>
            <a:off x="457388" y="11407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16" name="Google Shape;616;p32"/>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617" name="Google Shape;617;p32"/>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618" name="Google Shape;618;p32"/>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619" name="Google Shape;619;p32"/>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620" name="Google Shape;620;p32"/>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621" name="Google Shape;621;p32"/>
          <p:cNvSpPr txBox="1"/>
          <p:nvPr/>
        </p:nvSpPr>
        <p:spPr>
          <a:xfrm>
            <a:off x="491490" y="416560"/>
            <a:ext cx="17193260" cy="952182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 4. Message Passing</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In distributed systems, synchronization is achieved using message passing instead of shared memory.</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Types of Message Passing:</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Direct Communication: </a:t>
            </a:r>
            <a:r>
              <a:rPr b="1" lang="en-US" sz="3000">
                <a:solidFill>
                  <a:schemeClr val="lt1"/>
                </a:solidFill>
                <a:latin typeface="Calibri"/>
                <a:ea typeface="Calibri"/>
                <a:cs typeface="Calibri"/>
                <a:sym typeface="Calibri"/>
              </a:rPr>
              <a:t>Processes send messages directly to each other.</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Indirect Communication: </a:t>
            </a:r>
            <a:r>
              <a:rPr b="1" lang="en-US" sz="3000">
                <a:solidFill>
                  <a:schemeClr val="lt1"/>
                </a:solidFill>
                <a:latin typeface="Calibri"/>
                <a:ea typeface="Calibri"/>
                <a:cs typeface="Calibri"/>
                <a:sym typeface="Calibri"/>
              </a:rPr>
              <a:t>Messages are exchanged through a shared mailbox.</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a:t>
            </a:r>
            <a:r>
              <a:rPr b="1" lang="en-US" sz="3000">
                <a:solidFill>
                  <a:srgbClr val="C1FF72"/>
                </a:solidFill>
                <a:latin typeface="Calibri"/>
                <a:ea typeface="Calibri"/>
                <a:cs typeface="Calibri"/>
                <a:sym typeface="Calibri"/>
              </a:rPr>
              <a:t>5. Critical Section Handling</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A critical section is a portion of code that modifies shared resources. The OS ensures only one process executes the critical section at a time.</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Solutions for Critical Section Problems:</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Peterson’s Algorithm:</a:t>
            </a:r>
            <a:r>
              <a:rPr b="1" lang="en-US" sz="3000">
                <a:solidFill>
                  <a:schemeClr val="lt1"/>
                </a:solidFill>
                <a:latin typeface="Calibri"/>
                <a:ea typeface="Calibri"/>
                <a:cs typeface="Calibri"/>
                <a:sym typeface="Calibri"/>
              </a:rPr>
              <a:t> Software-based mutual exclusion method.</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Bakery Algorithm: </a:t>
            </a:r>
            <a:r>
              <a:rPr b="1" lang="en-US" sz="3000">
                <a:solidFill>
                  <a:schemeClr val="lt1"/>
                </a:solidFill>
                <a:latin typeface="Calibri"/>
                <a:ea typeface="Calibri"/>
                <a:cs typeface="Calibri"/>
                <a:sym typeface="Calibri"/>
              </a:rPr>
              <a:t>Assigns ticket numbers to processes for ordering execution.</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Test-and-Set &amp; Compare-and-Swap:</a:t>
            </a:r>
            <a:r>
              <a:rPr b="1" lang="en-US" sz="3000">
                <a:solidFill>
                  <a:schemeClr val="lt1"/>
                </a:solidFill>
                <a:latin typeface="Calibri"/>
                <a:ea typeface="Calibri"/>
                <a:cs typeface="Calibri"/>
                <a:sym typeface="Calibri"/>
              </a:rPr>
              <a:t> Atomic operations used in synchronization.</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3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7" name="Google Shape;627;p33"/>
          <p:cNvSpPr/>
          <p:nvPr/>
        </p:nvSpPr>
        <p:spPr>
          <a:xfrm>
            <a:off x="457388" y="11407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28" name="Google Shape;628;p33"/>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629" name="Google Shape;629;p33"/>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630" name="Google Shape;630;p33"/>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631" name="Google Shape;631;p33"/>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632" name="Google Shape;632;p33"/>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633" name="Google Shape;633;p33"/>
          <p:cNvSpPr txBox="1"/>
          <p:nvPr/>
        </p:nvSpPr>
        <p:spPr>
          <a:xfrm>
            <a:off x="491490" y="416560"/>
            <a:ext cx="17193260" cy="952182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6. Barrier Synchronization</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In </a:t>
            </a:r>
            <a:r>
              <a:rPr b="1" lang="en-US" sz="3000">
                <a:solidFill>
                  <a:srgbClr val="C1FF72"/>
                </a:solidFill>
                <a:latin typeface="Calibri"/>
                <a:ea typeface="Calibri"/>
                <a:cs typeface="Calibri"/>
                <a:sym typeface="Calibri"/>
              </a:rPr>
              <a:t>parallel computing</a:t>
            </a:r>
            <a:r>
              <a:rPr b="1" lang="en-US" sz="3000">
                <a:solidFill>
                  <a:schemeClr val="lt1"/>
                </a:solidFill>
                <a:latin typeface="Calibri"/>
                <a:ea typeface="Calibri"/>
                <a:cs typeface="Calibri"/>
                <a:sym typeface="Calibri"/>
              </a:rPr>
              <a:t>, barrier synchronization ensures that all processes reach a certain point before proceeding.</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Example Usage:</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In </a:t>
            </a:r>
            <a:r>
              <a:rPr b="1" lang="en-US" sz="3000">
                <a:solidFill>
                  <a:srgbClr val="C1FF72"/>
                </a:solidFill>
                <a:latin typeface="Calibri"/>
                <a:ea typeface="Calibri"/>
                <a:cs typeface="Calibri"/>
                <a:sym typeface="Calibri"/>
              </a:rPr>
              <a:t>multi-threaded applications</a:t>
            </a:r>
            <a:r>
              <a:rPr b="1" lang="en-US" sz="3000">
                <a:solidFill>
                  <a:schemeClr val="lt1"/>
                </a:solidFill>
                <a:latin typeface="Calibri"/>
                <a:ea typeface="Calibri"/>
                <a:cs typeface="Calibri"/>
                <a:sym typeface="Calibri"/>
              </a:rPr>
              <a:t>, all threads must complete a task before moving to the next step.</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7. Readers-Writers Problem</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Handles synchronization when multiple processes need to read/write shared data.</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Rules:</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Readers </a:t>
            </a:r>
            <a:r>
              <a:rPr b="1" lang="en-US" sz="3000">
                <a:solidFill>
                  <a:schemeClr val="lt1"/>
                </a:solidFill>
                <a:latin typeface="Calibri"/>
                <a:ea typeface="Calibri"/>
                <a:cs typeface="Calibri"/>
                <a:sym typeface="Calibri"/>
              </a:rPr>
              <a:t>can access the data simultaneously.</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Writers </a:t>
            </a:r>
            <a:r>
              <a:rPr b="1" lang="en-US" sz="3000">
                <a:solidFill>
                  <a:schemeClr val="lt1"/>
                </a:solidFill>
                <a:latin typeface="Calibri"/>
                <a:ea typeface="Calibri"/>
                <a:cs typeface="Calibri"/>
                <a:sym typeface="Calibri"/>
              </a:rPr>
              <a:t>must have exclusive access to prevent inconsistencies.</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3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9" name="Google Shape;639;p34"/>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40" name="Google Shape;640;p34"/>
          <p:cNvSpPr txBox="1"/>
          <p:nvPr/>
        </p:nvSpPr>
        <p:spPr>
          <a:xfrm>
            <a:off x="4191005" y="647711"/>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Practice Lab</a:t>
            </a:r>
            <a:endParaRPr b="1" sz="5000" u="none" strike="noStrike">
              <a:solidFill>
                <a:srgbClr val="C1FF72"/>
              </a:solidFill>
              <a:latin typeface="IBM Plex Sans"/>
              <a:ea typeface="IBM Plex Sans"/>
              <a:cs typeface="IBM Plex Sans"/>
              <a:sym typeface="IBM Plex Sans"/>
            </a:endParaRPr>
          </a:p>
        </p:txBody>
      </p:sp>
      <p:sp>
        <p:nvSpPr>
          <p:cNvPr id="641" name="Google Shape;641;p34"/>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642" name="Google Shape;642;p34"/>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643" name="Google Shape;643;p34"/>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644" name="Google Shape;644;p34"/>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645" name="Google Shape;645;p34"/>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646" name="Google Shape;646;p34"/>
          <p:cNvSpPr txBox="1"/>
          <p:nvPr/>
        </p:nvSpPr>
        <p:spPr>
          <a:xfrm>
            <a:off x="914400" y="1866900"/>
            <a:ext cx="15971520" cy="4906010"/>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chemeClr val="lt1"/>
              </a:buClr>
              <a:buSzPts val="4400"/>
              <a:buFont typeface="Calibri"/>
              <a:buNone/>
            </a:pPr>
            <a:r>
              <a:rPr b="1" lang="en-US" sz="4400">
                <a:solidFill>
                  <a:schemeClr val="lt1"/>
                </a:solidFill>
                <a:latin typeface="Calibri"/>
                <a:ea typeface="Calibri"/>
                <a:cs typeface="Calibri"/>
                <a:sym typeface="Calibri"/>
              </a:rPr>
              <a:t>• Write a C program to create child processes using fork()</a:t>
            </a:r>
            <a:endParaRPr b="1" sz="44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4400"/>
              <a:buFont typeface="Calibri"/>
              <a:buNone/>
            </a:pPr>
            <a:r>
              <a:rPr b="1" lang="en-US" sz="4400">
                <a:solidFill>
                  <a:schemeClr val="lt1"/>
                </a:solidFill>
                <a:latin typeface="Calibri"/>
                <a:ea typeface="Calibri"/>
                <a:cs typeface="Calibri"/>
                <a:sym typeface="Calibri"/>
              </a:rPr>
              <a:t>• Simulate context switching with multiple processes by alternating I/O and CPU operations manually using sleep or scheduling.</a:t>
            </a:r>
            <a:endParaRPr b="1" sz="44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4400"/>
              <a:buFont typeface="Calibri"/>
              <a:buNone/>
            </a:pPr>
            <a:r>
              <a:rPr b="1" lang="en-US" sz="4400">
                <a:solidFill>
                  <a:schemeClr val="lt1"/>
                </a:solidFill>
                <a:latin typeface="Calibri"/>
                <a:ea typeface="Calibri"/>
                <a:cs typeface="Calibri"/>
                <a:sym typeface="Calibri"/>
              </a:rPr>
              <a:t>• Simulate scheduling algorithms (FCFS, SJF, Round Robin, Priority) using C or Python.</a:t>
            </a:r>
            <a:endParaRPr b="1" sz="44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4400"/>
              <a:buFont typeface="Calibri"/>
              <a:buNone/>
            </a:pPr>
            <a:r>
              <a:rPr b="1" lang="en-US" sz="4400">
                <a:solidFill>
                  <a:schemeClr val="lt1"/>
                </a:solidFill>
                <a:latin typeface="Calibri"/>
                <a:ea typeface="Calibri"/>
                <a:cs typeface="Calibri"/>
                <a:sym typeface="Calibri"/>
              </a:rPr>
              <a:t>• Implement mutual exclusion using semaphores (P()/V() operations in C)</a:t>
            </a:r>
            <a:endParaRPr b="1" sz="44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F3F4A63587F640D8938535A21F5BAD5D_12</vt:lpwstr>
  </property>
  <property fmtid="{D5CDD505-2E9C-101B-9397-08002B2CF9AE}" pid="3" name="KSOProductBuildVer">
    <vt:lpwstr>1033-12.2.0.21179</vt:lpwstr>
  </property>
</Properties>
</file>